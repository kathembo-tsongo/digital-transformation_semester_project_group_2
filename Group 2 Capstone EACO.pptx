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Irungu" userId="3570a5346c53ff8c" providerId="LiveId" clId="{B3EF4350-6A02-4366-A4A5-47E00D9EF2BB}"/>
    <pc:docChg chg="custSel modSld">
      <pc:chgData name="David Irungu" userId="3570a5346c53ff8c" providerId="LiveId" clId="{B3EF4350-6A02-4366-A4A5-47E00D9EF2BB}" dt="2026-08-17T12:54:46.781" v="43" actId="478"/>
      <pc:docMkLst>
        <pc:docMk/>
      </pc:docMkLst>
      <pc:sldChg chg="delSp modSp mod">
        <pc:chgData name="David Irungu" userId="3570a5346c53ff8c" providerId="LiveId" clId="{B3EF4350-6A02-4366-A4A5-47E00D9EF2BB}" dt="2026-08-17T12:54:43.259" v="42" actId="478"/>
        <pc:sldMkLst>
          <pc:docMk/>
          <pc:sldMk cId="0" sldId="257"/>
        </pc:sldMkLst>
        <pc:spChg chg="del">
          <ac:chgData name="David Irungu" userId="3570a5346c53ff8c" providerId="LiveId" clId="{B3EF4350-6A02-4366-A4A5-47E00D9EF2BB}" dt="2026-08-17T12:54:43.259" v="42" actId="478"/>
          <ac:spMkLst>
            <pc:docMk/>
            <pc:sldMk cId="0" sldId="257"/>
            <ac:spMk id="2" creationId="{00000000-0000-0000-0000-000000000000}"/>
          </ac:spMkLst>
        </pc:spChg>
        <pc:spChg chg="mod">
          <ac:chgData name="David Irungu" userId="3570a5346c53ff8c" providerId="LiveId" clId="{B3EF4350-6A02-4366-A4A5-47E00D9EF2BB}" dt="2026-08-17T12:54:39.913" v="41" actId="20577"/>
          <ac:spMkLst>
            <pc:docMk/>
            <pc:sldMk cId="0" sldId="257"/>
            <ac:spMk id="3" creationId="{00000000-0000-0000-0000-000000000000}"/>
          </ac:spMkLst>
        </pc:spChg>
      </pc:sldChg>
      <pc:sldChg chg="delSp modSp mod">
        <pc:chgData name="David Irungu" userId="3570a5346c53ff8c" providerId="LiveId" clId="{B3EF4350-6A02-4366-A4A5-47E00D9EF2BB}" dt="2026-08-17T12:54:46.781" v="43" actId="478"/>
        <pc:sldMkLst>
          <pc:docMk/>
          <pc:sldMk cId="0" sldId="258"/>
        </pc:sldMkLst>
        <pc:spChg chg="del">
          <ac:chgData name="David Irungu" userId="3570a5346c53ff8c" providerId="LiveId" clId="{B3EF4350-6A02-4366-A4A5-47E00D9EF2BB}" dt="2026-08-17T12:54:46.781" v="43" actId="478"/>
          <ac:spMkLst>
            <pc:docMk/>
            <pc:sldMk cId="0" sldId="258"/>
            <ac:spMk id="2" creationId="{00000000-0000-0000-0000-000000000000}"/>
          </ac:spMkLst>
        </pc:spChg>
        <pc:spChg chg="mod">
          <ac:chgData name="David Irungu" userId="3570a5346c53ff8c" providerId="LiveId" clId="{B3EF4350-6A02-4366-A4A5-47E00D9EF2BB}" dt="2026-08-17T12:54:29.573" v="27" actId="20577"/>
          <ac:spMkLst>
            <pc:docMk/>
            <pc:sldMk cId="0" sldId="258"/>
            <ac:spMk id="3" creationId="{00000000-0000-0000-0000-000000000000}"/>
          </ac:spMkLst>
        </pc:spChg>
      </pc:sldChg>
      <pc:sldChg chg="modSp mod">
        <pc:chgData name="David Irungu" userId="3570a5346c53ff8c" providerId="LiveId" clId="{B3EF4350-6A02-4366-A4A5-47E00D9EF2BB}" dt="2026-08-17T12:52:30.311" v="7" actId="20577"/>
        <pc:sldMkLst>
          <pc:docMk/>
          <pc:sldMk cId="0" sldId="269"/>
        </pc:sldMkLst>
        <pc:spChg chg="mod">
          <ac:chgData name="David Irungu" userId="3570a5346c53ff8c" providerId="LiveId" clId="{B3EF4350-6A02-4366-A4A5-47E00D9EF2BB}" dt="2026-08-17T12:51:29.386" v="3" actId="20577"/>
          <ac:spMkLst>
            <pc:docMk/>
            <pc:sldMk cId="0" sldId="269"/>
            <ac:spMk id="6" creationId="{00000000-0000-0000-0000-000000000000}"/>
          </ac:spMkLst>
        </pc:spChg>
        <pc:spChg chg="mod">
          <ac:chgData name="David Irungu" userId="3570a5346c53ff8c" providerId="LiveId" clId="{B3EF4350-6A02-4366-A4A5-47E00D9EF2BB}" dt="2026-08-17T12:52:30.311" v="7" actId="20577"/>
          <ac:spMkLst>
            <pc:docMk/>
            <pc:sldMk cId="0" sldId="269"/>
            <ac:spMk id="8" creationId="{00000000-0000-0000-0000-000000000000}"/>
          </ac:spMkLst>
        </pc:spChg>
      </pc:sldChg>
      <pc:sldChg chg="delSp modSp mod">
        <pc:chgData name="David Irungu" userId="3570a5346c53ff8c" providerId="LiveId" clId="{B3EF4350-6A02-4366-A4A5-47E00D9EF2BB}" dt="2026-08-17T12:53:17.948" v="9" actId="478"/>
        <pc:sldMkLst>
          <pc:docMk/>
          <pc:sldMk cId="0" sldId="270"/>
        </pc:sldMkLst>
        <pc:spChg chg="del">
          <ac:chgData name="David Irungu" userId="3570a5346c53ff8c" providerId="LiveId" clId="{B3EF4350-6A02-4366-A4A5-47E00D9EF2BB}" dt="2026-08-17T12:53:17.948" v="9" actId="478"/>
          <ac:spMkLst>
            <pc:docMk/>
            <pc:sldMk cId="0" sldId="270"/>
            <ac:spMk id="2" creationId="{00000000-0000-0000-0000-000000000000}"/>
          </ac:spMkLst>
        </pc:spChg>
        <pc:spChg chg="mod">
          <ac:chgData name="David Irungu" userId="3570a5346c53ff8c" providerId="LiveId" clId="{B3EF4350-6A02-4366-A4A5-47E00D9EF2BB}" dt="2026-08-17T12:53:15.066" v="8"/>
          <ac:spMkLst>
            <pc:docMk/>
            <pc:sldMk cId="0" sldId="27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4787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C"/>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572000" cy="4572000"/>
          </a:xfrm>
          <a:prstGeom prst="ellipse">
            <a:avLst/>
          </a:prstGeom>
          <a:ln w="15875">
            <a:solidFill>
              <a:srgbClr val="1C7293">
                <a:alpha val="80000"/>
              </a:srgbClr>
            </a:solidFill>
            <a:prstDash val="solid"/>
          </a:ln>
        </p:spPr>
        <p:txBody>
          <a:bodyPr/>
          <a:lstStyle/>
          <a:p>
            <a:endParaRPr lang="en-KE"/>
          </a:p>
        </p:txBody>
      </p:sp>
      <p:sp>
        <p:nvSpPr>
          <p:cNvPr id="3" name="Shape 1"/>
          <p:cNvSpPr/>
          <p:nvPr/>
        </p:nvSpPr>
        <p:spPr>
          <a:xfrm>
            <a:off x="8275320" y="-1965960"/>
            <a:ext cx="5577840" cy="5577840"/>
          </a:xfrm>
          <a:prstGeom prst="ellipse">
            <a:avLst/>
          </a:prstGeom>
          <a:ln w="15875">
            <a:solidFill>
              <a:srgbClr val="1C7293">
                <a:alpha val="55000"/>
              </a:srgbClr>
            </a:solidFill>
            <a:prstDash val="solid"/>
          </a:ln>
        </p:spPr>
        <p:txBody>
          <a:bodyPr/>
          <a:lstStyle/>
          <a:p>
            <a:endParaRPr lang="en-KE"/>
          </a:p>
        </p:txBody>
      </p:sp>
      <p:sp>
        <p:nvSpPr>
          <p:cNvPr id="4" name="Shape 2"/>
          <p:cNvSpPr/>
          <p:nvPr/>
        </p:nvSpPr>
        <p:spPr>
          <a:xfrm>
            <a:off x="7772400" y="-2468880"/>
            <a:ext cx="6583680" cy="6583680"/>
          </a:xfrm>
          <a:prstGeom prst="ellipse">
            <a:avLst/>
          </a:prstGeom>
          <a:ln w="15875">
            <a:solidFill>
              <a:srgbClr val="1C7293">
                <a:alpha val="55000"/>
              </a:srgbClr>
            </a:solidFill>
            <a:prstDash val="solid"/>
          </a:ln>
        </p:spPr>
        <p:txBody>
          <a:bodyPr/>
          <a:lstStyle/>
          <a:p>
            <a:endParaRPr lang="en-KE"/>
          </a:p>
        </p:txBody>
      </p:sp>
      <p:sp>
        <p:nvSpPr>
          <p:cNvPr id="5" name="Shape 3"/>
          <p:cNvSpPr/>
          <p:nvPr/>
        </p:nvSpPr>
        <p:spPr>
          <a:xfrm>
            <a:off x="7269480" y="-2971800"/>
            <a:ext cx="7589520" cy="7589520"/>
          </a:xfrm>
          <a:prstGeom prst="ellipse">
            <a:avLst/>
          </a:prstGeom>
          <a:ln w="15875">
            <a:solidFill>
              <a:srgbClr val="1C7293">
                <a:alpha val="55000"/>
              </a:srgbClr>
            </a:solidFill>
            <a:prstDash val="solid"/>
          </a:ln>
        </p:spPr>
        <p:txBody>
          <a:bodyPr/>
          <a:lstStyle/>
          <a:p>
            <a:endParaRPr lang="en-KE"/>
          </a:p>
        </p:txBody>
      </p:sp>
      <p:sp>
        <p:nvSpPr>
          <p:cNvPr id="6" name="Shape 4"/>
          <p:cNvSpPr/>
          <p:nvPr/>
        </p:nvSpPr>
        <p:spPr>
          <a:xfrm>
            <a:off x="0" y="0"/>
            <a:ext cx="12188952" cy="6858000"/>
          </a:xfrm>
          <a:prstGeom prst="rect">
            <a:avLst/>
          </a:prstGeom>
          <a:solidFill>
            <a:srgbClr val="12283C">
              <a:alpha val="0"/>
            </a:srgbClr>
          </a:solidFill>
          <a:ln/>
        </p:spPr>
        <p:txBody>
          <a:bodyPr/>
          <a:lstStyle/>
          <a:p>
            <a:endParaRPr lang="en-KE"/>
          </a:p>
        </p:txBody>
      </p:sp>
      <p:sp>
        <p:nvSpPr>
          <p:cNvPr id="7" name="Text 5"/>
          <p:cNvSpPr/>
          <p:nvPr/>
        </p:nvSpPr>
        <p:spPr>
          <a:xfrm>
            <a:off x="640080" y="1234440"/>
            <a:ext cx="9144000" cy="320040"/>
          </a:xfrm>
          <a:prstGeom prst="rect">
            <a:avLst/>
          </a:prstGeom>
          <a:noFill/>
          <a:ln/>
        </p:spPr>
        <p:txBody>
          <a:bodyPr wrap="square" rtlCol="0" anchor="ctr"/>
          <a:lstStyle/>
          <a:p>
            <a:pPr marL="0" indent="0">
              <a:buNone/>
            </a:pPr>
            <a:r>
              <a:rPr lang="en-US" sz="1300" b="1" kern="0" spc="150" dirty="0">
                <a:solidFill>
                  <a:srgbClr val="F4A300"/>
                </a:solidFill>
                <a:latin typeface="Calibri" pitchFamily="34" charset="0"/>
                <a:ea typeface="Calibri" pitchFamily="34" charset="-122"/>
                <a:cs typeface="Calibri" pitchFamily="34" charset="-120"/>
              </a:rPr>
              <a:t>EAST AFRICAN COMMUNICATIONS ORGANISATION  ·  CLIENT BRIEFING</a:t>
            </a:r>
            <a:endParaRPr lang="en-US" sz="1300" dirty="0"/>
          </a:p>
        </p:txBody>
      </p:sp>
      <p:sp>
        <p:nvSpPr>
          <p:cNvPr id="8" name="Text 6"/>
          <p:cNvSpPr/>
          <p:nvPr/>
        </p:nvSpPr>
        <p:spPr>
          <a:xfrm>
            <a:off x="640080" y="1645920"/>
            <a:ext cx="9692640" cy="1828800"/>
          </a:xfrm>
          <a:prstGeom prst="rect">
            <a:avLst/>
          </a:prstGeom>
          <a:noFill/>
          <a:ln/>
        </p:spPr>
        <p:txBody>
          <a:bodyPr wrap="square" rtlCol="0" anchor="ctr"/>
          <a:lstStyle/>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Digital Transformation &amp; Inclusion</a:t>
            </a:r>
            <a:endParaRPr lang="en-US" sz="4200" dirty="0"/>
          </a:p>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in East Africa</a:t>
            </a:r>
            <a:endParaRPr lang="en-US" sz="4200" dirty="0"/>
          </a:p>
        </p:txBody>
      </p:sp>
      <p:sp>
        <p:nvSpPr>
          <p:cNvPr id="9" name="Text 7"/>
          <p:cNvSpPr/>
          <p:nvPr/>
        </p:nvSpPr>
        <p:spPr>
          <a:xfrm>
            <a:off x="640080" y="3520440"/>
            <a:ext cx="8778240" cy="731520"/>
          </a:xfrm>
          <a:prstGeom prst="rect">
            <a:avLst/>
          </a:prstGeom>
          <a:noFill/>
          <a:ln/>
        </p:spPr>
        <p:txBody>
          <a:bodyPr wrap="square" rtlCol="0" anchor="ctr"/>
          <a:lstStyle/>
          <a:p>
            <a:pPr marL="0" indent="0">
              <a:lnSpc>
                <a:spcPts val="2200"/>
              </a:lnSpc>
              <a:buNone/>
            </a:pPr>
            <a:r>
              <a:rPr lang="en-US" sz="1500" dirty="0">
                <a:solidFill>
                  <a:srgbClr val="CADCE0"/>
                </a:solidFill>
                <a:latin typeface="Calibri" pitchFamily="34" charset="0"/>
                <a:ea typeface="Calibri" pitchFamily="34" charset="-122"/>
                <a:cs typeface="Calibri" pitchFamily="34" charset="-120"/>
              </a:rPr>
              <a:t>A geospatial and statistical assessment of internet adoption, mobile connectivity,</a:t>
            </a:r>
            <a:endParaRPr lang="en-US" sz="1500" dirty="0"/>
          </a:p>
          <a:p>
            <a:pPr marL="0" indent="0">
              <a:lnSpc>
                <a:spcPts val="2200"/>
              </a:lnSpc>
              <a:buNone/>
            </a:pPr>
            <a:r>
              <a:rPr lang="en-US" sz="1500" dirty="0">
                <a:solidFill>
                  <a:srgbClr val="CADCE0"/>
                </a:solidFill>
                <a:latin typeface="Calibri" pitchFamily="34" charset="0"/>
                <a:ea typeface="Calibri" pitchFamily="34" charset="-122"/>
                <a:cs typeface="Calibri" pitchFamily="34" charset="-120"/>
              </a:rPr>
              <a:t>and electricity access across eight East African countries, 2010–2024.</a:t>
            </a:r>
            <a:endParaRPr lang="en-US" sz="1500" dirty="0"/>
          </a:p>
        </p:txBody>
      </p:sp>
      <p:sp>
        <p:nvSpPr>
          <p:cNvPr id="10" name="Text 8"/>
          <p:cNvSpPr/>
          <p:nvPr/>
        </p:nvSpPr>
        <p:spPr>
          <a:xfrm>
            <a:off x="640080" y="4617720"/>
            <a:ext cx="3291840" cy="502920"/>
          </a:xfrm>
          <a:prstGeom prst="rect">
            <a:avLst/>
          </a:prstGeom>
          <a:noFill/>
          <a:ln/>
        </p:spPr>
        <p:txBody>
          <a:bodyPr wrap="square" rtlCol="0" anchor="ctr"/>
          <a:lstStyle/>
          <a:p>
            <a:pPr marL="0" indent="0">
              <a:buNone/>
            </a:pPr>
            <a:r>
              <a:rPr lang="en-US" sz="2400" b="1" dirty="0">
                <a:solidFill>
                  <a:srgbClr val="F4A300"/>
                </a:solidFill>
                <a:latin typeface="Cambria" pitchFamily="34" charset="0"/>
                <a:ea typeface="Cambria" pitchFamily="34" charset="-122"/>
                <a:cs typeface="Cambria" pitchFamily="34" charset="-120"/>
              </a:rPr>
              <a:t>World Bank</a:t>
            </a:r>
            <a:endParaRPr lang="en-US" sz="2400" dirty="0"/>
          </a:p>
        </p:txBody>
      </p:sp>
      <p:sp>
        <p:nvSpPr>
          <p:cNvPr id="11" name="Text 9"/>
          <p:cNvSpPr/>
          <p:nvPr/>
        </p:nvSpPr>
        <p:spPr>
          <a:xfrm>
            <a:off x="640080" y="5120640"/>
            <a:ext cx="3291840" cy="365760"/>
          </a:xfrm>
          <a:prstGeom prst="rect">
            <a:avLst/>
          </a:prstGeom>
          <a:noFill/>
          <a:ln/>
        </p:spPr>
        <p:txBody>
          <a:bodyPr wrap="square" rtlCol="0" anchor="ctr"/>
          <a:lstStyle/>
          <a:p>
            <a:pPr marL="0" indent="0">
              <a:buNone/>
            </a:pPr>
            <a:r>
              <a:rPr lang="en-US" sz="1200" dirty="0">
                <a:solidFill>
                  <a:srgbClr val="9FB4C0"/>
                </a:solidFill>
                <a:latin typeface="Calibri" pitchFamily="34" charset="0"/>
                <a:ea typeface="Calibri" pitchFamily="34" charset="-122"/>
                <a:cs typeface="Calibri" pitchFamily="34" charset="-120"/>
              </a:rPr>
              <a:t>Indicators API</a:t>
            </a:r>
            <a:endParaRPr lang="en-US" sz="1200" dirty="0"/>
          </a:p>
        </p:txBody>
      </p:sp>
      <p:sp>
        <p:nvSpPr>
          <p:cNvPr id="12" name="Text 10"/>
          <p:cNvSpPr/>
          <p:nvPr/>
        </p:nvSpPr>
        <p:spPr>
          <a:xfrm>
            <a:off x="4023360" y="4617720"/>
            <a:ext cx="3291840" cy="502920"/>
          </a:xfrm>
          <a:prstGeom prst="rect">
            <a:avLst/>
          </a:prstGeom>
          <a:noFill/>
          <a:ln/>
        </p:spPr>
        <p:txBody>
          <a:bodyPr wrap="square" rtlCol="0" anchor="ctr"/>
          <a:lstStyle/>
          <a:p>
            <a:pPr marL="0" indent="0">
              <a:buNone/>
            </a:pPr>
            <a:r>
              <a:rPr lang="en-US" sz="2400" b="1" dirty="0">
                <a:solidFill>
                  <a:srgbClr val="F4A300"/>
                </a:solidFill>
                <a:latin typeface="Cambria" pitchFamily="34" charset="0"/>
                <a:ea typeface="Cambria" pitchFamily="34" charset="-122"/>
                <a:cs typeface="Cambria" pitchFamily="34" charset="-120"/>
              </a:rPr>
              <a:t>8</a:t>
            </a:r>
            <a:endParaRPr lang="en-US" sz="2400" dirty="0"/>
          </a:p>
        </p:txBody>
      </p:sp>
      <p:sp>
        <p:nvSpPr>
          <p:cNvPr id="13" name="Text 11"/>
          <p:cNvSpPr/>
          <p:nvPr/>
        </p:nvSpPr>
        <p:spPr>
          <a:xfrm>
            <a:off x="4023360" y="5120640"/>
            <a:ext cx="3291840" cy="365760"/>
          </a:xfrm>
          <a:prstGeom prst="rect">
            <a:avLst/>
          </a:prstGeom>
          <a:noFill/>
          <a:ln/>
        </p:spPr>
        <p:txBody>
          <a:bodyPr wrap="square" rtlCol="0" anchor="ctr"/>
          <a:lstStyle/>
          <a:p>
            <a:pPr marL="0" indent="0">
              <a:buNone/>
            </a:pPr>
            <a:r>
              <a:rPr lang="en-US" sz="1200" dirty="0">
                <a:solidFill>
                  <a:srgbClr val="9FB4C0"/>
                </a:solidFill>
                <a:latin typeface="Calibri" pitchFamily="34" charset="0"/>
                <a:ea typeface="Calibri" pitchFamily="34" charset="-122"/>
                <a:cs typeface="Calibri" pitchFamily="34" charset="-120"/>
              </a:rPr>
              <a:t>East African countries</a:t>
            </a:r>
            <a:endParaRPr lang="en-US" sz="1200" dirty="0"/>
          </a:p>
        </p:txBody>
      </p:sp>
      <p:sp>
        <p:nvSpPr>
          <p:cNvPr id="14" name="Text 12"/>
          <p:cNvSpPr/>
          <p:nvPr/>
        </p:nvSpPr>
        <p:spPr>
          <a:xfrm>
            <a:off x="7406640" y="4617720"/>
            <a:ext cx="3291840" cy="502920"/>
          </a:xfrm>
          <a:prstGeom prst="rect">
            <a:avLst/>
          </a:prstGeom>
          <a:noFill/>
          <a:ln/>
        </p:spPr>
        <p:txBody>
          <a:bodyPr wrap="square" rtlCol="0" anchor="ctr"/>
          <a:lstStyle/>
          <a:p>
            <a:pPr marL="0" indent="0">
              <a:buNone/>
            </a:pPr>
            <a:r>
              <a:rPr lang="en-US" sz="2400" b="1" dirty="0">
                <a:solidFill>
                  <a:srgbClr val="F4A300"/>
                </a:solidFill>
                <a:latin typeface="Cambria" pitchFamily="34" charset="0"/>
                <a:ea typeface="Cambria" pitchFamily="34" charset="-122"/>
                <a:cs typeface="Cambria" pitchFamily="34" charset="-120"/>
              </a:rPr>
              <a:t>2010–2024</a:t>
            </a:r>
            <a:endParaRPr lang="en-US" sz="2400" dirty="0"/>
          </a:p>
        </p:txBody>
      </p:sp>
      <p:sp>
        <p:nvSpPr>
          <p:cNvPr id="15" name="Text 13"/>
          <p:cNvSpPr/>
          <p:nvPr/>
        </p:nvSpPr>
        <p:spPr>
          <a:xfrm>
            <a:off x="7406640" y="5120640"/>
            <a:ext cx="3291840" cy="365760"/>
          </a:xfrm>
          <a:prstGeom prst="rect">
            <a:avLst/>
          </a:prstGeom>
          <a:noFill/>
          <a:ln/>
        </p:spPr>
        <p:txBody>
          <a:bodyPr wrap="square" rtlCol="0" anchor="ctr"/>
          <a:lstStyle/>
          <a:p>
            <a:pPr marL="0" indent="0">
              <a:buNone/>
            </a:pPr>
            <a:r>
              <a:rPr lang="en-US" sz="1200" dirty="0">
                <a:solidFill>
                  <a:srgbClr val="9FB4C0"/>
                </a:solidFill>
                <a:latin typeface="Calibri" pitchFamily="34" charset="0"/>
                <a:ea typeface="Calibri" pitchFamily="34" charset="-122"/>
                <a:cs typeface="Calibri" pitchFamily="34" charset="-120"/>
              </a:rPr>
              <a:t>Analysis period</a:t>
            </a:r>
            <a:endParaRPr lang="en-US" sz="1200" dirty="0"/>
          </a:p>
        </p:txBody>
      </p:sp>
      <p:sp>
        <p:nvSpPr>
          <p:cNvPr id="16" name="Text 14"/>
          <p:cNvSpPr/>
          <p:nvPr/>
        </p:nvSpPr>
        <p:spPr>
          <a:xfrm>
            <a:off x="640080" y="5786120"/>
            <a:ext cx="9144000" cy="320040"/>
          </a:xfrm>
          <a:prstGeom prst="rect">
            <a:avLst/>
          </a:prstGeom>
          <a:noFill/>
          <a:ln/>
        </p:spPr>
        <p:txBody>
          <a:bodyPr wrap="square" rtlCol="0" anchor="ctr"/>
          <a:lstStyle/>
          <a:p>
            <a:pPr marL="0" indent="0">
              <a:buNone/>
            </a:pPr>
            <a:r>
              <a:rPr lang="en-US" sz="4800" i="1" dirty="0">
                <a:solidFill>
                  <a:srgbClr val="7F97A5"/>
                </a:solidFill>
                <a:latin typeface="Aldhabi" panose="01000000000000000000" pitchFamily="2" charset="-78"/>
                <a:ea typeface="Calibri" pitchFamily="34" charset="-122"/>
                <a:cs typeface="Aldhabi" panose="01000000000000000000" pitchFamily="2" charset="-78"/>
              </a:rPr>
              <a:t>Group 2</a:t>
            </a:r>
            <a:endParaRPr lang="en-US" sz="4800" dirty="0">
              <a:latin typeface="Aldhabi" panose="01000000000000000000" pitchFamily="2" charset="-78"/>
              <a:cs typeface="Aldhabi" panose="010000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rPr>
              <a:t>Problem Definition</a:t>
            </a:r>
            <a:endParaRPr lang="en-US" sz="3000" dirty="0"/>
          </a:p>
        </p:txBody>
      </p:sp>
      <p:sp>
        <p:nvSpPr>
          <p:cNvPr id="4" name="Text 2"/>
          <p:cNvSpPr/>
          <p:nvPr/>
        </p:nvSpPr>
        <p:spPr>
          <a:xfrm>
            <a:off x="457200" y="1371600"/>
            <a:ext cx="6766560" cy="1280160"/>
          </a:xfrm>
          <a:prstGeom prst="rect">
            <a:avLst/>
          </a:prstGeom>
          <a:noFill/>
          <a:ln/>
        </p:spPr>
        <p:txBody>
          <a:bodyPr wrap="square" rtlCol="0" anchor="ctr"/>
          <a:lstStyle/>
          <a:p>
            <a:pPr marL="0" indent="0">
              <a:lnSpc>
                <a:spcPts val="2200"/>
              </a:lnSpc>
              <a:buNone/>
            </a:pPr>
            <a:r>
              <a:rPr lang="en-US" sz="1450" dirty="0">
                <a:solidFill>
                  <a:srgbClr val="1A1A1A"/>
                </a:solidFill>
                <a:latin typeface="Calibri" pitchFamily="34" charset="0"/>
                <a:ea typeface="Calibri" pitchFamily="34" charset="-122"/>
                <a:cs typeface="Calibri" pitchFamily="34" charset="-120"/>
              </a:rPr>
              <a:t>Digital technologies have reshaped education, commerce, healthcare, government services, and financial inclusion across the world. Within East Africa, however, digital access remains uneven; some countries are pulling ahead while others risk being left behind.</a:t>
            </a:r>
            <a:endParaRPr lang="en-US" sz="1450" dirty="0"/>
          </a:p>
        </p:txBody>
      </p:sp>
      <p:sp>
        <p:nvSpPr>
          <p:cNvPr id="5" name="Shape 3"/>
          <p:cNvSpPr/>
          <p:nvPr/>
        </p:nvSpPr>
        <p:spPr>
          <a:xfrm>
            <a:off x="457200" y="2788920"/>
            <a:ext cx="6766560" cy="1600200"/>
          </a:xfrm>
          <a:prstGeom prst="rect">
            <a:avLst/>
          </a:prstGeom>
          <a:solidFill>
            <a:srgbClr val="E5EEF1"/>
          </a:solidFill>
          <a:ln/>
        </p:spPr>
        <p:txBody>
          <a:bodyPr/>
          <a:lstStyle/>
          <a:p>
            <a:endParaRPr lang="en-KE"/>
          </a:p>
        </p:txBody>
      </p:sp>
      <p:sp>
        <p:nvSpPr>
          <p:cNvPr id="6" name="Text 4"/>
          <p:cNvSpPr/>
          <p:nvPr/>
        </p:nvSpPr>
        <p:spPr>
          <a:xfrm>
            <a:off x="731520" y="2971800"/>
            <a:ext cx="6217920" cy="274320"/>
          </a:xfrm>
          <a:prstGeom prst="rect">
            <a:avLst/>
          </a:prstGeom>
          <a:noFill/>
          <a:ln/>
        </p:spPr>
        <p:txBody>
          <a:bodyPr wrap="square"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OBJECTIVE</a:t>
            </a:r>
            <a:endParaRPr lang="en-US" sz="1100" dirty="0"/>
          </a:p>
        </p:txBody>
      </p:sp>
      <p:sp>
        <p:nvSpPr>
          <p:cNvPr id="7" name="Text 5"/>
          <p:cNvSpPr/>
          <p:nvPr/>
        </p:nvSpPr>
        <p:spPr>
          <a:xfrm>
            <a:off x="731520" y="3273552"/>
            <a:ext cx="6217920" cy="1005840"/>
          </a:xfrm>
          <a:prstGeom prst="rect">
            <a:avLst/>
          </a:prstGeom>
          <a:noFill/>
          <a:ln/>
        </p:spPr>
        <p:txBody>
          <a:bodyPr wrap="square" rtlCol="0" anchor="ctr"/>
          <a:lstStyle/>
          <a:p>
            <a:pPr marL="0" indent="0">
              <a:lnSpc>
                <a:spcPts val="2000"/>
              </a:lnSpc>
              <a:buNone/>
            </a:pPr>
            <a:r>
              <a:rPr lang="en-US" sz="1400" i="1" dirty="0">
                <a:solidFill>
                  <a:srgbClr val="12283C"/>
                </a:solidFill>
                <a:latin typeface="Calibri" pitchFamily="34" charset="0"/>
                <a:ea typeface="Calibri" pitchFamily="34" charset="-122"/>
                <a:cs typeface="Calibri" pitchFamily="34" charset="-120"/>
              </a:rPr>
              <a:t>To evaluate the progress of digital transformation across East Africa and identify the countries that most require additional investment in digital infrastructure.</a:t>
            </a:r>
            <a:endParaRPr lang="en-US" sz="1400" dirty="0"/>
          </a:p>
        </p:txBody>
      </p:sp>
      <p:sp>
        <p:nvSpPr>
          <p:cNvPr id="8" name="Shape 6"/>
          <p:cNvSpPr/>
          <p:nvPr/>
        </p:nvSpPr>
        <p:spPr>
          <a:xfrm>
            <a:off x="457200" y="4617720"/>
            <a:ext cx="6766560" cy="1417320"/>
          </a:xfrm>
          <a:prstGeom prst="rect">
            <a:avLst/>
          </a:prstGeom>
          <a:solidFill>
            <a:srgbClr val="12283C"/>
          </a:solidFill>
          <a:ln/>
        </p:spPr>
        <p:txBody>
          <a:bodyPr/>
          <a:lstStyle/>
          <a:p>
            <a:endParaRPr lang="en-KE"/>
          </a:p>
        </p:txBody>
      </p:sp>
      <p:sp>
        <p:nvSpPr>
          <p:cNvPr id="9" name="Text 7"/>
          <p:cNvSpPr/>
          <p:nvPr/>
        </p:nvSpPr>
        <p:spPr>
          <a:xfrm>
            <a:off x="731520" y="4773168"/>
            <a:ext cx="6217920" cy="256032"/>
          </a:xfrm>
          <a:prstGeom prst="rect">
            <a:avLst/>
          </a:prstGeom>
          <a:noFill/>
          <a:ln/>
        </p:spPr>
        <p:txBody>
          <a:bodyPr wrap="square" rtlCol="0" anchor="ctr"/>
          <a:lstStyle/>
          <a:p>
            <a:pPr marL="0" indent="0">
              <a:buNone/>
            </a:pPr>
            <a:r>
              <a:rPr lang="en-US" sz="1100" b="1" kern="0" spc="100" dirty="0">
                <a:solidFill>
                  <a:srgbClr val="F4A300"/>
                </a:solidFill>
                <a:latin typeface="Calibri" pitchFamily="34" charset="0"/>
                <a:ea typeface="Calibri" pitchFamily="34" charset="-122"/>
                <a:cs typeface="Calibri" pitchFamily="34" charset="-120"/>
              </a:rPr>
              <a:t>CLIENT</a:t>
            </a:r>
            <a:endParaRPr lang="en-US" sz="1100" dirty="0"/>
          </a:p>
        </p:txBody>
      </p:sp>
      <p:sp>
        <p:nvSpPr>
          <p:cNvPr id="10" name="Text 8"/>
          <p:cNvSpPr/>
          <p:nvPr/>
        </p:nvSpPr>
        <p:spPr>
          <a:xfrm>
            <a:off x="731520" y="5029200"/>
            <a:ext cx="621792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East African Communications Organisation (EACO)</a:t>
            </a:r>
            <a:endParaRPr lang="en-US" sz="1600" dirty="0"/>
          </a:p>
        </p:txBody>
      </p:sp>
      <p:sp>
        <p:nvSpPr>
          <p:cNvPr id="11" name="Text 9"/>
          <p:cNvSpPr/>
          <p:nvPr/>
        </p:nvSpPr>
        <p:spPr>
          <a:xfrm>
            <a:off x="731520" y="5394960"/>
            <a:ext cx="6217920" cy="502920"/>
          </a:xfrm>
          <a:prstGeom prst="rect">
            <a:avLst/>
          </a:prstGeom>
          <a:noFill/>
          <a:ln/>
        </p:spPr>
        <p:txBody>
          <a:bodyPr wrap="square" rtlCol="0" anchor="ctr"/>
          <a:lstStyle/>
          <a:p>
            <a:pPr marL="0" indent="0">
              <a:buNone/>
            </a:pPr>
            <a:r>
              <a:rPr lang="en-US" sz="1200" dirty="0">
                <a:solidFill>
                  <a:srgbClr val="CADCE0"/>
                </a:solidFill>
                <a:latin typeface="Calibri" pitchFamily="34" charset="0"/>
                <a:ea typeface="Calibri" pitchFamily="34" charset="-122"/>
                <a:cs typeface="Calibri" pitchFamily="34" charset="-120"/>
              </a:rPr>
              <a:t>Regional body coordinating ICT policy and regulation across East Africa.</a:t>
            </a:r>
            <a:endParaRPr lang="en-US" sz="1200" dirty="0"/>
          </a:p>
        </p:txBody>
      </p:sp>
      <p:sp>
        <p:nvSpPr>
          <p:cNvPr id="12" name="Shape 10"/>
          <p:cNvSpPr/>
          <p:nvPr/>
        </p:nvSpPr>
        <p:spPr>
          <a:xfrm>
            <a:off x="7543800" y="1371600"/>
            <a:ext cx="4160520" cy="4663440"/>
          </a:xfrm>
          <a:prstGeom prst="rect">
            <a:avLst/>
          </a:prstGeom>
          <a:solidFill>
            <a:srgbClr val="F6F8FA"/>
          </a:solidFill>
          <a:ln w="12700">
            <a:solidFill>
              <a:srgbClr val="E1E7EC"/>
            </a:solidFill>
            <a:prstDash val="solid"/>
          </a:ln>
        </p:spPr>
        <p:txBody>
          <a:bodyPr/>
          <a:lstStyle/>
          <a:p>
            <a:endParaRPr lang="en-KE"/>
          </a:p>
        </p:txBody>
      </p:sp>
      <p:sp>
        <p:nvSpPr>
          <p:cNvPr id="13" name="Text 11"/>
          <p:cNvSpPr/>
          <p:nvPr/>
        </p:nvSpPr>
        <p:spPr>
          <a:xfrm>
            <a:off x="7818120" y="1554480"/>
            <a:ext cx="3657600" cy="274320"/>
          </a:xfrm>
          <a:prstGeom prst="rect">
            <a:avLst/>
          </a:prstGeom>
          <a:noFill/>
          <a:ln/>
        </p:spPr>
        <p:txBody>
          <a:bodyPr wrap="square"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COUNTRIES COVERED</a:t>
            </a:r>
            <a:endParaRPr lang="en-US" sz="1100" dirty="0"/>
          </a:p>
        </p:txBody>
      </p:sp>
      <p:sp>
        <p:nvSpPr>
          <p:cNvPr id="14" name="Shape 12"/>
          <p:cNvSpPr/>
          <p:nvPr/>
        </p:nvSpPr>
        <p:spPr>
          <a:xfrm>
            <a:off x="7863840" y="2020824"/>
            <a:ext cx="100584" cy="100584"/>
          </a:xfrm>
          <a:prstGeom prst="ellipse">
            <a:avLst/>
          </a:prstGeom>
          <a:solidFill>
            <a:srgbClr val="F4A300"/>
          </a:solidFill>
          <a:ln/>
        </p:spPr>
        <p:txBody>
          <a:bodyPr/>
          <a:lstStyle/>
          <a:p>
            <a:endParaRPr lang="en-KE"/>
          </a:p>
        </p:txBody>
      </p:sp>
      <p:sp>
        <p:nvSpPr>
          <p:cNvPr id="15" name="Text 13"/>
          <p:cNvSpPr/>
          <p:nvPr/>
        </p:nvSpPr>
        <p:spPr>
          <a:xfrm>
            <a:off x="8092440" y="1911096"/>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Burundi</a:t>
            </a:r>
            <a:endParaRPr lang="en-US" sz="1400" dirty="0"/>
          </a:p>
        </p:txBody>
      </p:sp>
      <p:sp>
        <p:nvSpPr>
          <p:cNvPr id="16" name="Shape 14"/>
          <p:cNvSpPr/>
          <p:nvPr/>
        </p:nvSpPr>
        <p:spPr>
          <a:xfrm>
            <a:off x="7863840" y="2505456"/>
            <a:ext cx="100584" cy="100584"/>
          </a:xfrm>
          <a:prstGeom prst="ellipse">
            <a:avLst/>
          </a:prstGeom>
          <a:solidFill>
            <a:srgbClr val="F4A300"/>
          </a:solidFill>
          <a:ln/>
        </p:spPr>
        <p:txBody>
          <a:bodyPr/>
          <a:lstStyle/>
          <a:p>
            <a:endParaRPr lang="en-KE"/>
          </a:p>
        </p:txBody>
      </p:sp>
      <p:sp>
        <p:nvSpPr>
          <p:cNvPr id="17" name="Text 15"/>
          <p:cNvSpPr/>
          <p:nvPr/>
        </p:nvSpPr>
        <p:spPr>
          <a:xfrm>
            <a:off x="8092440" y="2395728"/>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Ethiopia</a:t>
            </a:r>
            <a:endParaRPr lang="en-US" sz="1400" dirty="0"/>
          </a:p>
        </p:txBody>
      </p:sp>
      <p:sp>
        <p:nvSpPr>
          <p:cNvPr id="18" name="Shape 16"/>
          <p:cNvSpPr/>
          <p:nvPr/>
        </p:nvSpPr>
        <p:spPr>
          <a:xfrm>
            <a:off x="7863840" y="2990088"/>
            <a:ext cx="100584" cy="100584"/>
          </a:xfrm>
          <a:prstGeom prst="ellipse">
            <a:avLst/>
          </a:prstGeom>
          <a:solidFill>
            <a:srgbClr val="F4A300"/>
          </a:solidFill>
          <a:ln/>
        </p:spPr>
        <p:txBody>
          <a:bodyPr/>
          <a:lstStyle/>
          <a:p>
            <a:endParaRPr lang="en-KE"/>
          </a:p>
        </p:txBody>
      </p:sp>
      <p:sp>
        <p:nvSpPr>
          <p:cNvPr id="19" name="Text 17"/>
          <p:cNvSpPr/>
          <p:nvPr/>
        </p:nvSpPr>
        <p:spPr>
          <a:xfrm>
            <a:off x="8092440" y="2880360"/>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Kenya</a:t>
            </a:r>
            <a:endParaRPr lang="en-US" sz="1400" dirty="0"/>
          </a:p>
        </p:txBody>
      </p:sp>
      <p:sp>
        <p:nvSpPr>
          <p:cNvPr id="20" name="Shape 18"/>
          <p:cNvSpPr/>
          <p:nvPr/>
        </p:nvSpPr>
        <p:spPr>
          <a:xfrm>
            <a:off x="7863840" y="3474720"/>
            <a:ext cx="100584" cy="100584"/>
          </a:xfrm>
          <a:prstGeom prst="ellipse">
            <a:avLst/>
          </a:prstGeom>
          <a:solidFill>
            <a:srgbClr val="F4A300"/>
          </a:solidFill>
          <a:ln/>
        </p:spPr>
        <p:txBody>
          <a:bodyPr/>
          <a:lstStyle/>
          <a:p>
            <a:endParaRPr lang="en-KE"/>
          </a:p>
        </p:txBody>
      </p:sp>
      <p:sp>
        <p:nvSpPr>
          <p:cNvPr id="21" name="Text 19"/>
          <p:cNvSpPr/>
          <p:nvPr/>
        </p:nvSpPr>
        <p:spPr>
          <a:xfrm>
            <a:off x="8092440" y="3364992"/>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Rwanda</a:t>
            </a:r>
            <a:endParaRPr lang="en-US" sz="1400" dirty="0"/>
          </a:p>
        </p:txBody>
      </p:sp>
      <p:sp>
        <p:nvSpPr>
          <p:cNvPr id="22" name="Shape 20"/>
          <p:cNvSpPr/>
          <p:nvPr/>
        </p:nvSpPr>
        <p:spPr>
          <a:xfrm>
            <a:off x="7863840" y="3959352"/>
            <a:ext cx="100584" cy="100584"/>
          </a:xfrm>
          <a:prstGeom prst="ellipse">
            <a:avLst/>
          </a:prstGeom>
          <a:solidFill>
            <a:srgbClr val="F4A300"/>
          </a:solidFill>
          <a:ln/>
        </p:spPr>
        <p:txBody>
          <a:bodyPr/>
          <a:lstStyle/>
          <a:p>
            <a:endParaRPr lang="en-KE"/>
          </a:p>
        </p:txBody>
      </p:sp>
      <p:sp>
        <p:nvSpPr>
          <p:cNvPr id="23" name="Text 21"/>
          <p:cNvSpPr/>
          <p:nvPr/>
        </p:nvSpPr>
        <p:spPr>
          <a:xfrm>
            <a:off x="8092440" y="3849624"/>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Somalia</a:t>
            </a:r>
            <a:endParaRPr lang="en-US" sz="1400" dirty="0"/>
          </a:p>
        </p:txBody>
      </p:sp>
      <p:sp>
        <p:nvSpPr>
          <p:cNvPr id="24" name="Shape 22"/>
          <p:cNvSpPr/>
          <p:nvPr/>
        </p:nvSpPr>
        <p:spPr>
          <a:xfrm>
            <a:off x="7863840" y="4443984"/>
            <a:ext cx="100584" cy="100584"/>
          </a:xfrm>
          <a:prstGeom prst="ellipse">
            <a:avLst/>
          </a:prstGeom>
          <a:solidFill>
            <a:srgbClr val="F4A300"/>
          </a:solidFill>
          <a:ln/>
        </p:spPr>
        <p:txBody>
          <a:bodyPr/>
          <a:lstStyle/>
          <a:p>
            <a:endParaRPr lang="en-KE"/>
          </a:p>
        </p:txBody>
      </p:sp>
      <p:sp>
        <p:nvSpPr>
          <p:cNvPr id="25" name="Text 23"/>
          <p:cNvSpPr/>
          <p:nvPr/>
        </p:nvSpPr>
        <p:spPr>
          <a:xfrm>
            <a:off x="8092440" y="4334256"/>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South Sudan</a:t>
            </a:r>
            <a:endParaRPr lang="en-US" sz="1400" dirty="0"/>
          </a:p>
        </p:txBody>
      </p:sp>
      <p:sp>
        <p:nvSpPr>
          <p:cNvPr id="26" name="Shape 24"/>
          <p:cNvSpPr/>
          <p:nvPr/>
        </p:nvSpPr>
        <p:spPr>
          <a:xfrm>
            <a:off x="7863840" y="4928616"/>
            <a:ext cx="100584" cy="100584"/>
          </a:xfrm>
          <a:prstGeom prst="ellipse">
            <a:avLst/>
          </a:prstGeom>
          <a:solidFill>
            <a:srgbClr val="F4A300"/>
          </a:solidFill>
          <a:ln/>
        </p:spPr>
        <p:txBody>
          <a:bodyPr/>
          <a:lstStyle/>
          <a:p>
            <a:endParaRPr lang="en-KE"/>
          </a:p>
        </p:txBody>
      </p:sp>
      <p:sp>
        <p:nvSpPr>
          <p:cNvPr id="27" name="Text 25"/>
          <p:cNvSpPr/>
          <p:nvPr/>
        </p:nvSpPr>
        <p:spPr>
          <a:xfrm>
            <a:off x="8092440" y="4818888"/>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Tanzania</a:t>
            </a:r>
            <a:endParaRPr lang="en-US" sz="1400" dirty="0"/>
          </a:p>
        </p:txBody>
      </p:sp>
      <p:sp>
        <p:nvSpPr>
          <p:cNvPr id="28" name="Shape 26"/>
          <p:cNvSpPr/>
          <p:nvPr/>
        </p:nvSpPr>
        <p:spPr>
          <a:xfrm>
            <a:off x="7863840" y="5413248"/>
            <a:ext cx="100584" cy="100584"/>
          </a:xfrm>
          <a:prstGeom prst="ellipse">
            <a:avLst/>
          </a:prstGeom>
          <a:solidFill>
            <a:srgbClr val="F4A300"/>
          </a:solidFill>
          <a:ln/>
        </p:spPr>
        <p:txBody>
          <a:bodyPr/>
          <a:lstStyle/>
          <a:p>
            <a:endParaRPr lang="en-KE"/>
          </a:p>
        </p:txBody>
      </p:sp>
      <p:sp>
        <p:nvSpPr>
          <p:cNvPr id="29" name="Text 27"/>
          <p:cNvSpPr/>
          <p:nvPr/>
        </p:nvSpPr>
        <p:spPr>
          <a:xfrm>
            <a:off x="8092440" y="5303520"/>
            <a:ext cx="3474720" cy="32004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Uganda</a:t>
            </a:r>
            <a:endParaRPr lang="en-US" sz="1400" dirty="0"/>
          </a:p>
        </p:txBody>
      </p:sp>
      <p:sp>
        <p:nvSpPr>
          <p:cNvPr id="30" name="Text 28"/>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31" name="Text 29"/>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Research Questions</a:t>
            </a:r>
            <a:endParaRPr lang="en-US" sz="3000" dirty="0"/>
          </a:p>
        </p:txBody>
      </p:sp>
      <p:sp>
        <p:nvSpPr>
          <p:cNvPr id="4" name="Shape 2"/>
          <p:cNvSpPr/>
          <p:nvPr/>
        </p:nvSpPr>
        <p:spPr>
          <a:xfrm>
            <a:off x="457200" y="1417320"/>
            <a:ext cx="5440680" cy="1417320"/>
          </a:xfrm>
          <a:prstGeom prst="roundRect">
            <a:avLst>
              <a:gd name="adj" fmla="val 5806"/>
            </a:avLst>
          </a:prstGeom>
          <a:solidFill>
            <a:srgbClr val="F6F8FA"/>
          </a:solidFill>
          <a:ln w="12700">
            <a:solidFill>
              <a:srgbClr val="E1E7EC"/>
            </a:solidFill>
            <a:prstDash val="solid"/>
          </a:ln>
        </p:spPr>
        <p:txBody>
          <a:bodyPr/>
          <a:lstStyle/>
          <a:p>
            <a:endParaRPr lang="en-KE"/>
          </a:p>
        </p:txBody>
      </p:sp>
      <p:sp>
        <p:nvSpPr>
          <p:cNvPr id="5" name="Shape 3"/>
          <p:cNvSpPr/>
          <p:nvPr/>
        </p:nvSpPr>
        <p:spPr>
          <a:xfrm>
            <a:off x="713232" y="1673352"/>
            <a:ext cx="502920" cy="502920"/>
          </a:xfrm>
          <a:prstGeom prst="ellipse">
            <a:avLst/>
          </a:prstGeom>
          <a:solidFill>
            <a:srgbClr val="1C7293"/>
          </a:solidFill>
          <a:ln/>
        </p:spPr>
        <p:txBody>
          <a:bodyPr/>
          <a:lstStyle/>
          <a:p>
            <a:endParaRPr lang="en-KE"/>
          </a:p>
        </p:txBody>
      </p:sp>
      <p:sp>
        <p:nvSpPr>
          <p:cNvPr id="6" name="Text 4"/>
          <p:cNvSpPr/>
          <p:nvPr/>
        </p:nvSpPr>
        <p:spPr>
          <a:xfrm>
            <a:off x="713232" y="167335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417320" y="1581912"/>
            <a:ext cx="4251960" cy="1097280"/>
          </a:xfrm>
          <a:prstGeom prst="rect">
            <a:avLst/>
          </a:prstGeom>
          <a:noFill/>
          <a:ln/>
        </p:spPr>
        <p:txBody>
          <a:bodyPr wrap="square" rtlCol="0" anchor="ctr"/>
          <a:lstStyle/>
          <a:p>
            <a:pPr marL="0" indent="0">
              <a:lnSpc>
                <a:spcPts val="1600"/>
              </a:lnSpc>
              <a:buNone/>
            </a:pPr>
            <a:r>
              <a:rPr lang="en-US" sz="1250" dirty="0">
                <a:solidFill>
                  <a:srgbClr val="1A1A1A"/>
                </a:solidFill>
                <a:latin typeface="Calibri" pitchFamily="34" charset="0"/>
                <a:ea typeface="Calibri" pitchFamily="34" charset="-122"/>
                <a:cs typeface="Calibri" pitchFamily="34" charset="-120"/>
              </a:rPr>
              <a:t>Which East African country has experienced the highest growth in internet users, 2010–2024?</a:t>
            </a:r>
            <a:endParaRPr lang="en-US" sz="1250" dirty="0"/>
          </a:p>
        </p:txBody>
      </p:sp>
      <p:sp>
        <p:nvSpPr>
          <p:cNvPr id="8" name="Shape 6"/>
          <p:cNvSpPr/>
          <p:nvPr/>
        </p:nvSpPr>
        <p:spPr>
          <a:xfrm>
            <a:off x="6263640" y="1417320"/>
            <a:ext cx="5440680" cy="1417320"/>
          </a:xfrm>
          <a:prstGeom prst="roundRect">
            <a:avLst>
              <a:gd name="adj" fmla="val 5806"/>
            </a:avLst>
          </a:prstGeom>
          <a:solidFill>
            <a:srgbClr val="F6F8FA"/>
          </a:solidFill>
          <a:ln w="12700">
            <a:solidFill>
              <a:srgbClr val="E1E7EC"/>
            </a:solidFill>
            <a:prstDash val="solid"/>
          </a:ln>
        </p:spPr>
        <p:txBody>
          <a:bodyPr/>
          <a:lstStyle/>
          <a:p>
            <a:endParaRPr lang="en-KE"/>
          </a:p>
        </p:txBody>
      </p:sp>
      <p:sp>
        <p:nvSpPr>
          <p:cNvPr id="9" name="Shape 7"/>
          <p:cNvSpPr/>
          <p:nvPr/>
        </p:nvSpPr>
        <p:spPr>
          <a:xfrm>
            <a:off x="6519672" y="1673352"/>
            <a:ext cx="502920" cy="502920"/>
          </a:xfrm>
          <a:prstGeom prst="ellipse">
            <a:avLst/>
          </a:prstGeom>
          <a:solidFill>
            <a:srgbClr val="1C7293"/>
          </a:solidFill>
          <a:ln/>
        </p:spPr>
        <p:txBody>
          <a:bodyPr/>
          <a:lstStyle/>
          <a:p>
            <a:endParaRPr lang="en-KE"/>
          </a:p>
        </p:txBody>
      </p:sp>
      <p:sp>
        <p:nvSpPr>
          <p:cNvPr id="10" name="Text 8"/>
          <p:cNvSpPr/>
          <p:nvPr/>
        </p:nvSpPr>
        <p:spPr>
          <a:xfrm>
            <a:off x="6519672" y="167335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7223760" y="1581912"/>
            <a:ext cx="4251960" cy="1097280"/>
          </a:xfrm>
          <a:prstGeom prst="rect">
            <a:avLst/>
          </a:prstGeom>
          <a:noFill/>
          <a:ln/>
        </p:spPr>
        <p:txBody>
          <a:bodyPr wrap="square" rtlCol="0" anchor="ctr"/>
          <a:lstStyle/>
          <a:p>
            <a:pPr marL="0" indent="0">
              <a:lnSpc>
                <a:spcPts val="1600"/>
              </a:lnSpc>
              <a:buNone/>
            </a:pPr>
            <a:r>
              <a:rPr lang="en-US" sz="1250" dirty="0">
                <a:solidFill>
                  <a:srgbClr val="1A1A1A"/>
                </a:solidFill>
                <a:latin typeface="Calibri" pitchFamily="34" charset="0"/>
                <a:ea typeface="Calibri" pitchFamily="34" charset="-122"/>
                <a:cs typeface="Calibri" pitchFamily="34" charset="-120"/>
              </a:rPr>
              <a:t>How does internet penetration compare with mobile-phone subscriptions across countries?</a:t>
            </a:r>
            <a:endParaRPr lang="en-US" sz="1250" dirty="0"/>
          </a:p>
        </p:txBody>
      </p:sp>
      <p:sp>
        <p:nvSpPr>
          <p:cNvPr id="12" name="Shape 10"/>
          <p:cNvSpPr/>
          <p:nvPr/>
        </p:nvSpPr>
        <p:spPr>
          <a:xfrm>
            <a:off x="457200" y="3044952"/>
            <a:ext cx="5440680" cy="1417320"/>
          </a:xfrm>
          <a:prstGeom prst="roundRect">
            <a:avLst>
              <a:gd name="adj" fmla="val 5806"/>
            </a:avLst>
          </a:prstGeom>
          <a:solidFill>
            <a:srgbClr val="F6F8FA"/>
          </a:solidFill>
          <a:ln w="12700">
            <a:solidFill>
              <a:srgbClr val="E1E7EC"/>
            </a:solidFill>
            <a:prstDash val="solid"/>
          </a:ln>
        </p:spPr>
        <p:txBody>
          <a:bodyPr/>
          <a:lstStyle/>
          <a:p>
            <a:endParaRPr lang="en-KE"/>
          </a:p>
        </p:txBody>
      </p:sp>
      <p:sp>
        <p:nvSpPr>
          <p:cNvPr id="13" name="Shape 11"/>
          <p:cNvSpPr/>
          <p:nvPr/>
        </p:nvSpPr>
        <p:spPr>
          <a:xfrm>
            <a:off x="713232" y="3300984"/>
            <a:ext cx="502920" cy="502920"/>
          </a:xfrm>
          <a:prstGeom prst="ellipse">
            <a:avLst/>
          </a:prstGeom>
          <a:solidFill>
            <a:srgbClr val="1C7293"/>
          </a:solidFill>
          <a:ln/>
        </p:spPr>
        <p:txBody>
          <a:bodyPr/>
          <a:lstStyle/>
          <a:p>
            <a:endParaRPr lang="en-KE"/>
          </a:p>
        </p:txBody>
      </p:sp>
      <p:sp>
        <p:nvSpPr>
          <p:cNvPr id="14" name="Text 12"/>
          <p:cNvSpPr/>
          <p:nvPr/>
        </p:nvSpPr>
        <p:spPr>
          <a:xfrm>
            <a:off x="713232" y="3300984"/>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417320" y="3209544"/>
            <a:ext cx="4251960" cy="1097280"/>
          </a:xfrm>
          <a:prstGeom prst="rect">
            <a:avLst/>
          </a:prstGeom>
          <a:noFill/>
          <a:ln/>
        </p:spPr>
        <p:txBody>
          <a:bodyPr wrap="square" rtlCol="0" anchor="ctr"/>
          <a:lstStyle/>
          <a:p>
            <a:pPr marL="0" indent="0">
              <a:lnSpc>
                <a:spcPts val="1600"/>
              </a:lnSpc>
              <a:buNone/>
            </a:pPr>
            <a:r>
              <a:rPr lang="en-US" sz="1250" dirty="0">
                <a:solidFill>
                  <a:srgbClr val="1A1A1A"/>
                </a:solidFill>
                <a:latin typeface="Calibri" pitchFamily="34" charset="0"/>
                <a:ea typeface="Calibri" pitchFamily="34" charset="-122"/>
                <a:cs typeface="Calibri" pitchFamily="34" charset="-120"/>
              </a:rPr>
              <a:t>Is access to electricity associated with higher internet usage?</a:t>
            </a:r>
            <a:endParaRPr lang="en-US" sz="1250" dirty="0"/>
          </a:p>
        </p:txBody>
      </p:sp>
      <p:sp>
        <p:nvSpPr>
          <p:cNvPr id="16" name="Shape 14"/>
          <p:cNvSpPr/>
          <p:nvPr/>
        </p:nvSpPr>
        <p:spPr>
          <a:xfrm>
            <a:off x="6263640" y="3044952"/>
            <a:ext cx="5440680" cy="1417320"/>
          </a:xfrm>
          <a:prstGeom prst="roundRect">
            <a:avLst>
              <a:gd name="adj" fmla="val 5806"/>
            </a:avLst>
          </a:prstGeom>
          <a:solidFill>
            <a:srgbClr val="F6F8FA"/>
          </a:solidFill>
          <a:ln w="12700">
            <a:solidFill>
              <a:srgbClr val="E1E7EC"/>
            </a:solidFill>
            <a:prstDash val="solid"/>
          </a:ln>
        </p:spPr>
        <p:txBody>
          <a:bodyPr/>
          <a:lstStyle/>
          <a:p>
            <a:endParaRPr lang="en-KE"/>
          </a:p>
        </p:txBody>
      </p:sp>
      <p:sp>
        <p:nvSpPr>
          <p:cNvPr id="17" name="Shape 15"/>
          <p:cNvSpPr/>
          <p:nvPr/>
        </p:nvSpPr>
        <p:spPr>
          <a:xfrm>
            <a:off x="6519672" y="3300984"/>
            <a:ext cx="502920" cy="502920"/>
          </a:xfrm>
          <a:prstGeom prst="ellipse">
            <a:avLst/>
          </a:prstGeom>
          <a:solidFill>
            <a:srgbClr val="1C7293"/>
          </a:solidFill>
          <a:ln/>
        </p:spPr>
        <p:txBody>
          <a:bodyPr/>
          <a:lstStyle/>
          <a:p>
            <a:endParaRPr lang="en-KE"/>
          </a:p>
        </p:txBody>
      </p:sp>
      <p:sp>
        <p:nvSpPr>
          <p:cNvPr id="18" name="Text 16"/>
          <p:cNvSpPr/>
          <p:nvPr/>
        </p:nvSpPr>
        <p:spPr>
          <a:xfrm>
            <a:off x="6519672" y="3300984"/>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7223760" y="3209544"/>
            <a:ext cx="4251960" cy="1097280"/>
          </a:xfrm>
          <a:prstGeom prst="rect">
            <a:avLst/>
          </a:prstGeom>
          <a:noFill/>
          <a:ln/>
        </p:spPr>
        <p:txBody>
          <a:bodyPr wrap="square" rtlCol="0" anchor="ctr"/>
          <a:lstStyle/>
          <a:p>
            <a:pPr marL="0" indent="0">
              <a:lnSpc>
                <a:spcPts val="1600"/>
              </a:lnSpc>
              <a:buNone/>
            </a:pPr>
            <a:r>
              <a:rPr lang="en-US" sz="1250" dirty="0">
                <a:solidFill>
                  <a:srgbClr val="1A1A1A"/>
                </a:solidFill>
                <a:latin typeface="Calibri" pitchFamily="34" charset="0"/>
                <a:ea typeface="Calibri" pitchFamily="34" charset="-122"/>
                <a:cs typeface="Calibri" pitchFamily="34" charset="-120"/>
              </a:rPr>
              <a:t>Which country has the largest gap between mobile-phone ownership and internet adoption?</a:t>
            </a:r>
            <a:endParaRPr lang="en-US" sz="1250" dirty="0"/>
          </a:p>
        </p:txBody>
      </p:sp>
      <p:sp>
        <p:nvSpPr>
          <p:cNvPr id="20" name="Shape 18"/>
          <p:cNvSpPr/>
          <p:nvPr/>
        </p:nvSpPr>
        <p:spPr>
          <a:xfrm>
            <a:off x="457200" y="4672584"/>
            <a:ext cx="5440680" cy="1417320"/>
          </a:xfrm>
          <a:prstGeom prst="roundRect">
            <a:avLst>
              <a:gd name="adj" fmla="val 5806"/>
            </a:avLst>
          </a:prstGeom>
          <a:solidFill>
            <a:srgbClr val="F6F8FA"/>
          </a:solidFill>
          <a:ln w="12700">
            <a:solidFill>
              <a:srgbClr val="E1E7EC"/>
            </a:solidFill>
            <a:prstDash val="solid"/>
          </a:ln>
        </p:spPr>
        <p:txBody>
          <a:bodyPr/>
          <a:lstStyle/>
          <a:p>
            <a:endParaRPr lang="en-KE"/>
          </a:p>
        </p:txBody>
      </p:sp>
      <p:sp>
        <p:nvSpPr>
          <p:cNvPr id="21" name="Shape 19"/>
          <p:cNvSpPr/>
          <p:nvPr/>
        </p:nvSpPr>
        <p:spPr>
          <a:xfrm>
            <a:off x="713232" y="4928616"/>
            <a:ext cx="502920" cy="502920"/>
          </a:xfrm>
          <a:prstGeom prst="ellipse">
            <a:avLst/>
          </a:prstGeom>
          <a:solidFill>
            <a:srgbClr val="1C7293"/>
          </a:solidFill>
          <a:ln/>
        </p:spPr>
        <p:txBody>
          <a:bodyPr/>
          <a:lstStyle/>
          <a:p>
            <a:endParaRPr lang="en-KE"/>
          </a:p>
        </p:txBody>
      </p:sp>
      <p:sp>
        <p:nvSpPr>
          <p:cNvPr id="22" name="Text 20"/>
          <p:cNvSpPr/>
          <p:nvPr/>
        </p:nvSpPr>
        <p:spPr>
          <a:xfrm>
            <a:off x="713232" y="4928616"/>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1417320" y="4837176"/>
            <a:ext cx="4251960" cy="1097280"/>
          </a:xfrm>
          <a:prstGeom prst="rect">
            <a:avLst/>
          </a:prstGeom>
          <a:noFill/>
          <a:ln/>
        </p:spPr>
        <p:txBody>
          <a:bodyPr wrap="square" rtlCol="0" anchor="ctr"/>
          <a:lstStyle/>
          <a:p>
            <a:pPr marL="0" indent="0">
              <a:lnSpc>
                <a:spcPts val="1600"/>
              </a:lnSpc>
              <a:buNone/>
            </a:pPr>
            <a:r>
              <a:rPr lang="en-US" sz="1250" dirty="0">
                <a:solidFill>
                  <a:srgbClr val="1A1A1A"/>
                </a:solidFill>
                <a:latin typeface="Calibri" pitchFamily="34" charset="0"/>
                <a:ea typeface="Calibri" pitchFamily="34" charset="-122"/>
                <a:cs typeface="Calibri" pitchFamily="34" charset="-120"/>
              </a:rPr>
              <a:t>How does Kenya compare with the other East African countries in digital transformation?</a:t>
            </a:r>
            <a:endParaRPr lang="en-US" sz="1250" dirty="0"/>
          </a:p>
        </p:txBody>
      </p:sp>
      <p:sp>
        <p:nvSpPr>
          <p:cNvPr id="24" name="Shape 22"/>
          <p:cNvSpPr/>
          <p:nvPr/>
        </p:nvSpPr>
        <p:spPr>
          <a:xfrm>
            <a:off x="6263640" y="4672584"/>
            <a:ext cx="5440680" cy="1417320"/>
          </a:xfrm>
          <a:prstGeom prst="roundRect">
            <a:avLst>
              <a:gd name="adj" fmla="val 5806"/>
            </a:avLst>
          </a:prstGeom>
          <a:solidFill>
            <a:srgbClr val="F6F8FA"/>
          </a:solidFill>
          <a:ln w="12700">
            <a:solidFill>
              <a:srgbClr val="E1E7EC"/>
            </a:solidFill>
            <a:prstDash val="solid"/>
          </a:ln>
        </p:spPr>
        <p:txBody>
          <a:bodyPr/>
          <a:lstStyle/>
          <a:p>
            <a:endParaRPr lang="en-KE"/>
          </a:p>
        </p:txBody>
      </p:sp>
      <p:sp>
        <p:nvSpPr>
          <p:cNvPr id="25" name="Shape 23"/>
          <p:cNvSpPr/>
          <p:nvPr/>
        </p:nvSpPr>
        <p:spPr>
          <a:xfrm>
            <a:off x="6519672" y="4928616"/>
            <a:ext cx="502920" cy="502920"/>
          </a:xfrm>
          <a:prstGeom prst="ellipse">
            <a:avLst/>
          </a:prstGeom>
          <a:solidFill>
            <a:srgbClr val="F4A300"/>
          </a:solidFill>
          <a:ln/>
        </p:spPr>
        <p:txBody>
          <a:bodyPr/>
          <a:lstStyle/>
          <a:p>
            <a:endParaRPr lang="en-KE"/>
          </a:p>
        </p:txBody>
      </p:sp>
      <p:sp>
        <p:nvSpPr>
          <p:cNvPr id="26" name="Text 24"/>
          <p:cNvSpPr/>
          <p:nvPr/>
        </p:nvSpPr>
        <p:spPr>
          <a:xfrm>
            <a:off x="6519672" y="4928616"/>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7" name="Text 25"/>
          <p:cNvSpPr/>
          <p:nvPr/>
        </p:nvSpPr>
        <p:spPr>
          <a:xfrm>
            <a:off x="7223760" y="4837176"/>
            <a:ext cx="4251960" cy="1097280"/>
          </a:xfrm>
          <a:prstGeom prst="rect">
            <a:avLst/>
          </a:prstGeom>
          <a:noFill/>
          <a:ln/>
        </p:spPr>
        <p:txBody>
          <a:bodyPr wrap="square" rtlCol="0" anchor="ctr"/>
          <a:lstStyle/>
          <a:p>
            <a:pPr marL="0" indent="0">
              <a:lnSpc>
                <a:spcPts val="1600"/>
              </a:lnSpc>
              <a:buNone/>
            </a:pPr>
            <a:r>
              <a:rPr lang="en-US" sz="1250" dirty="0">
                <a:solidFill>
                  <a:srgbClr val="1A1A1A"/>
                </a:solidFill>
                <a:latin typeface="Calibri" pitchFamily="34" charset="0"/>
                <a:ea typeface="Calibri" pitchFamily="34" charset="-122"/>
                <a:cs typeface="Calibri" pitchFamily="34" charset="-120"/>
              </a:rPr>
              <a:t>Which three policy interventions would accelerate digital inclusion in the region?</a:t>
            </a:r>
            <a:endParaRPr lang="en-US" sz="1250" dirty="0"/>
          </a:p>
        </p:txBody>
      </p:sp>
      <p:sp>
        <p:nvSpPr>
          <p:cNvPr id="28" name="Text 26"/>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29" name="Text 27"/>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Data Source &amp; API Retrieval</a:t>
            </a:r>
            <a:endParaRPr lang="en-US" sz="3000" dirty="0"/>
          </a:p>
        </p:txBody>
      </p:sp>
      <p:sp>
        <p:nvSpPr>
          <p:cNvPr id="4" name="Text 2"/>
          <p:cNvSpPr/>
          <p:nvPr/>
        </p:nvSpPr>
        <p:spPr>
          <a:xfrm>
            <a:off x="457200" y="1371600"/>
            <a:ext cx="11247120" cy="548640"/>
          </a:xfrm>
          <a:prstGeom prst="rect">
            <a:avLst/>
          </a:prstGeom>
          <a:noFill/>
          <a:ln/>
        </p:spPr>
        <p:txBody>
          <a:bodyPr wrap="square" rtlCol="0" anchor="ctr"/>
          <a:lstStyle/>
          <a:p>
            <a:pPr marL="0" indent="0">
              <a:lnSpc>
                <a:spcPts val="1800"/>
              </a:lnSpc>
              <a:buNone/>
            </a:pPr>
            <a:r>
              <a:rPr lang="en-US" sz="1350" dirty="0">
                <a:solidFill>
                  <a:srgbClr val="1A1A1A"/>
                </a:solidFill>
                <a:latin typeface="Calibri" pitchFamily="34" charset="0"/>
                <a:ea typeface="Calibri" pitchFamily="34" charset="-122"/>
                <a:cs typeface="Calibri" pitchFamily="34" charset="-120"/>
              </a:rPr>
              <a:t>All data retrieved directly in Python from the World Bank Indicators API (v2), for the eight East African countries in EACO's footprint, using ISO3 country codes for robustness.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5577840" cy="1920240"/>
        </p:xfrm>
        <a:graphic>
          <a:graphicData uri="http://schemas.openxmlformats.org/drawingml/2006/table">
            <a:tbl>
              <a:tblPr/>
              <a:tblGrid>
                <a:gridCol w="19202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84048">
                <a:tc>
                  <a:txBody>
                    <a:bodyPr/>
                    <a:lstStyle/>
                    <a:p>
                      <a:pPr marL="0" indent="0">
                        <a:buNone/>
                      </a:pPr>
                      <a:r>
                        <a:rPr lang="en-US" sz="1200" b="1" dirty="0">
                          <a:solidFill>
                            <a:srgbClr val="FFFFFF"/>
                          </a:solidFill>
                        </a:rPr>
                        <a:t>Item</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Value</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Base URL</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https://api.worldbank.org/v2</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Country list endpoint</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/country?format=json&amp;per_page=300&amp;region=SSF</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Data endpoint</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/country/{code}/indicator/{indicator}</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Data parameters</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format=json, date=2010:2024, per_page=100</a:t>
                      </a:r>
                      <a:endParaRPr lang="en-US" sz="11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57200" y="4251960"/>
          <a:ext cx="11247120" cy="1536192"/>
        </p:xfrm>
        <a:graphic>
          <a:graphicData uri="http://schemas.openxmlformats.org/drawingml/2006/table">
            <a:tbl>
              <a:tblPr/>
              <a:tblGrid>
                <a:gridCol w="21031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rPr>
                        <a:t>Indicator code</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C7293"/>
                    </a:solidFill>
                  </a:tcPr>
                </a:tc>
                <a:tc>
                  <a:txBody>
                    <a:bodyPr/>
                    <a:lstStyle/>
                    <a:p>
                      <a:pPr marL="0" indent="0">
                        <a:buNone/>
                      </a:pPr>
                      <a:r>
                        <a:rPr lang="en-US" sz="1200" b="1" dirty="0">
                          <a:solidFill>
                            <a:srgbClr val="FFFFFF"/>
                          </a:solidFill>
                        </a:rPr>
                        <a:t>Variable</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C7293"/>
                    </a:solidFill>
                  </a:tcPr>
                </a:tc>
                <a:tc>
                  <a:txBody>
                    <a:bodyPr/>
                    <a:lstStyle/>
                    <a:p>
                      <a:pPr marL="0" indent="0">
                        <a:buNone/>
                      </a:pPr>
                      <a:r>
                        <a:rPr lang="en-US" sz="1200" b="1" dirty="0">
                          <a:solidFill>
                            <a:srgbClr val="FFFFFF"/>
                          </a:solidFill>
                        </a:rPr>
                        <a:t>Role</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IT.NET.USER.ZS</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Internet users (% of population)</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Outcome</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IT.CEL.SETS.P2</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Mobile subscriptions (per 100 people)</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Comparison / gap</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EG.ELC.ACCS.ZS</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Access to electricity (% of population)</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Enabling infrastructure</a:t>
                      </a:r>
                      <a:endParaRPr lang="en-US" sz="105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3"/>
          <p:cNvSpPr/>
          <p:nvPr/>
        </p:nvSpPr>
        <p:spPr>
          <a:xfrm>
            <a:off x="457200" y="5989320"/>
            <a:ext cx="11247120" cy="365760"/>
          </a:xfrm>
          <a:prstGeom prst="rect">
            <a:avLst/>
          </a:prstGeom>
          <a:noFill/>
          <a:ln/>
        </p:spPr>
        <p:txBody>
          <a:bodyPr wrap="square" rtlCol="0" anchor="ctr"/>
          <a:lstStyle/>
          <a:p>
            <a:pPr marL="0" indent="0">
              <a:buNone/>
            </a:pPr>
            <a:r>
              <a:rPr lang="en-US" sz="1200" i="1" dirty="0">
                <a:solidFill>
                  <a:srgbClr val="5B6B79"/>
                </a:solidFill>
                <a:latin typeface="Calibri" pitchFamily="34" charset="0"/>
                <a:ea typeface="Calibri" pitchFamily="34" charset="-122"/>
                <a:cs typeface="Calibri" pitchFamily="34" charset="-120"/>
              </a:rPr>
              <a:t>Retrieved 360 country-year-indicator records across 3 indicators × 8 countries × 15 years (2010–2024).</a:t>
            </a:r>
            <a:endParaRPr lang="en-US" sz="1200" dirty="0"/>
          </a:p>
        </p:txBody>
      </p:sp>
      <p:sp>
        <p:nvSpPr>
          <p:cNvPr id="8" name="Text 4"/>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6" name="Text 5"/>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Data Quality Assessment</a:t>
            </a:r>
            <a:endParaRPr lang="en-US" sz="3000" dirty="0"/>
          </a:p>
        </p:txBody>
      </p:sp>
      <p:sp>
        <p:nvSpPr>
          <p:cNvPr id="4" name="Shape 2"/>
          <p:cNvSpPr/>
          <p:nvPr/>
        </p:nvSpPr>
        <p:spPr>
          <a:xfrm>
            <a:off x="457200" y="1417320"/>
            <a:ext cx="2697480" cy="1417320"/>
          </a:xfrm>
          <a:prstGeom prst="roundRect">
            <a:avLst>
              <a:gd name="adj" fmla="val 5161"/>
            </a:avLst>
          </a:prstGeom>
          <a:solidFill>
            <a:srgbClr val="F6F8FA"/>
          </a:solidFill>
          <a:ln w="12700">
            <a:solidFill>
              <a:srgbClr val="E1E7EC"/>
            </a:solidFill>
            <a:prstDash val="solid"/>
          </a:ln>
        </p:spPr>
        <p:txBody>
          <a:bodyPr/>
          <a:lstStyle/>
          <a:p>
            <a:endParaRPr lang="en-KE"/>
          </a:p>
        </p:txBody>
      </p:sp>
      <p:sp>
        <p:nvSpPr>
          <p:cNvPr id="5" name="Text 3"/>
          <p:cNvSpPr/>
          <p:nvPr/>
        </p:nvSpPr>
        <p:spPr>
          <a:xfrm>
            <a:off x="457200" y="1536192"/>
            <a:ext cx="2697480" cy="594360"/>
          </a:xfrm>
          <a:prstGeom prst="rect">
            <a:avLst/>
          </a:prstGeom>
          <a:noFill/>
          <a:ln/>
        </p:spPr>
        <p:txBody>
          <a:bodyPr wrap="square"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360</a:t>
            </a:r>
            <a:endParaRPr lang="en-US" sz="3000" dirty="0"/>
          </a:p>
        </p:txBody>
      </p:sp>
      <p:sp>
        <p:nvSpPr>
          <p:cNvPr id="6" name="Text 4"/>
          <p:cNvSpPr/>
          <p:nvPr/>
        </p:nvSpPr>
        <p:spPr>
          <a:xfrm>
            <a:off x="594360" y="2148840"/>
            <a:ext cx="2423160" cy="594360"/>
          </a:xfrm>
          <a:prstGeom prst="rect">
            <a:avLst/>
          </a:prstGeom>
          <a:noFill/>
          <a:ln/>
        </p:spPr>
        <p:txBody>
          <a:bodyPr wrap="square" rtlCol="0" anchor="ctr"/>
          <a:lstStyle/>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Records retrieved</a:t>
            </a:r>
            <a:endParaRPr lang="en-US" sz="1050" dirty="0"/>
          </a:p>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(incl. nulls)</a:t>
            </a:r>
            <a:endParaRPr lang="en-US" sz="1050" dirty="0"/>
          </a:p>
        </p:txBody>
      </p:sp>
      <p:sp>
        <p:nvSpPr>
          <p:cNvPr id="7" name="Shape 5"/>
          <p:cNvSpPr/>
          <p:nvPr/>
        </p:nvSpPr>
        <p:spPr>
          <a:xfrm>
            <a:off x="3337560" y="1417320"/>
            <a:ext cx="2697480" cy="1417320"/>
          </a:xfrm>
          <a:prstGeom prst="roundRect">
            <a:avLst>
              <a:gd name="adj" fmla="val 5161"/>
            </a:avLst>
          </a:prstGeom>
          <a:solidFill>
            <a:srgbClr val="F6F8FA"/>
          </a:solidFill>
          <a:ln w="12700">
            <a:solidFill>
              <a:srgbClr val="E1E7EC"/>
            </a:solidFill>
            <a:prstDash val="solid"/>
          </a:ln>
        </p:spPr>
        <p:txBody>
          <a:bodyPr/>
          <a:lstStyle/>
          <a:p>
            <a:endParaRPr lang="en-KE"/>
          </a:p>
        </p:txBody>
      </p:sp>
      <p:sp>
        <p:nvSpPr>
          <p:cNvPr id="8" name="Text 6"/>
          <p:cNvSpPr/>
          <p:nvPr/>
        </p:nvSpPr>
        <p:spPr>
          <a:xfrm>
            <a:off x="3337560" y="1536192"/>
            <a:ext cx="2697480" cy="594360"/>
          </a:xfrm>
          <a:prstGeom prst="rect">
            <a:avLst/>
          </a:prstGeom>
          <a:noFill/>
          <a:ln/>
        </p:spPr>
        <p:txBody>
          <a:bodyPr wrap="square"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0</a:t>
            </a:r>
            <a:endParaRPr lang="en-US" sz="3000" dirty="0"/>
          </a:p>
        </p:txBody>
      </p:sp>
      <p:sp>
        <p:nvSpPr>
          <p:cNvPr id="9" name="Text 7"/>
          <p:cNvSpPr/>
          <p:nvPr/>
        </p:nvSpPr>
        <p:spPr>
          <a:xfrm>
            <a:off x="3474720" y="2148840"/>
            <a:ext cx="2423160" cy="594360"/>
          </a:xfrm>
          <a:prstGeom prst="rect">
            <a:avLst/>
          </a:prstGeom>
          <a:noFill/>
          <a:ln/>
        </p:spPr>
        <p:txBody>
          <a:bodyPr wrap="square" rtlCol="0" anchor="ctr"/>
          <a:lstStyle/>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Duplicate</a:t>
            </a:r>
            <a:endParaRPr lang="en-US" sz="1050" dirty="0"/>
          </a:p>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(country, year, indicator) rows</a:t>
            </a:r>
            <a:endParaRPr lang="en-US" sz="1050" dirty="0"/>
          </a:p>
        </p:txBody>
      </p:sp>
      <p:sp>
        <p:nvSpPr>
          <p:cNvPr id="10" name="Shape 8"/>
          <p:cNvSpPr/>
          <p:nvPr/>
        </p:nvSpPr>
        <p:spPr>
          <a:xfrm>
            <a:off x="6217920" y="1417320"/>
            <a:ext cx="2697480" cy="1417320"/>
          </a:xfrm>
          <a:prstGeom prst="roundRect">
            <a:avLst>
              <a:gd name="adj" fmla="val 5161"/>
            </a:avLst>
          </a:prstGeom>
          <a:solidFill>
            <a:srgbClr val="F6F8FA"/>
          </a:solidFill>
          <a:ln w="12700">
            <a:solidFill>
              <a:srgbClr val="E1E7EC"/>
            </a:solidFill>
            <a:prstDash val="solid"/>
          </a:ln>
        </p:spPr>
        <p:txBody>
          <a:bodyPr/>
          <a:lstStyle/>
          <a:p>
            <a:endParaRPr lang="en-KE"/>
          </a:p>
        </p:txBody>
      </p:sp>
      <p:sp>
        <p:nvSpPr>
          <p:cNvPr id="11" name="Text 9"/>
          <p:cNvSpPr/>
          <p:nvPr/>
        </p:nvSpPr>
        <p:spPr>
          <a:xfrm>
            <a:off x="6217920" y="1536192"/>
            <a:ext cx="2697480" cy="594360"/>
          </a:xfrm>
          <a:prstGeom prst="rect">
            <a:avLst/>
          </a:prstGeom>
          <a:noFill/>
          <a:ln/>
        </p:spPr>
        <p:txBody>
          <a:bodyPr wrap="square"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0</a:t>
            </a:r>
            <a:endParaRPr lang="en-US" sz="3000" dirty="0"/>
          </a:p>
        </p:txBody>
      </p:sp>
      <p:sp>
        <p:nvSpPr>
          <p:cNvPr id="12" name="Text 10"/>
          <p:cNvSpPr/>
          <p:nvPr/>
        </p:nvSpPr>
        <p:spPr>
          <a:xfrm>
            <a:off x="6355080" y="2148840"/>
            <a:ext cx="2423160" cy="594360"/>
          </a:xfrm>
          <a:prstGeom prst="rect">
            <a:avLst/>
          </a:prstGeom>
          <a:noFill/>
          <a:ln/>
        </p:spPr>
        <p:txBody>
          <a:bodyPr wrap="square" rtlCol="0" anchor="ctr"/>
          <a:lstStyle/>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Range-check violations</a:t>
            </a:r>
            <a:endParaRPr lang="en-US" sz="1050" dirty="0"/>
          </a:p>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(&lt;0% or &gt;100%)</a:t>
            </a:r>
            <a:endParaRPr lang="en-US" sz="1050" dirty="0"/>
          </a:p>
        </p:txBody>
      </p:sp>
      <p:sp>
        <p:nvSpPr>
          <p:cNvPr id="13" name="Shape 11"/>
          <p:cNvSpPr/>
          <p:nvPr/>
        </p:nvSpPr>
        <p:spPr>
          <a:xfrm>
            <a:off x="9098280" y="1417320"/>
            <a:ext cx="2697480" cy="1417320"/>
          </a:xfrm>
          <a:prstGeom prst="roundRect">
            <a:avLst>
              <a:gd name="adj" fmla="val 5161"/>
            </a:avLst>
          </a:prstGeom>
          <a:solidFill>
            <a:srgbClr val="F6F8FA"/>
          </a:solidFill>
          <a:ln w="12700">
            <a:solidFill>
              <a:srgbClr val="E1E7EC"/>
            </a:solidFill>
            <a:prstDash val="solid"/>
          </a:ln>
        </p:spPr>
        <p:txBody>
          <a:bodyPr/>
          <a:lstStyle/>
          <a:p>
            <a:endParaRPr lang="en-KE"/>
          </a:p>
        </p:txBody>
      </p:sp>
      <p:sp>
        <p:nvSpPr>
          <p:cNvPr id="14" name="Text 12"/>
          <p:cNvSpPr/>
          <p:nvPr/>
        </p:nvSpPr>
        <p:spPr>
          <a:xfrm>
            <a:off x="9098280" y="1536192"/>
            <a:ext cx="2697480" cy="594360"/>
          </a:xfrm>
          <a:prstGeom prst="rect">
            <a:avLst/>
          </a:prstGeom>
          <a:noFill/>
          <a:ln/>
        </p:spPr>
        <p:txBody>
          <a:bodyPr wrap="square" rtlCol="0" anchor="ctr"/>
          <a:lstStyle/>
          <a:p>
            <a:pPr marL="0" indent="0" algn="ctr">
              <a:buNone/>
            </a:pPr>
            <a:r>
              <a:rPr lang="en-US" sz="3000" b="1" dirty="0">
                <a:solidFill>
                  <a:srgbClr val="C97F00"/>
                </a:solidFill>
                <a:latin typeface="Cambria" pitchFamily="34" charset="0"/>
                <a:ea typeface="Cambria" pitchFamily="34" charset="-122"/>
                <a:cs typeface="Cambria" pitchFamily="34" charset="-120"/>
              </a:rPr>
              <a:t>8.3%</a:t>
            </a:r>
            <a:endParaRPr lang="en-US" sz="3000" dirty="0"/>
          </a:p>
        </p:txBody>
      </p:sp>
      <p:sp>
        <p:nvSpPr>
          <p:cNvPr id="15" name="Text 13"/>
          <p:cNvSpPr/>
          <p:nvPr/>
        </p:nvSpPr>
        <p:spPr>
          <a:xfrm>
            <a:off x="9235440" y="2148840"/>
            <a:ext cx="2423160" cy="594360"/>
          </a:xfrm>
          <a:prstGeom prst="rect">
            <a:avLst/>
          </a:prstGeom>
          <a:noFill/>
          <a:ln/>
        </p:spPr>
        <p:txBody>
          <a:bodyPr wrap="square" rtlCol="0" anchor="ctr"/>
          <a:lstStyle/>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Missing: Internet Users</a:t>
            </a:r>
            <a:endParaRPr lang="en-US" sz="1050" dirty="0"/>
          </a:p>
          <a:p>
            <a:pPr marL="0" indent="0" algn="ctr">
              <a:lnSpc>
                <a:spcPts val="1300"/>
              </a:lnSpc>
              <a:buNone/>
            </a:pPr>
            <a:r>
              <a:rPr lang="en-US" sz="1050" dirty="0">
                <a:solidFill>
                  <a:srgbClr val="5B6B79"/>
                </a:solidFill>
                <a:latin typeface="Calibri" pitchFamily="34" charset="0"/>
                <a:ea typeface="Calibri" pitchFamily="34" charset="-122"/>
                <a:cs typeface="Calibri" pitchFamily="34" charset="-120"/>
              </a:rPr>
              <a:t>(worst indicator)</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11247120" cy="1536192"/>
        </p:xfrm>
        <a:graphic>
          <a:graphicData uri="http://schemas.openxmlformats.org/drawingml/2006/table">
            <a:tbl>
              <a:tblPr/>
              <a:tblGrid>
                <a:gridCol w="40233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rPr>
                        <a:t>Indicator</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 Missing</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 Complete</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Latest year available</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Electricity Access (%)</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Internet Users (%)</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8.3%</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91.7%</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Mobile Subscriptions (per 100)</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95.8%</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p:nvPr/>
        </p:nvSpPr>
        <p:spPr>
          <a:xfrm>
            <a:off x="457200" y="4892040"/>
            <a:ext cx="11247120" cy="1005840"/>
          </a:xfrm>
          <a:prstGeom prst="rect">
            <a:avLst/>
          </a:prstGeom>
          <a:noFill/>
          <a:ln/>
        </p:spPr>
        <p:txBody>
          <a:bodyPr wrap="square" rtlCol="0" anchor="t"/>
          <a:lstStyle/>
          <a:p>
            <a:pPr marL="0" indent="0">
              <a:lnSpc>
                <a:spcPts val="1900"/>
              </a:lnSpc>
              <a:buNone/>
            </a:pPr>
            <a:r>
              <a:rPr lang="en-US" sz="1250" b="1" dirty="0">
                <a:solidFill>
                  <a:srgbClr val="12283C"/>
                </a:solidFill>
                <a:latin typeface="Calibri" pitchFamily="34" charset="0"/>
                <a:ea typeface="Calibri" pitchFamily="34" charset="-122"/>
                <a:cs typeface="Calibri" pitchFamily="34" charset="-120"/>
              </a:rPr>
              <a:t>Outliers: </a:t>
            </a:r>
            <a:r>
              <a:rPr lang="en-US" sz="1250" dirty="0">
                <a:solidFill>
                  <a:srgbClr val="1A1A1A"/>
                </a:solidFill>
                <a:latin typeface="Calibri" pitchFamily="34" charset="0"/>
                <a:ea typeface="Calibri" pitchFamily="34" charset="-122"/>
                <a:cs typeface="Calibri" pitchFamily="34" charset="-120"/>
              </a:rPr>
              <a:t>0 flagged by 1.5×IQR on any indicator; cross-country spread reflects genuine differences, not data errors.
</a:t>
            </a:r>
            <a:r>
              <a:rPr lang="en-US" sz="1250" b="1" dirty="0">
                <a:solidFill>
                  <a:srgbClr val="12283C"/>
                </a:solidFill>
                <a:latin typeface="Calibri" pitchFamily="34" charset="0"/>
                <a:ea typeface="Calibri" pitchFamily="34" charset="-122"/>
                <a:cs typeface="Calibri" pitchFamily="34" charset="-120"/>
              </a:rPr>
              <a:t>Consistency: </a:t>
            </a:r>
            <a:r>
              <a:rPr lang="en-US" sz="1250" dirty="0">
                <a:solidFill>
                  <a:srgbClr val="1A1A1A"/>
                </a:solidFill>
                <a:latin typeface="Calibri" pitchFamily="34" charset="0"/>
                <a:ea typeface="Calibri" pitchFamily="34" charset="-122"/>
                <a:cs typeface="Calibri" pitchFamily="34" charset="-120"/>
              </a:rPr>
              <a:t>8 country-years show mobile subscriptions &gt; 100 per 100 people valid, reflecting multi-SIM ownership, not retained as an error.</a:t>
            </a:r>
            <a:endParaRPr lang="en-US" sz="1250" dirty="0"/>
          </a:p>
        </p:txBody>
      </p:sp>
      <p:sp>
        <p:nvSpPr>
          <p:cNvPr id="18" name="Text 15"/>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9" name="Text 16"/>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Cleaning &amp; Preprocessing Decisions</a:t>
            </a:r>
            <a:endParaRPr lang="en-US" sz="3000" dirty="0"/>
          </a:p>
        </p:txBody>
      </p:sp>
      <p:sp>
        <p:nvSpPr>
          <p:cNvPr id="4" name="Shape 2"/>
          <p:cNvSpPr/>
          <p:nvPr/>
        </p:nvSpPr>
        <p:spPr>
          <a:xfrm>
            <a:off x="457200" y="1417320"/>
            <a:ext cx="384048" cy="384048"/>
          </a:xfrm>
          <a:prstGeom prst="roundRect">
            <a:avLst>
              <a:gd name="adj" fmla="val 14286"/>
            </a:avLst>
          </a:prstGeom>
          <a:solidFill>
            <a:srgbClr val="1C7293"/>
          </a:solidFill>
          <a:ln/>
        </p:spPr>
        <p:txBody>
          <a:bodyPr/>
          <a:lstStyle/>
          <a:p>
            <a:endParaRPr lang="en-KE"/>
          </a:p>
        </p:txBody>
      </p:sp>
      <p:sp>
        <p:nvSpPr>
          <p:cNvPr id="5" name="Text 3"/>
          <p:cNvSpPr/>
          <p:nvPr/>
        </p:nvSpPr>
        <p:spPr>
          <a:xfrm>
            <a:off x="457200" y="141732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005840" y="1371600"/>
            <a:ext cx="2743200" cy="50292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Missing values</a:t>
            </a:r>
            <a:endParaRPr lang="en-US" sz="1450" dirty="0"/>
          </a:p>
        </p:txBody>
      </p:sp>
      <p:sp>
        <p:nvSpPr>
          <p:cNvPr id="7" name="Text 5"/>
          <p:cNvSpPr/>
          <p:nvPr/>
        </p:nvSpPr>
        <p:spPr>
          <a:xfrm>
            <a:off x="3840480" y="1344168"/>
            <a:ext cx="7863840" cy="960120"/>
          </a:xfrm>
          <a:prstGeom prst="rect">
            <a:avLst/>
          </a:prstGeom>
          <a:noFill/>
          <a:ln/>
        </p:spPr>
        <p:txBody>
          <a:bodyPr wrap="square" rtlCol="0" anchor="t"/>
          <a:lstStyle/>
          <a:p>
            <a:pPr>
              <a:lnSpc>
                <a:spcPts val="1600"/>
              </a:lnSpc>
            </a:pPr>
            <a:r>
              <a:rPr lang="en-US" sz="1200" dirty="0">
                <a:solidFill>
                  <a:srgbClr val="1A1A1A"/>
                </a:solidFill>
                <a:latin typeface="Calibri" pitchFamily="34" charset="0"/>
                <a:ea typeface="Calibri" pitchFamily="34" charset="-122"/>
                <a:cs typeface="Calibri" pitchFamily="34" charset="-120"/>
              </a:rPr>
              <a:t>Rows with nulls are dropped from the analysis; each country's latest available year is used for each indicator rather than forcing 2024. World Bank/ITU data lags by 1–2 years; inventing 2024 values would fabricate evidence. The year used is reported alongside each value.</a:t>
            </a:r>
            <a:endParaRPr lang="en-US" sz="1200" dirty="0"/>
          </a:p>
        </p:txBody>
      </p:sp>
      <p:sp>
        <p:nvSpPr>
          <p:cNvPr id="8" name="Shape 6"/>
          <p:cNvSpPr/>
          <p:nvPr/>
        </p:nvSpPr>
        <p:spPr>
          <a:xfrm>
            <a:off x="457200" y="2587752"/>
            <a:ext cx="384048" cy="384048"/>
          </a:xfrm>
          <a:prstGeom prst="roundRect">
            <a:avLst>
              <a:gd name="adj" fmla="val 14286"/>
            </a:avLst>
          </a:prstGeom>
          <a:solidFill>
            <a:srgbClr val="F4A300"/>
          </a:solidFill>
          <a:ln/>
        </p:spPr>
        <p:txBody>
          <a:bodyPr/>
          <a:lstStyle/>
          <a:p>
            <a:endParaRPr lang="en-KE"/>
          </a:p>
        </p:txBody>
      </p:sp>
      <p:sp>
        <p:nvSpPr>
          <p:cNvPr id="9" name="Text 7"/>
          <p:cNvSpPr/>
          <p:nvPr/>
        </p:nvSpPr>
        <p:spPr>
          <a:xfrm>
            <a:off x="457200" y="258775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005840" y="2542032"/>
            <a:ext cx="2743200" cy="50292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No interpolation</a:t>
            </a:r>
            <a:endParaRPr lang="en-US" sz="1450" dirty="0"/>
          </a:p>
        </p:txBody>
      </p:sp>
      <p:sp>
        <p:nvSpPr>
          <p:cNvPr id="11" name="Text 9"/>
          <p:cNvSpPr/>
          <p:nvPr/>
        </p:nvSpPr>
        <p:spPr>
          <a:xfrm>
            <a:off x="3840480" y="2514600"/>
            <a:ext cx="7863840" cy="960120"/>
          </a:xfrm>
          <a:prstGeom prst="rect">
            <a:avLst/>
          </a:prstGeom>
          <a:noFill/>
          <a:ln/>
        </p:spPr>
        <p:txBody>
          <a:bodyPr wrap="square"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Series are analysed as reported. Interior gaps are small, and interpolation would add assumptions without changing conclusions.</a:t>
            </a:r>
            <a:endParaRPr lang="en-US" sz="1200" dirty="0"/>
          </a:p>
        </p:txBody>
      </p:sp>
      <p:sp>
        <p:nvSpPr>
          <p:cNvPr id="12" name="Shape 10"/>
          <p:cNvSpPr/>
          <p:nvPr/>
        </p:nvSpPr>
        <p:spPr>
          <a:xfrm>
            <a:off x="457200" y="3758184"/>
            <a:ext cx="384048" cy="384048"/>
          </a:xfrm>
          <a:prstGeom prst="roundRect">
            <a:avLst>
              <a:gd name="adj" fmla="val 14286"/>
            </a:avLst>
          </a:prstGeom>
          <a:solidFill>
            <a:srgbClr val="1C7293"/>
          </a:solidFill>
          <a:ln/>
        </p:spPr>
        <p:txBody>
          <a:bodyPr/>
          <a:lstStyle/>
          <a:p>
            <a:endParaRPr lang="en-KE"/>
          </a:p>
        </p:txBody>
      </p:sp>
      <p:sp>
        <p:nvSpPr>
          <p:cNvPr id="13" name="Text 11"/>
          <p:cNvSpPr/>
          <p:nvPr/>
        </p:nvSpPr>
        <p:spPr>
          <a:xfrm>
            <a:off x="457200" y="3758184"/>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005840" y="3712464"/>
            <a:ext cx="2743200" cy="50292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Duplicates</a:t>
            </a:r>
            <a:endParaRPr lang="en-US" sz="1450" dirty="0"/>
          </a:p>
        </p:txBody>
      </p:sp>
      <p:sp>
        <p:nvSpPr>
          <p:cNvPr id="15" name="Text 13"/>
          <p:cNvSpPr/>
          <p:nvPr/>
        </p:nvSpPr>
        <p:spPr>
          <a:xfrm>
            <a:off x="3840480" y="3685032"/>
            <a:ext cx="7863840" cy="960120"/>
          </a:xfrm>
          <a:prstGeom prst="rect">
            <a:avLst/>
          </a:prstGeom>
          <a:noFill/>
          <a:ln/>
        </p:spPr>
        <p:txBody>
          <a:bodyPr wrap="square"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Removed on (country, year, indicator), keeping the first record. Zero duplicates were found.</a:t>
            </a:r>
            <a:endParaRPr lang="en-US" sz="1200" dirty="0"/>
          </a:p>
        </p:txBody>
      </p:sp>
      <p:sp>
        <p:nvSpPr>
          <p:cNvPr id="16" name="Shape 14"/>
          <p:cNvSpPr/>
          <p:nvPr/>
        </p:nvSpPr>
        <p:spPr>
          <a:xfrm>
            <a:off x="457200" y="4928616"/>
            <a:ext cx="384048" cy="384048"/>
          </a:xfrm>
          <a:prstGeom prst="roundRect">
            <a:avLst>
              <a:gd name="adj" fmla="val 14286"/>
            </a:avLst>
          </a:prstGeom>
          <a:solidFill>
            <a:srgbClr val="F4A300"/>
          </a:solidFill>
          <a:ln/>
        </p:spPr>
        <p:txBody>
          <a:bodyPr/>
          <a:lstStyle/>
          <a:p>
            <a:endParaRPr lang="en-KE"/>
          </a:p>
        </p:txBody>
      </p:sp>
      <p:sp>
        <p:nvSpPr>
          <p:cNvPr id="17" name="Text 15"/>
          <p:cNvSpPr/>
          <p:nvPr/>
        </p:nvSpPr>
        <p:spPr>
          <a:xfrm>
            <a:off x="457200" y="4928616"/>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005840" y="4882896"/>
            <a:ext cx="2743200" cy="50292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Range checks</a:t>
            </a:r>
            <a:endParaRPr lang="en-US" sz="1450" dirty="0"/>
          </a:p>
        </p:txBody>
      </p:sp>
      <p:sp>
        <p:nvSpPr>
          <p:cNvPr id="19" name="Text 17"/>
          <p:cNvSpPr/>
          <p:nvPr/>
        </p:nvSpPr>
        <p:spPr>
          <a:xfrm>
            <a:off x="3840480" y="4855464"/>
            <a:ext cx="7863840" cy="960120"/>
          </a:xfrm>
          <a:prstGeom prst="rect">
            <a:avLst/>
          </a:prstGeom>
          <a:noFill/>
          <a:ln/>
        </p:spPr>
        <p:txBody>
          <a:bodyPr wrap="square"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Percentage indicators clipped to [0, 100]. Mobile subscriptions are NOT capped at 100, since values above 100 per 100 people reflect real multi-SIM ownership rather than error.</a:t>
            </a:r>
            <a:endParaRPr lang="en-US" sz="1200" dirty="0"/>
          </a:p>
        </p:txBody>
      </p:sp>
      <p:sp>
        <p:nvSpPr>
          <p:cNvPr id="20" name="Text 18"/>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21" name="Text 19"/>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Q1 · GROWTH 2010–2024</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Tanzania Leads Growth in Internet Users</a:t>
            </a:r>
            <a:endParaRPr lang="en-US" sz="3000" dirty="0"/>
          </a:p>
        </p:txBody>
      </p:sp>
      <p:pic>
        <p:nvPicPr>
          <p:cNvPr id="4" name="Image 0" descr="/home/claude/pptx_build/cell27_out1.png"/>
          <p:cNvPicPr>
            <a:picLocks noChangeAspect="1"/>
          </p:cNvPicPr>
          <p:nvPr/>
        </p:nvPicPr>
        <p:blipFill>
          <a:blip r:embed="rId3"/>
          <a:stretch>
            <a:fillRect/>
          </a:stretch>
        </p:blipFill>
        <p:spPr>
          <a:xfrm>
            <a:off x="457200" y="1371600"/>
            <a:ext cx="7818120" cy="2916936"/>
          </a:xfrm>
          <a:prstGeom prst="rect">
            <a:avLst/>
          </a:prstGeom>
        </p:spPr>
      </p:pic>
      <p:sp>
        <p:nvSpPr>
          <p:cNvPr id="5" name="Shape 2"/>
          <p:cNvSpPr/>
          <p:nvPr/>
        </p:nvSpPr>
        <p:spPr>
          <a:xfrm>
            <a:off x="8458200" y="1371600"/>
            <a:ext cx="3246120" cy="1417320"/>
          </a:xfrm>
          <a:prstGeom prst="roundRect">
            <a:avLst>
              <a:gd name="adj" fmla="val 5161"/>
            </a:avLst>
          </a:prstGeom>
          <a:solidFill>
            <a:srgbClr val="12283C"/>
          </a:solidFill>
          <a:ln/>
        </p:spPr>
        <p:txBody>
          <a:bodyPr/>
          <a:lstStyle/>
          <a:p>
            <a:endParaRPr lang="en-KE"/>
          </a:p>
        </p:txBody>
      </p:sp>
      <p:sp>
        <p:nvSpPr>
          <p:cNvPr id="6" name="Text 3"/>
          <p:cNvSpPr/>
          <p:nvPr/>
        </p:nvSpPr>
        <p:spPr>
          <a:xfrm>
            <a:off x="8458200" y="1481328"/>
            <a:ext cx="3246120" cy="594360"/>
          </a:xfrm>
          <a:prstGeom prst="rect">
            <a:avLst/>
          </a:prstGeom>
          <a:noFill/>
          <a:ln/>
        </p:spPr>
        <p:txBody>
          <a:bodyPr wrap="square" rtlCol="0" anchor="ctr"/>
          <a:lstStyle/>
          <a:p>
            <a:pPr marL="0" indent="0" algn="ctr">
              <a:buNone/>
            </a:pPr>
            <a:r>
              <a:rPr lang="en-US" sz="2600" b="1" dirty="0">
                <a:solidFill>
                  <a:srgbClr val="F4A300"/>
                </a:solidFill>
                <a:latin typeface="Cambria" pitchFamily="34" charset="0"/>
                <a:ea typeface="Cambria" pitchFamily="34" charset="-122"/>
                <a:cs typeface="Cambria" pitchFamily="34" charset="-120"/>
              </a:rPr>
              <a:t>+28.3 pp</a:t>
            </a:r>
            <a:endParaRPr lang="en-US" sz="2600" dirty="0"/>
          </a:p>
        </p:txBody>
      </p:sp>
      <p:sp>
        <p:nvSpPr>
          <p:cNvPr id="7" name="Text 4"/>
          <p:cNvSpPr/>
          <p:nvPr/>
        </p:nvSpPr>
        <p:spPr>
          <a:xfrm>
            <a:off x="8595360" y="2084832"/>
            <a:ext cx="2971800" cy="640080"/>
          </a:xfrm>
          <a:prstGeom prst="rect">
            <a:avLst/>
          </a:prstGeom>
          <a:noFill/>
          <a:ln/>
        </p:spPr>
        <p:txBody>
          <a:bodyPr wrap="square" rtlCol="0" anchor="ctr"/>
          <a:lstStyle/>
          <a:p>
            <a:pPr marL="0" indent="0" algn="ctr">
              <a:lnSpc>
                <a:spcPts val="1400"/>
              </a:lnSpc>
              <a:buNone/>
            </a:pPr>
            <a:r>
              <a:rPr lang="en-US" sz="1150" dirty="0">
                <a:solidFill>
                  <a:srgbClr val="CADCE0"/>
                </a:solidFill>
                <a:latin typeface="Calibri" pitchFamily="34" charset="0"/>
                <a:ea typeface="Calibri" pitchFamily="34" charset="-122"/>
                <a:cs typeface="Calibri" pitchFamily="34" charset="-120"/>
              </a:rPr>
              <a:t>Tanzania has largest absolute</a:t>
            </a:r>
            <a:endParaRPr lang="en-US" sz="1150" dirty="0"/>
          </a:p>
          <a:p>
            <a:pPr marL="0" indent="0" algn="ctr">
              <a:lnSpc>
                <a:spcPts val="1400"/>
              </a:lnSpc>
              <a:buNone/>
            </a:pPr>
            <a:r>
              <a:rPr lang="en-US" sz="1150" dirty="0">
                <a:solidFill>
                  <a:srgbClr val="CADCE0"/>
                </a:solidFill>
                <a:latin typeface="Calibri" pitchFamily="34" charset="0"/>
                <a:ea typeface="Calibri" pitchFamily="34" charset="-122"/>
                <a:cs typeface="Calibri" pitchFamily="34" charset="-120"/>
              </a:rPr>
              <a:t>growth, 2010 → 2024</a:t>
            </a:r>
            <a:endParaRPr lang="en-US" sz="1150" dirty="0"/>
          </a:p>
        </p:txBody>
      </p:sp>
      <p:sp>
        <p:nvSpPr>
          <p:cNvPr id="8" name="Shape 5"/>
          <p:cNvSpPr/>
          <p:nvPr/>
        </p:nvSpPr>
        <p:spPr>
          <a:xfrm>
            <a:off x="8458200" y="2926080"/>
            <a:ext cx="3246120" cy="1362456"/>
          </a:xfrm>
          <a:prstGeom prst="roundRect">
            <a:avLst>
              <a:gd name="adj" fmla="val 5369"/>
            </a:avLst>
          </a:prstGeom>
          <a:solidFill>
            <a:srgbClr val="E5EEF1"/>
          </a:solidFill>
          <a:ln/>
        </p:spPr>
        <p:txBody>
          <a:bodyPr/>
          <a:lstStyle/>
          <a:p>
            <a:endParaRPr lang="en-KE"/>
          </a:p>
        </p:txBody>
      </p:sp>
      <p:sp>
        <p:nvSpPr>
          <p:cNvPr id="9" name="Text 6"/>
          <p:cNvSpPr/>
          <p:nvPr/>
        </p:nvSpPr>
        <p:spPr>
          <a:xfrm>
            <a:off x="8595360" y="3063240"/>
            <a:ext cx="2971800" cy="320040"/>
          </a:xfrm>
          <a:prstGeom prst="rect">
            <a:avLst/>
          </a:prstGeom>
          <a:noFill/>
          <a:ln/>
        </p:spPr>
        <p:txBody>
          <a:bodyPr wrap="square" rtlCol="0" anchor="ctr"/>
          <a:lstStyle/>
          <a:p>
            <a:pPr marL="0" indent="0">
              <a:buNone/>
            </a:pPr>
            <a:r>
              <a:rPr lang="en-US" sz="1300" b="1" dirty="0">
                <a:solidFill>
                  <a:srgbClr val="12283C"/>
                </a:solidFill>
                <a:latin typeface="Calibri" pitchFamily="34" charset="0"/>
                <a:ea typeface="Calibri" pitchFamily="34" charset="-122"/>
                <a:cs typeface="Calibri" pitchFamily="34" charset="-120"/>
              </a:rPr>
              <a:t>Kenya: +27.8 pp</a:t>
            </a:r>
            <a:endParaRPr lang="en-US" sz="1300" dirty="0"/>
          </a:p>
        </p:txBody>
      </p:sp>
      <p:sp>
        <p:nvSpPr>
          <p:cNvPr id="10" name="Text 7"/>
          <p:cNvSpPr/>
          <p:nvPr/>
        </p:nvSpPr>
        <p:spPr>
          <a:xfrm>
            <a:off x="8595360" y="3429000"/>
            <a:ext cx="2971800" cy="274320"/>
          </a:xfrm>
          <a:prstGeom prst="rect">
            <a:avLst/>
          </a:prstGeom>
          <a:noFill/>
          <a:ln/>
        </p:spPr>
        <p:txBody>
          <a:bodyPr wrap="square" rtlCol="0" anchor="ctr"/>
          <a:lstStyle/>
          <a:p>
            <a:pPr marL="0" indent="0">
              <a:buNone/>
            </a:pPr>
            <a:r>
              <a:rPr lang="en-US" sz="1050" dirty="0">
                <a:solidFill>
                  <a:srgbClr val="1A1A1A"/>
                </a:solidFill>
                <a:latin typeface="Calibri" pitchFamily="34" charset="0"/>
                <a:ea typeface="Calibri" pitchFamily="34" charset="-122"/>
                <a:cs typeface="Calibri" pitchFamily="34" charset="-120"/>
              </a:rPr>
              <a:t>Rwanda: +23.7 pp   |   Ethiopia: +21.2 pp</a:t>
            </a:r>
            <a:endParaRPr lang="en-US" sz="1050" dirty="0"/>
          </a:p>
        </p:txBody>
      </p:sp>
      <p:sp>
        <p:nvSpPr>
          <p:cNvPr id="11" name="Text 8"/>
          <p:cNvSpPr/>
          <p:nvPr/>
        </p:nvSpPr>
        <p:spPr>
          <a:xfrm>
            <a:off x="8595360" y="3749040"/>
            <a:ext cx="2971800" cy="502920"/>
          </a:xfrm>
          <a:prstGeom prst="rect">
            <a:avLst/>
          </a:prstGeom>
          <a:noFill/>
          <a:ln/>
        </p:spPr>
        <p:txBody>
          <a:bodyPr wrap="square" rtlCol="0" anchor="ctr"/>
          <a:lstStyle/>
          <a:p>
            <a:pPr marL="0" indent="0">
              <a:lnSpc>
                <a:spcPts val="1200"/>
              </a:lnSpc>
              <a:buNone/>
            </a:pPr>
            <a:r>
              <a:rPr lang="en-US" sz="950" i="1" dirty="0">
                <a:solidFill>
                  <a:srgbClr val="5B6B79"/>
                </a:solidFill>
                <a:latin typeface="Calibri" pitchFamily="34" charset="0"/>
                <a:ea typeface="Calibri" pitchFamily="34" charset="-122"/>
                <a:cs typeface="Calibri" pitchFamily="34" charset="-120"/>
              </a:rPr>
              <a:t>Somalia &amp; South Sudan lack a</a:t>
            </a:r>
            <a:endParaRPr lang="en-US" sz="950" dirty="0"/>
          </a:p>
          <a:p>
            <a:pPr marL="0" indent="0">
              <a:lnSpc>
                <a:spcPts val="1200"/>
              </a:lnSpc>
              <a:buNone/>
            </a:pPr>
            <a:r>
              <a:rPr lang="en-US" sz="950" i="1" dirty="0">
                <a:solidFill>
                  <a:srgbClr val="5B6B79"/>
                </a:solidFill>
                <a:latin typeface="Calibri" pitchFamily="34" charset="0"/>
                <a:ea typeface="Calibri" pitchFamily="34" charset="-122"/>
                <a:cs typeface="Calibri" pitchFamily="34" charset="-120"/>
              </a:rPr>
              <a:t>complete 2010 baseline for direct</a:t>
            </a:r>
            <a:endParaRPr lang="en-US" sz="950" dirty="0"/>
          </a:p>
          <a:p>
            <a:pPr marL="0" indent="0">
              <a:lnSpc>
                <a:spcPts val="1200"/>
              </a:lnSpc>
              <a:buNone/>
            </a:pPr>
            <a:r>
              <a:rPr lang="en-US" sz="950" i="1" dirty="0">
                <a:solidFill>
                  <a:srgbClr val="5B6B79"/>
                </a:solidFill>
                <a:latin typeface="Calibri" pitchFamily="34" charset="0"/>
                <a:ea typeface="Calibri" pitchFamily="34" charset="-122"/>
                <a:cs typeface="Calibri" pitchFamily="34" charset="-120"/>
              </a:rPr>
              <a:t>comparison.</a:t>
            </a:r>
            <a:endParaRPr lang="en-US" sz="950" dirty="0"/>
          </a:p>
        </p:txBody>
      </p:sp>
      <p:sp>
        <p:nvSpPr>
          <p:cNvPr id="12" name="Text 9"/>
          <p:cNvSpPr/>
          <p:nvPr/>
        </p:nvSpPr>
        <p:spPr>
          <a:xfrm>
            <a:off x="457200" y="4434840"/>
            <a:ext cx="11247120" cy="502920"/>
          </a:xfrm>
          <a:prstGeom prst="rect">
            <a:avLst/>
          </a:prstGeom>
          <a:noFill/>
          <a:ln/>
        </p:spPr>
        <p:txBody>
          <a:bodyPr wrap="square" rtlCol="0" anchor="ctr"/>
          <a:lstStyle/>
          <a:p>
            <a:pPr marL="0" indent="0">
              <a:lnSpc>
                <a:spcPts val="1500"/>
              </a:lnSpc>
              <a:buNone/>
            </a:pPr>
            <a:r>
              <a:rPr lang="en-US" sz="1150" b="1" i="1" dirty="0">
                <a:solidFill>
                  <a:srgbClr val="12283C"/>
                </a:solidFill>
                <a:latin typeface="Calibri" pitchFamily="34" charset="0"/>
                <a:ea typeface="Calibri" pitchFamily="34" charset="-122"/>
                <a:cs typeface="Calibri" pitchFamily="34" charset="-120"/>
              </a:rPr>
              <a:t>Why this chart: </a:t>
            </a:r>
            <a:r>
              <a:rPr lang="en-US" sz="1150" i="1" dirty="0">
                <a:solidFill>
                  <a:srgbClr val="5B6B79"/>
                </a:solidFill>
                <a:latin typeface="Calibri" pitchFamily="34" charset="0"/>
                <a:ea typeface="Calibri" pitchFamily="34" charset="-122"/>
                <a:cs typeface="Calibri" pitchFamily="34" charset="-120"/>
              </a:rPr>
              <a:t>a sorted bar chart answers a ranking question at a glance; the paired line chart shows the shape of change over time: steady growth for leaders vs. flat trajectories for laggards.</a:t>
            </a:r>
            <a:endParaRPr lang="en-US" sz="1150" dirty="0"/>
          </a:p>
        </p:txBody>
      </p:sp>
      <p:sp>
        <p:nvSpPr>
          <p:cNvPr id="13" name="Shape 10"/>
          <p:cNvSpPr/>
          <p:nvPr/>
        </p:nvSpPr>
        <p:spPr>
          <a:xfrm>
            <a:off x="457200" y="5074920"/>
            <a:ext cx="11247120" cy="960120"/>
          </a:xfrm>
          <a:prstGeom prst="roundRect">
            <a:avLst>
              <a:gd name="adj" fmla="val 7619"/>
            </a:avLst>
          </a:prstGeom>
          <a:solidFill>
            <a:srgbClr val="F6F8FA"/>
          </a:solidFill>
          <a:ln w="12700">
            <a:solidFill>
              <a:srgbClr val="E1E7EC"/>
            </a:solidFill>
            <a:prstDash val="solid"/>
          </a:ln>
        </p:spPr>
        <p:txBody>
          <a:bodyPr/>
          <a:lstStyle/>
          <a:p>
            <a:endParaRPr lang="en-KE"/>
          </a:p>
        </p:txBody>
      </p:sp>
      <p:sp>
        <p:nvSpPr>
          <p:cNvPr id="14" name="Text 11"/>
          <p:cNvSpPr/>
          <p:nvPr/>
        </p:nvSpPr>
        <p:spPr>
          <a:xfrm>
            <a:off x="685800" y="5212080"/>
            <a:ext cx="10789920" cy="685800"/>
          </a:xfrm>
          <a:prstGeom prst="rect">
            <a:avLst/>
          </a:prstGeom>
          <a:noFill/>
          <a:ln/>
        </p:spPr>
        <p:txBody>
          <a:bodyPr wrap="square" rtlCol="0" anchor="t"/>
          <a:lstStyle/>
          <a:p>
            <a:pPr marL="0" indent="0">
              <a:lnSpc>
                <a:spcPts val="1600"/>
              </a:lnSpc>
              <a:buNone/>
            </a:pPr>
            <a:r>
              <a:rPr lang="en-US" sz="1200" b="1" dirty="0">
                <a:solidFill>
                  <a:srgbClr val="12283C"/>
                </a:solidFill>
                <a:latin typeface="Calibri" pitchFamily="34" charset="0"/>
                <a:ea typeface="Calibri" pitchFamily="34" charset="-122"/>
                <a:cs typeface="Calibri" pitchFamily="34" charset="-120"/>
              </a:rPr>
              <a:t>Statistical technique — Trend Analysis (CAGR): </a:t>
            </a:r>
            <a:r>
              <a:rPr lang="en-US" sz="1200" dirty="0">
                <a:solidFill>
                  <a:srgbClr val="1A1A1A"/>
                </a:solidFill>
                <a:latin typeface="Calibri" pitchFamily="34" charset="0"/>
                <a:ea typeface="Calibri" pitchFamily="34" charset="-122"/>
                <a:cs typeface="Calibri" pitchFamily="34" charset="-120"/>
              </a:rPr>
              <a:t>Tanzania shows the highest absolute growth (28.3 pp, CAGR 18.5%), while Ethiopia, starting from a near-zero base of 0.8% in 2010, shows the highest relative growth (CAGR 27.3%), reaching 21.9% by 2024.</a:t>
            </a:r>
            <a:endParaRPr lang="en-US" sz="1200" dirty="0"/>
          </a:p>
        </p:txBody>
      </p:sp>
      <p:sp>
        <p:nvSpPr>
          <p:cNvPr id="15" name="Text 12"/>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6" name="Text 13"/>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Q2 · PENETRATION COMPARISON</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Mobile Reach Far Outpaces Internet Use — Everywhere</a:t>
            </a:r>
            <a:endParaRPr lang="en-US" sz="3000" dirty="0"/>
          </a:p>
        </p:txBody>
      </p:sp>
      <p:pic>
        <p:nvPicPr>
          <p:cNvPr id="4" name="Image 0" descr="/home/claude/pptx_build/cell31_out1.png"/>
          <p:cNvPicPr>
            <a:picLocks noChangeAspect="1"/>
          </p:cNvPicPr>
          <p:nvPr/>
        </p:nvPicPr>
        <p:blipFill>
          <a:blip r:embed="rId3"/>
          <a:stretch>
            <a:fillRect/>
          </a:stretch>
        </p:blipFill>
        <p:spPr>
          <a:xfrm>
            <a:off x="685800" y="1417320"/>
            <a:ext cx="7315200" cy="3685032"/>
          </a:xfrm>
          <a:prstGeom prst="rect">
            <a:avLst/>
          </a:prstGeom>
        </p:spPr>
      </p:pic>
      <p:sp>
        <p:nvSpPr>
          <p:cNvPr id="5" name="Shape 2"/>
          <p:cNvSpPr/>
          <p:nvPr/>
        </p:nvSpPr>
        <p:spPr>
          <a:xfrm>
            <a:off x="8275320" y="1417320"/>
            <a:ext cx="3429000" cy="3685032"/>
          </a:xfrm>
          <a:prstGeom prst="roundRect">
            <a:avLst>
              <a:gd name="adj" fmla="val 2133"/>
            </a:avLst>
          </a:prstGeom>
          <a:solidFill>
            <a:srgbClr val="F6F8FA"/>
          </a:solidFill>
          <a:ln w="12700">
            <a:solidFill>
              <a:srgbClr val="E1E7EC"/>
            </a:solidFill>
            <a:prstDash val="solid"/>
          </a:ln>
        </p:spPr>
        <p:txBody>
          <a:bodyPr/>
          <a:lstStyle/>
          <a:p>
            <a:endParaRPr lang="en-KE"/>
          </a:p>
        </p:txBody>
      </p:sp>
      <p:sp>
        <p:nvSpPr>
          <p:cNvPr id="6" name="Text 3"/>
          <p:cNvSpPr/>
          <p:nvPr/>
        </p:nvSpPr>
        <p:spPr>
          <a:xfrm>
            <a:off x="8503920" y="1600200"/>
            <a:ext cx="3017520" cy="274320"/>
          </a:xfrm>
          <a:prstGeom prst="rect">
            <a:avLst/>
          </a:prstGeom>
          <a:noFill/>
          <a:ln/>
        </p:spPr>
        <p:txBody>
          <a:bodyPr wrap="square"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KEY PATTERN</a:t>
            </a:r>
            <a:endParaRPr lang="en-US" sz="1100" dirty="0"/>
          </a:p>
        </p:txBody>
      </p:sp>
      <p:sp>
        <p:nvSpPr>
          <p:cNvPr id="7" name="Text 4"/>
          <p:cNvSpPr/>
          <p:nvPr/>
        </p:nvSpPr>
        <p:spPr>
          <a:xfrm>
            <a:off x="8503920" y="1920240"/>
            <a:ext cx="3017520" cy="1554480"/>
          </a:xfrm>
          <a:prstGeom prst="rect">
            <a:avLst/>
          </a:prstGeom>
          <a:noFill/>
          <a:ln/>
        </p:spPr>
        <p:txBody>
          <a:bodyPr wrap="square" rtlCol="0" anchor="ctr"/>
          <a:lstStyle/>
          <a:p>
            <a:pPr marL="0" indent="0">
              <a:lnSpc>
                <a:spcPts val="1700"/>
              </a:lnSpc>
              <a:buNone/>
            </a:pPr>
            <a:r>
              <a:rPr lang="en-US" sz="1200" dirty="0">
                <a:solidFill>
                  <a:srgbClr val="1A1A1A"/>
                </a:solidFill>
                <a:latin typeface="Calibri" pitchFamily="34" charset="0"/>
                <a:ea typeface="Calibri" pitchFamily="34" charset="-122"/>
                <a:cs typeface="Calibri" pitchFamily="34" charset="-120"/>
              </a:rPr>
              <a:t>In every one of the 8 countries, mobile phone subscriptions exceed internet users(%) by a wide margin. Kenya and Tanzania both post ~126 mobile subscriptions per 100 people, yet internet use sits at 35% and 31%, respectively.</a:t>
            </a:r>
            <a:endParaRPr lang="en-US" sz="1200" dirty="0"/>
          </a:p>
        </p:txBody>
      </p:sp>
      <p:sp>
        <p:nvSpPr>
          <p:cNvPr id="8" name="Shape 5"/>
          <p:cNvSpPr/>
          <p:nvPr/>
        </p:nvSpPr>
        <p:spPr>
          <a:xfrm>
            <a:off x="8503920" y="3611880"/>
            <a:ext cx="3017520" cy="0"/>
          </a:xfrm>
          <a:prstGeom prst="line">
            <a:avLst/>
          </a:prstGeom>
          <a:noFill/>
          <a:ln w="12700">
            <a:solidFill>
              <a:srgbClr val="D8E0E6"/>
            </a:solidFill>
            <a:prstDash val="solid"/>
          </a:ln>
        </p:spPr>
        <p:txBody>
          <a:bodyPr/>
          <a:lstStyle/>
          <a:p>
            <a:endParaRPr lang="en-KE"/>
          </a:p>
        </p:txBody>
      </p:sp>
      <p:sp>
        <p:nvSpPr>
          <p:cNvPr id="9" name="Text 6"/>
          <p:cNvSpPr/>
          <p:nvPr/>
        </p:nvSpPr>
        <p:spPr>
          <a:xfrm>
            <a:off x="8503920" y="3794760"/>
            <a:ext cx="3017520" cy="1188720"/>
          </a:xfrm>
          <a:prstGeom prst="rect">
            <a:avLst/>
          </a:prstGeom>
          <a:noFill/>
          <a:ln/>
        </p:spPr>
        <p:txBody>
          <a:bodyPr wrap="square" rtlCol="0" anchor="ctr"/>
          <a:lstStyle/>
          <a:p>
            <a:pPr marL="0" indent="0">
              <a:lnSpc>
                <a:spcPts val="1600"/>
              </a:lnSpc>
              <a:buNone/>
            </a:pPr>
            <a:r>
              <a:rPr lang="en-US" sz="1150" i="1" dirty="0">
                <a:solidFill>
                  <a:srgbClr val="5B6B79"/>
                </a:solidFill>
                <a:latin typeface="Calibri" pitchFamily="34" charset="0"/>
                <a:ea typeface="Calibri" pitchFamily="34" charset="-122"/>
                <a:cs typeface="Calibri" pitchFamily="34" charset="-120"/>
              </a:rPr>
              <a:t>Networks already reach far more people than actively use the internet; the binding constraint is on the demand side (affordability, devices, digital skills), not network coverage.</a:t>
            </a:r>
            <a:endParaRPr lang="en-US" sz="1150" dirty="0"/>
          </a:p>
        </p:txBody>
      </p:sp>
      <p:sp>
        <p:nvSpPr>
          <p:cNvPr id="10" name="Text 7"/>
          <p:cNvSpPr/>
          <p:nvPr/>
        </p:nvSpPr>
        <p:spPr>
          <a:xfrm>
            <a:off x="457200" y="5257800"/>
            <a:ext cx="11247120" cy="502920"/>
          </a:xfrm>
          <a:prstGeom prst="rect">
            <a:avLst/>
          </a:prstGeom>
          <a:noFill/>
          <a:ln/>
        </p:spPr>
        <p:txBody>
          <a:bodyPr wrap="square" rtlCol="0" anchor="ctr"/>
          <a:lstStyle/>
          <a:p>
            <a:pPr marL="0" indent="0">
              <a:lnSpc>
                <a:spcPts val="1500"/>
              </a:lnSpc>
              <a:buNone/>
            </a:pPr>
            <a:r>
              <a:rPr lang="en-US" sz="1150" b="1" i="1" dirty="0">
                <a:solidFill>
                  <a:srgbClr val="12283C"/>
                </a:solidFill>
                <a:latin typeface="Calibri" pitchFamily="34" charset="0"/>
                <a:ea typeface="Calibri" pitchFamily="34" charset="-122"/>
                <a:cs typeface="Calibri" pitchFamily="34" charset="-120"/>
              </a:rPr>
              <a:t>Why this chart: </a:t>
            </a:r>
            <a:r>
              <a:rPr lang="en-US" sz="1150" i="1" dirty="0">
                <a:solidFill>
                  <a:srgbClr val="5B6B79"/>
                </a:solidFill>
                <a:latin typeface="Calibri" pitchFamily="34" charset="0"/>
                <a:ea typeface="Calibri" pitchFamily="34" charset="-122"/>
                <a:cs typeface="Calibri" pitchFamily="34" charset="-120"/>
              </a:rPr>
              <a:t>grouped bars compare two related, same-scale measures (per 100 population) side by side per country; consistent colours and a shared axis make the comparison direct.</a:t>
            </a:r>
            <a:endParaRPr lang="en-US" sz="1150" dirty="0"/>
          </a:p>
        </p:txBody>
      </p:sp>
      <p:sp>
        <p:nvSpPr>
          <p:cNvPr id="11" name="Text 8"/>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2" name="Text 9"/>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Q3 · ELECTRICITY &amp; CONNECTIVITY</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Electricity Access Is a Strong Predictor of Internet Use</a:t>
            </a:r>
            <a:endParaRPr lang="en-US" sz="3000" dirty="0"/>
          </a:p>
        </p:txBody>
      </p:sp>
      <p:pic>
        <p:nvPicPr>
          <p:cNvPr id="4" name="Image 0" descr="/home/claude/pptx_build/cell35_out1.png"/>
          <p:cNvPicPr>
            <a:picLocks noChangeAspect="1"/>
          </p:cNvPicPr>
          <p:nvPr/>
        </p:nvPicPr>
        <p:blipFill>
          <a:blip r:embed="rId3"/>
          <a:stretch>
            <a:fillRect/>
          </a:stretch>
        </p:blipFill>
        <p:spPr>
          <a:xfrm>
            <a:off x="457200" y="1371600"/>
            <a:ext cx="9509760" cy="3675888"/>
          </a:xfrm>
          <a:prstGeom prst="rect">
            <a:avLst/>
          </a:prstGeom>
        </p:spPr>
      </p:pic>
      <p:sp>
        <p:nvSpPr>
          <p:cNvPr id="5" name="Shape 2"/>
          <p:cNvSpPr/>
          <p:nvPr/>
        </p:nvSpPr>
        <p:spPr>
          <a:xfrm>
            <a:off x="10104120" y="1371600"/>
            <a:ext cx="1627632" cy="3675888"/>
          </a:xfrm>
          <a:prstGeom prst="roundRect">
            <a:avLst>
              <a:gd name="adj" fmla="val 4494"/>
            </a:avLst>
          </a:prstGeom>
          <a:solidFill>
            <a:srgbClr val="12283C"/>
          </a:solidFill>
          <a:ln/>
        </p:spPr>
        <p:txBody>
          <a:bodyPr/>
          <a:lstStyle/>
          <a:p>
            <a:endParaRPr lang="en-KE"/>
          </a:p>
        </p:txBody>
      </p:sp>
      <p:sp>
        <p:nvSpPr>
          <p:cNvPr id="6" name="Text 3"/>
          <p:cNvSpPr/>
          <p:nvPr/>
        </p:nvSpPr>
        <p:spPr>
          <a:xfrm>
            <a:off x="10149840" y="1600200"/>
            <a:ext cx="1536192" cy="502920"/>
          </a:xfrm>
          <a:prstGeom prst="rect">
            <a:avLst/>
          </a:prstGeom>
          <a:noFill/>
          <a:ln/>
        </p:spPr>
        <p:txBody>
          <a:bodyPr wrap="square" rtlCol="0" anchor="ctr"/>
          <a:lstStyle/>
          <a:p>
            <a:pPr marL="0" indent="0" algn="ctr">
              <a:buNone/>
            </a:pPr>
            <a:r>
              <a:rPr lang="en-US" sz="1700" b="1" dirty="0">
                <a:solidFill>
                  <a:srgbClr val="F4A300"/>
                </a:solidFill>
                <a:latin typeface="Cambria" pitchFamily="34" charset="0"/>
                <a:ea typeface="Cambria" pitchFamily="34" charset="-122"/>
                <a:cs typeface="Cambria" pitchFamily="34" charset="-120"/>
              </a:rPr>
              <a:t>r = 0.744</a:t>
            </a:r>
            <a:endParaRPr lang="en-US" sz="1700" dirty="0"/>
          </a:p>
        </p:txBody>
      </p:sp>
      <p:sp>
        <p:nvSpPr>
          <p:cNvPr id="7" name="Text 4"/>
          <p:cNvSpPr/>
          <p:nvPr/>
        </p:nvSpPr>
        <p:spPr>
          <a:xfrm>
            <a:off x="10168128" y="2103120"/>
            <a:ext cx="1499616" cy="777240"/>
          </a:xfrm>
          <a:prstGeom prst="rect">
            <a:avLst/>
          </a:prstGeom>
          <a:noFill/>
          <a:ln/>
        </p:spPr>
        <p:txBody>
          <a:bodyPr wrap="square" rtlCol="0" anchor="ctr"/>
          <a:lstStyle/>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Pooled panel</a:t>
            </a:r>
            <a:endParaRPr lang="en-US" sz="900" dirty="0"/>
          </a:p>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Pearson r</a:t>
            </a:r>
            <a:endParaRPr lang="en-US" sz="900" dirty="0"/>
          </a:p>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(n=110, p&lt;0.001)</a:t>
            </a:r>
            <a:endParaRPr lang="en-US" sz="900" dirty="0"/>
          </a:p>
        </p:txBody>
      </p:sp>
      <p:sp>
        <p:nvSpPr>
          <p:cNvPr id="8" name="Shape 5"/>
          <p:cNvSpPr/>
          <p:nvPr/>
        </p:nvSpPr>
        <p:spPr>
          <a:xfrm>
            <a:off x="10287000" y="2971800"/>
            <a:ext cx="1280160" cy="0"/>
          </a:xfrm>
          <a:prstGeom prst="line">
            <a:avLst/>
          </a:prstGeom>
          <a:noFill/>
          <a:ln w="12700">
            <a:solidFill>
              <a:srgbClr val="3C566A"/>
            </a:solidFill>
            <a:prstDash val="solid"/>
          </a:ln>
        </p:spPr>
        <p:txBody>
          <a:bodyPr/>
          <a:lstStyle/>
          <a:p>
            <a:endParaRPr lang="en-KE"/>
          </a:p>
        </p:txBody>
      </p:sp>
      <p:sp>
        <p:nvSpPr>
          <p:cNvPr id="9" name="Text 6"/>
          <p:cNvSpPr/>
          <p:nvPr/>
        </p:nvSpPr>
        <p:spPr>
          <a:xfrm>
            <a:off x="10149840" y="3063240"/>
            <a:ext cx="1536192"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ρ = 0.683</a:t>
            </a:r>
            <a:endParaRPr lang="en-US" sz="1400" dirty="0"/>
          </a:p>
        </p:txBody>
      </p:sp>
      <p:sp>
        <p:nvSpPr>
          <p:cNvPr id="10" name="Text 7"/>
          <p:cNvSpPr/>
          <p:nvPr/>
        </p:nvSpPr>
        <p:spPr>
          <a:xfrm>
            <a:off x="10168128" y="3429000"/>
            <a:ext cx="1499616" cy="502920"/>
          </a:xfrm>
          <a:prstGeom prst="rect">
            <a:avLst/>
          </a:prstGeom>
          <a:noFill/>
          <a:ln/>
        </p:spPr>
        <p:txBody>
          <a:bodyPr wrap="square" rtlCol="0" anchor="ctr"/>
          <a:lstStyle/>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Spearman rank</a:t>
            </a:r>
            <a:endParaRPr lang="en-US" sz="900" dirty="0"/>
          </a:p>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(p&lt;0.001)</a:t>
            </a:r>
            <a:endParaRPr lang="en-US" sz="900" dirty="0"/>
          </a:p>
        </p:txBody>
      </p:sp>
      <p:sp>
        <p:nvSpPr>
          <p:cNvPr id="11" name="Shape 8"/>
          <p:cNvSpPr/>
          <p:nvPr/>
        </p:nvSpPr>
        <p:spPr>
          <a:xfrm>
            <a:off x="10287000" y="4023360"/>
            <a:ext cx="1280160" cy="0"/>
          </a:xfrm>
          <a:prstGeom prst="line">
            <a:avLst/>
          </a:prstGeom>
          <a:noFill/>
          <a:ln w="12700">
            <a:solidFill>
              <a:srgbClr val="3C566A"/>
            </a:solidFill>
            <a:prstDash val="solid"/>
          </a:ln>
        </p:spPr>
        <p:txBody>
          <a:bodyPr/>
          <a:lstStyle/>
          <a:p>
            <a:endParaRPr lang="en-KE"/>
          </a:p>
        </p:txBody>
      </p:sp>
      <p:sp>
        <p:nvSpPr>
          <p:cNvPr id="12" name="Text 9"/>
          <p:cNvSpPr/>
          <p:nvPr/>
        </p:nvSpPr>
        <p:spPr>
          <a:xfrm>
            <a:off x="10149840" y="4114800"/>
            <a:ext cx="1536192"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 = 0.739</a:t>
            </a:r>
            <a:endParaRPr lang="en-US" sz="1400" dirty="0"/>
          </a:p>
        </p:txBody>
      </p:sp>
      <p:sp>
        <p:nvSpPr>
          <p:cNvPr id="13" name="Text 10"/>
          <p:cNvSpPr/>
          <p:nvPr/>
        </p:nvSpPr>
        <p:spPr>
          <a:xfrm>
            <a:off x="10168128" y="4480560"/>
            <a:ext cx="1499616" cy="457200"/>
          </a:xfrm>
          <a:prstGeom prst="rect">
            <a:avLst/>
          </a:prstGeom>
          <a:noFill/>
          <a:ln/>
        </p:spPr>
        <p:txBody>
          <a:bodyPr wrap="square" rtlCol="0" anchor="ctr"/>
          <a:lstStyle/>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Latest-year</a:t>
            </a:r>
            <a:endParaRPr lang="en-US" sz="900" dirty="0"/>
          </a:p>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cross-section (n=7)</a:t>
            </a:r>
            <a:endParaRPr lang="en-US" sz="900" dirty="0"/>
          </a:p>
        </p:txBody>
      </p:sp>
      <p:sp>
        <p:nvSpPr>
          <p:cNvPr id="14" name="Text 11"/>
          <p:cNvSpPr/>
          <p:nvPr/>
        </p:nvSpPr>
        <p:spPr>
          <a:xfrm>
            <a:off x="457200" y="5166360"/>
            <a:ext cx="11247120" cy="594360"/>
          </a:xfrm>
          <a:prstGeom prst="rect">
            <a:avLst/>
          </a:prstGeom>
          <a:noFill/>
          <a:ln/>
        </p:spPr>
        <p:txBody>
          <a:bodyPr wrap="square" rtlCol="0" anchor="ctr"/>
          <a:lstStyle/>
          <a:p>
            <a:pPr marL="0" indent="0">
              <a:lnSpc>
                <a:spcPts val="1500"/>
              </a:lnSpc>
              <a:buNone/>
            </a:pPr>
            <a:r>
              <a:rPr lang="en-US" sz="1150" b="1" i="1" dirty="0">
                <a:solidFill>
                  <a:srgbClr val="12283C"/>
                </a:solidFill>
                <a:latin typeface="Calibri" pitchFamily="34" charset="0"/>
                <a:ea typeface="Calibri" pitchFamily="34" charset="-122"/>
                <a:cs typeface="Calibri" pitchFamily="34" charset="-120"/>
              </a:rPr>
              <a:t>Why these charts: </a:t>
            </a:r>
            <a:r>
              <a:rPr lang="en-US" sz="1150" i="1" dirty="0">
                <a:solidFill>
                  <a:srgbClr val="5B6B79"/>
                </a:solidFill>
                <a:latin typeface="Calibri" pitchFamily="34" charset="0"/>
                <a:ea typeface="Calibri" pitchFamily="34" charset="-122"/>
                <a:cs typeface="Calibri" pitchFamily="34" charset="-120"/>
              </a:rPr>
              <a:t>the scatter plot shows the relationship between two continuous variables with a fitted regression line; the heatmap encodes strength and direction across all three indicators at once, showing mobile subscriptions also correlate strongly with both.</a:t>
            </a:r>
            <a:endParaRPr lang="en-US" sz="1150" dirty="0"/>
          </a:p>
        </p:txBody>
      </p:sp>
      <p:sp>
        <p:nvSpPr>
          <p:cNvPr id="15" name="Text 12"/>
          <p:cNvSpPr/>
          <p:nvPr/>
        </p:nvSpPr>
        <p:spPr>
          <a:xfrm>
            <a:off x="457200" y="5806440"/>
            <a:ext cx="11247120" cy="457200"/>
          </a:xfrm>
          <a:prstGeom prst="rect">
            <a:avLst/>
          </a:prstGeom>
          <a:noFill/>
          <a:ln/>
        </p:spPr>
        <p:txBody>
          <a:bodyPr wrap="square" rtlCol="0" anchor="ctr"/>
          <a:lstStyle/>
          <a:p>
            <a:pPr marL="0" indent="0">
              <a:lnSpc>
                <a:spcPts val="1500"/>
              </a:lnSpc>
              <a:buNone/>
            </a:pPr>
            <a:r>
              <a:rPr lang="en-US" sz="1200" dirty="0">
                <a:solidFill>
                  <a:srgbClr val="1A1A1A"/>
                </a:solidFill>
                <a:latin typeface="Calibri" pitchFamily="34" charset="0"/>
                <a:ea typeface="Calibri" pitchFamily="34" charset="-122"/>
                <a:cs typeface="Calibri" pitchFamily="34" charset="-120"/>
              </a:rPr>
              <a:t>Countries with greater electricity access consistently show higher internet use; power is a foundational requirement for digital transformation. Without it, devices cannot be charged or connected.</a:t>
            </a:r>
            <a:endParaRPr lang="en-US" sz="1200" dirty="0"/>
          </a:p>
        </p:txBody>
      </p:sp>
      <p:sp>
        <p:nvSpPr>
          <p:cNvPr id="16" name="Text 13"/>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7" name="Text 14"/>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Q3 · STATISTICAL TECHNIQUE</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OLS Regression: Electricity Predicts Internet Use</a:t>
            </a:r>
            <a:endParaRPr lang="en-US" sz="3000" dirty="0"/>
          </a:p>
        </p:txBody>
      </p:sp>
      <p:sp>
        <p:nvSpPr>
          <p:cNvPr id="4" name="Text 2"/>
          <p:cNvSpPr/>
          <p:nvPr/>
        </p:nvSpPr>
        <p:spPr>
          <a:xfrm>
            <a:off x="457200" y="1371600"/>
            <a:ext cx="11247120" cy="548640"/>
          </a:xfrm>
          <a:prstGeom prst="rect">
            <a:avLst/>
          </a:prstGeom>
          <a:noFill/>
          <a:ln/>
        </p:spPr>
        <p:txBody>
          <a:bodyPr wrap="square" rtlCol="0" anchor="ctr"/>
          <a:lstStyle/>
          <a:p>
            <a:pPr marL="0" indent="0">
              <a:lnSpc>
                <a:spcPts val="1700"/>
              </a:lnSpc>
              <a:buNone/>
            </a:pPr>
            <a:r>
              <a:rPr lang="en-US" sz="1300" dirty="0">
                <a:solidFill>
                  <a:srgbClr val="1A1A1A"/>
                </a:solidFill>
                <a:latin typeface="Calibri" pitchFamily="34" charset="0"/>
                <a:ea typeface="Calibri" pitchFamily="34" charset="-122"/>
                <a:cs typeface="Calibri" pitchFamily="34" charset="-120"/>
              </a:rPr>
              <a:t>Does electricity access predict internet use after controlling for mobile subscriptions? Clustered standard errors account for repeated observations per country (panel data, n=107).</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7498080" cy="1645920"/>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11480">
                <a:tc>
                  <a:txBody>
                    <a:bodyPr/>
                    <a:lstStyle/>
                    <a:p>
                      <a:pPr marL="0" indent="0">
                        <a:buNone/>
                      </a:pPr>
                      <a:r>
                        <a:rPr lang="en-US" sz="1200" b="1" dirty="0">
                          <a:solidFill>
                            <a:srgbClr val="FFFFFF"/>
                          </a:solidFill>
                        </a:rPr>
                        <a:t>Predictor</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Coefficient</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Std. Error</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z</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tc>
                  <a:txBody>
                    <a:bodyPr/>
                    <a:lstStyle/>
                    <a:p>
                      <a:pPr marL="0" indent="0">
                        <a:buNone/>
                      </a:pPr>
                      <a:r>
                        <a:rPr lang="en-US" sz="1200" b="1" dirty="0">
                          <a:solidFill>
                            <a:srgbClr val="FFFFFF"/>
                          </a:solidFill>
                        </a:rPr>
                        <a:t>P&gt;|z|</a:t>
                      </a:r>
                      <a:endParaRPr lang="en-US" sz="1200" dirty="0"/>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solidFill>
                      <a:srgbClr val="12283C"/>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Const</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-4.988</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1.829</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-2.727</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0.006</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Electricity access (%)</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0.174</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0.057</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3.072</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0.002</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Mobile subscriptions</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0.183</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0.045</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4.083</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&lt; 0.001</a:t>
                      </a:r>
                      <a:endParaRPr lang="en-US" sz="1200" dirty="0">
                        <a:latin typeface="Calibri" charset="0"/>
                        <a:ea typeface="Calibri" charset="0"/>
                        <a:cs typeface="Calibri" charset="0"/>
                      </a:endParaRPr>
                    </a:p>
                  </a:txBody>
                  <a:tcPr anchor="ctr">
                    <a:lnL w="9525" cap="flat" cmpd="sng" algn="ctr">
                      <a:solidFill>
                        <a:srgbClr val="E1E7EC"/>
                      </a:solidFill>
                      <a:prstDash val="solid"/>
                      <a:round/>
                      <a:headEnd type="none" w="med" len="med"/>
                      <a:tailEnd type="none" w="med" len="med"/>
                    </a:lnL>
                    <a:lnR w="9525" cap="flat" cmpd="sng" algn="ctr">
                      <a:solidFill>
                        <a:srgbClr val="E1E7EC"/>
                      </a:solidFill>
                      <a:prstDash val="solid"/>
                      <a:round/>
                      <a:headEnd type="none" w="med" len="med"/>
                      <a:tailEnd type="none" w="med" len="med"/>
                    </a:lnR>
                    <a:lnT w="9525" cap="flat" cmpd="sng" algn="ctr">
                      <a:solidFill>
                        <a:srgbClr val="E1E7EC"/>
                      </a:solidFill>
                      <a:prstDash val="solid"/>
                      <a:round/>
                      <a:headEnd type="none" w="med" len="med"/>
                      <a:tailEnd type="none" w="med" len="med"/>
                    </a:lnT>
                    <a:lnB w="9525" cap="flat" cmpd="sng" algn="ctr">
                      <a:solidFill>
                        <a:srgbClr val="E1E7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8229600" y="2103120"/>
            <a:ext cx="3474720" cy="1828800"/>
          </a:xfrm>
          <a:prstGeom prst="roundRect">
            <a:avLst>
              <a:gd name="adj" fmla="val 4000"/>
            </a:avLst>
          </a:prstGeom>
          <a:solidFill>
            <a:srgbClr val="E5EEF1"/>
          </a:solidFill>
          <a:ln/>
        </p:spPr>
        <p:txBody>
          <a:bodyPr/>
          <a:lstStyle/>
          <a:p>
            <a:endParaRPr lang="en-KE"/>
          </a:p>
        </p:txBody>
      </p:sp>
      <p:sp>
        <p:nvSpPr>
          <p:cNvPr id="7" name="Text 4"/>
          <p:cNvSpPr/>
          <p:nvPr/>
        </p:nvSpPr>
        <p:spPr>
          <a:xfrm>
            <a:off x="8229600" y="2240280"/>
            <a:ext cx="3474720" cy="457200"/>
          </a:xfrm>
          <a:prstGeom prst="rect">
            <a:avLst/>
          </a:prstGeom>
          <a:noFill/>
          <a:ln/>
        </p:spPr>
        <p:txBody>
          <a:bodyPr wrap="square" rtlCol="0" anchor="ctr"/>
          <a:lstStyle/>
          <a:p>
            <a:pPr marL="0" indent="0" algn="ctr">
              <a:buNone/>
            </a:pPr>
            <a:r>
              <a:rPr lang="en-US" sz="2000" b="1" dirty="0">
                <a:solidFill>
                  <a:srgbClr val="12283C"/>
                </a:solidFill>
                <a:latin typeface="Cambria" pitchFamily="34" charset="0"/>
                <a:ea typeface="Cambria" pitchFamily="34" charset="-122"/>
                <a:cs typeface="Cambria" pitchFamily="34" charset="-120"/>
              </a:rPr>
              <a:t>R² = 0.715</a:t>
            </a:r>
            <a:endParaRPr lang="en-US" sz="2000" dirty="0"/>
          </a:p>
        </p:txBody>
      </p:sp>
      <p:sp>
        <p:nvSpPr>
          <p:cNvPr id="8" name="Text 5"/>
          <p:cNvSpPr/>
          <p:nvPr/>
        </p:nvSpPr>
        <p:spPr>
          <a:xfrm>
            <a:off x="8458200" y="2724912"/>
            <a:ext cx="3017520" cy="1051560"/>
          </a:xfrm>
          <a:prstGeom prst="rect">
            <a:avLst/>
          </a:prstGeom>
          <a:noFill/>
          <a:ln/>
        </p:spPr>
        <p:txBody>
          <a:bodyPr wrap="square" rtlCol="0" anchor="ctr"/>
          <a:lstStyle/>
          <a:p>
            <a:pPr marL="0" indent="0" algn="ctr">
              <a:lnSpc>
                <a:spcPts val="1400"/>
              </a:lnSpc>
              <a:buNone/>
            </a:pPr>
            <a:r>
              <a:rPr lang="en-US" sz="1100" dirty="0">
                <a:solidFill>
                  <a:srgbClr val="1A1A1A"/>
                </a:solidFill>
                <a:latin typeface="Calibri" pitchFamily="34" charset="0"/>
                <a:ea typeface="Calibri" pitchFamily="34" charset="-122"/>
                <a:cs typeface="Calibri" pitchFamily="34" charset="-120"/>
              </a:rPr>
              <a:t>71.5% of variation in internet use is explained by electricity access + mobile subscriptions</a:t>
            </a:r>
            <a:endParaRPr lang="en-US" sz="1100" dirty="0"/>
          </a:p>
        </p:txBody>
      </p:sp>
      <p:sp>
        <p:nvSpPr>
          <p:cNvPr id="9" name="Shape 6"/>
          <p:cNvSpPr/>
          <p:nvPr/>
        </p:nvSpPr>
        <p:spPr>
          <a:xfrm>
            <a:off x="457200" y="4160520"/>
            <a:ext cx="11247120" cy="1691640"/>
          </a:xfrm>
          <a:prstGeom prst="roundRect">
            <a:avLst>
              <a:gd name="adj" fmla="val 4324"/>
            </a:avLst>
          </a:prstGeom>
          <a:solidFill>
            <a:srgbClr val="F6F8FA"/>
          </a:solidFill>
          <a:ln w="12700">
            <a:solidFill>
              <a:srgbClr val="E1E7EC"/>
            </a:solidFill>
            <a:prstDash val="solid"/>
          </a:ln>
        </p:spPr>
        <p:txBody>
          <a:bodyPr/>
          <a:lstStyle/>
          <a:p>
            <a:endParaRPr lang="en-KE"/>
          </a:p>
        </p:txBody>
      </p:sp>
      <p:sp>
        <p:nvSpPr>
          <p:cNvPr id="10" name="Text 7"/>
          <p:cNvSpPr/>
          <p:nvPr/>
        </p:nvSpPr>
        <p:spPr>
          <a:xfrm>
            <a:off x="731520" y="4343400"/>
            <a:ext cx="10698480" cy="274320"/>
          </a:xfrm>
          <a:prstGeom prst="rect">
            <a:avLst/>
          </a:prstGeom>
          <a:noFill/>
          <a:ln/>
        </p:spPr>
        <p:txBody>
          <a:bodyPr wrap="square"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INTERPRETATION</a:t>
            </a:r>
            <a:endParaRPr lang="en-US" sz="1100" dirty="0"/>
          </a:p>
        </p:txBody>
      </p:sp>
      <p:sp>
        <p:nvSpPr>
          <p:cNvPr id="5" name="Text 8"/>
          <p:cNvSpPr/>
          <p:nvPr/>
        </p:nvSpPr>
        <p:spPr>
          <a:xfrm>
            <a:off x="731520" y="4663440"/>
            <a:ext cx="10698480" cy="1097280"/>
          </a:xfrm>
          <a:prstGeom prst="rect">
            <a:avLst/>
          </a:prstGeom>
          <a:noFill/>
          <a:ln/>
        </p:spPr>
        <p:txBody>
          <a:bodyPr wrap="square" rtlCol="0" anchor="ctr"/>
          <a:lstStyle/>
          <a:p>
            <a:pPr marL="0" indent="0">
              <a:lnSpc>
                <a:spcPts val="1800"/>
              </a:lnSpc>
              <a:buNone/>
            </a:pPr>
            <a:r>
              <a:rPr lang="en-US" sz="1250" dirty="0">
                <a:solidFill>
                  <a:srgbClr val="1A1A1A"/>
                </a:solidFill>
                <a:latin typeface="Calibri" pitchFamily="34" charset="0"/>
                <a:ea typeface="Calibri" pitchFamily="34" charset="-122"/>
                <a:cs typeface="Calibri" pitchFamily="34" charset="-120"/>
              </a:rPr>
              <a:t>Both predictors are statistically significant (p &lt; 0.01). Holding mobile subscriptions constant, a 10-point increase in electricity access is associated with roughly a 1.7-point increase in internet usage. Electricity access is not merely correlated with internet use; it remains a significant, independent predictor even after accounting for how widely mobile networks already reach.</a:t>
            </a:r>
            <a:endParaRPr lang="en-US" sz="1250" dirty="0"/>
          </a:p>
        </p:txBody>
      </p:sp>
      <p:sp>
        <p:nvSpPr>
          <p:cNvPr id="12" name="Text 9"/>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3" name="Text 10"/>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Q4 · ADOPTION GAP</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Tanzania Has the Widest Mobile–Internet Gap</a:t>
            </a:r>
            <a:endParaRPr lang="en-US" sz="3000" dirty="0"/>
          </a:p>
        </p:txBody>
      </p:sp>
      <p:pic>
        <p:nvPicPr>
          <p:cNvPr id="4" name="Image 0" descr="/home/claude/pptx_build/cell41_out0.png"/>
          <p:cNvPicPr>
            <a:picLocks noChangeAspect="1"/>
          </p:cNvPicPr>
          <p:nvPr/>
        </p:nvPicPr>
        <p:blipFill>
          <a:blip r:embed="rId3"/>
          <a:stretch>
            <a:fillRect/>
          </a:stretch>
        </p:blipFill>
        <p:spPr>
          <a:xfrm>
            <a:off x="457200" y="1371600"/>
            <a:ext cx="6126480" cy="4754880"/>
          </a:xfrm>
          <a:prstGeom prst="rect">
            <a:avLst/>
          </a:prstGeom>
        </p:spPr>
      </p:pic>
      <p:sp>
        <p:nvSpPr>
          <p:cNvPr id="5" name="Shape 2"/>
          <p:cNvSpPr/>
          <p:nvPr/>
        </p:nvSpPr>
        <p:spPr>
          <a:xfrm>
            <a:off x="6858000" y="1371600"/>
            <a:ext cx="4846320" cy="1417320"/>
          </a:xfrm>
          <a:prstGeom prst="roundRect">
            <a:avLst>
              <a:gd name="adj" fmla="val 5161"/>
            </a:avLst>
          </a:prstGeom>
          <a:solidFill>
            <a:srgbClr val="12283C"/>
          </a:solidFill>
          <a:ln/>
        </p:spPr>
        <p:txBody>
          <a:bodyPr/>
          <a:lstStyle/>
          <a:p>
            <a:endParaRPr lang="en-KE"/>
          </a:p>
        </p:txBody>
      </p:sp>
      <p:sp>
        <p:nvSpPr>
          <p:cNvPr id="6" name="Text 3"/>
          <p:cNvSpPr/>
          <p:nvPr/>
        </p:nvSpPr>
        <p:spPr>
          <a:xfrm>
            <a:off x="6858000" y="1508760"/>
            <a:ext cx="4846320" cy="594360"/>
          </a:xfrm>
          <a:prstGeom prst="rect">
            <a:avLst/>
          </a:prstGeom>
          <a:noFill/>
          <a:ln/>
        </p:spPr>
        <p:txBody>
          <a:bodyPr wrap="square" rtlCol="0" anchor="ctr"/>
          <a:lstStyle/>
          <a:p>
            <a:pPr marL="0" indent="0" algn="ctr">
              <a:buNone/>
            </a:pPr>
            <a:r>
              <a:rPr lang="en-US" sz="2600" b="1" dirty="0">
                <a:solidFill>
                  <a:srgbClr val="F4A300"/>
                </a:solidFill>
                <a:latin typeface="Cambria" pitchFamily="34" charset="0"/>
                <a:ea typeface="Cambria" pitchFamily="34" charset="-122"/>
                <a:cs typeface="Cambria" pitchFamily="34" charset="-120"/>
              </a:rPr>
              <a:t>95.4 points</a:t>
            </a:r>
            <a:endParaRPr lang="en-US" sz="2600" dirty="0"/>
          </a:p>
        </p:txBody>
      </p:sp>
      <p:sp>
        <p:nvSpPr>
          <p:cNvPr id="7" name="Text 4"/>
          <p:cNvSpPr/>
          <p:nvPr/>
        </p:nvSpPr>
        <p:spPr>
          <a:xfrm>
            <a:off x="7040880" y="2121408"/>
            <a:ext cx="4480560" cy="594360"/>
          </a:xfrm>
          <a:prstGeom prst="rect">
            <a:avLst/>
          </a:prstGeom>
          <a:noFill/>
          <a:ln/>
        </p:spPr>
        <p:txBody>
          <a:bodyPr wrap="square" rtlCol="0" anchor="ctr"/>
          <a:lstStyle/>
          <a:p>
            <a:pPr marL="0" indent="0" algn="ctr">
              <a:lnSpc>
                <a:spcPts val="1400"/>
              </a:lnSpc>
              <a:buNone/>
            </a:pPr>
            <a:r>
              <a:rPr lang="en-US" sz="1150" dirty="0">
                <a:solidFill>
                  <a:srgbClr val="CADCE0"/>
                </a:solidFill>
                <a:latin typeface="Calibri" pitchFamily="34" charset="0"/>
                <a:ea typeface="Calibri" pitchFamily="34" charset="-122"/>
                <a:cs typeface="Calibri" pitchFamily="34" charset="-120"/>
              </a:rPr>
              <a:t>Tanzania's gap: 126.6 mobile subscriptions per 100 people vs. only 31.2% internet users</a:t>
            </a:r>
            <a:endParaRPr lang="en-US" sz="1150" dirty="0"/>
          </a:p>
        </p:txBody>
      </p:sp>
      <p:sp>
        <p:nvSpPr>
          <p:cNvPr id="8" name="Text 5"/>
          <p:cNvSpPr/>
          <p:nvPr/>
        </p:nvSpPr>
        <p:spPr>
          <a:xfrm>
            <a:off x="7040880" y="3017520"/>
            <a:ext cx="2468880" cy="3657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Kenya</a:t>
            </a:r>
            <a:endParaRPr lang="en-US" sz="1300" dirty="0"/>
          </a:p>
        </p:txBody>
      </p:sp>
      <p:sp>
        <p:nvSpPr>
          <p:cNvPr id="9" name="Text 6"/>
          <p:cNvSpPr/>
          <p:nvPr/>
        </p:nvSpPr>
        <p:spPr>
          <a:xfrm>
            <a:off x="9509760" y="3017520"/>
            <a:ext cx="2011680" cy="365760"/>
          </a:xfrm>
          <a:prstGeom prst="rect">
            <a:avLst/>
          </a:prstGeom>
          <a:noFill/>
          <a:ln/>
        </p:spPr>
        <p:txBody>
          <a:bodyPr wrap="square" rtlCol="0" anchor="ctr"/>
          <a:lstStyle/>
          <a:p>
            <a:pPr marL="0" indent="0" algn="r">
              <a:buNone/>
            </a:pPr>
            <a:r>
              <a:rPr lang="en-US" sz="1300" b="1" dirty="0">
                <a:solidFill>
                  <a:srgbClr val="12283C"/>
                </a:solidFill>
                <a:latin typeface="Calibri" pitchFamily="34" charset="0"/>
                <a:ea typeface="Calibri" pitchFamily="34" charset="-122"/>
                <a:cs typeface="Calibri" pitchFamily="34" charset="-120"/>
              </a:rPr>
              <a:t>91.5 pts</a:t>
            </a:r>
            <a:endParaRPr lang="en-US" sz="1300" dirty="0"/>
          </a:p>
        </p:txBody>
      </p:sp>
      <p:sp>
        <p:nvSpPr>
          <p:cNvPr id="10" name="Text 7"/>
          <p:cNvSpPr/>
          <p:nvPr/>
        </p:nvSpPr>
        <p:spPr>
          <a:xfrm>
            <a:off x="7040880" y="3419856"/>
            <a:ext cx="2468880" cy="3657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Uganda</a:t>
            </a:r>
            <a:endParaRPr lang="en-US" sz="1300" dirty="0"/>
          </a:p>
        </p:txBody>
      </p:sp>
      <p:sp>
        <p:nvSpPr>
          <p:cNvPr id="11" name="Text 8"/>
          <p:cNvSpPr/>
          <p:nvPr/>
        </p:nvSpPr>
        <p:spPr>
          <a:xfrm>
            <a:off x="9509760" y="3419856"/>
            <a:ext cx="2011680" cy="365760"/>
          </a:xfrm>
          <a:prstGeom prst="rect">
            <a:avLst/>
          </a:prstGeom>
          <a:noFill/>
          <a:ln/>
        </p:spPr>
        <p:txBody>
          <a:bodyPr wrap="square" rtlCol="0" anchor="ctr"/>
          <a:lstStyle/>
          <a:p>
            <a:pPr marL="0" indent="0" algn="r">
              <a:buNone/>
            </a:pPr>
            <a:r>
              <a:rPr lang="en-US" sz="1300" b="1" dirty="0">
                <a:solidFill>
                  <a:srgbClr val="12283C"/>
                </a:solidFill>
                <a:latin typeface="Calibri" pitchFamily="34" charset="0"/>
                <a:ea typeface="Calibri" pitchFamily="34" charset="-122"/>
                <a:cs typeface="Calibri" pitchFamily="34" charset="-120"/>
              </a:rPr>
              <a:t>74.2 pts</a:t>
            </a:r>
            <a:endParaRPr lang="en-US" sz="1300" dirty="0"/>
          </a:p>
        </p:txBody>
      </p:sp>
      <p:sp>
        <p:nvSpPr>
          <p:cNvPr id="12" name="Text 9"/>
          <p:cNvSpPr/>
          <p:nvPr/>
        </p:nvSpPr>
        <p:spPr>
          <a:xfrm>
            <a:off x="7040880" y="3822192"/>
            <a:ext cx="2468880" cy="3657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Rwanda</a:t>
            </a:r>
            <a:endParaRPr lang="en-US" sz="1300" dirty="0"/>
          </a:p>
        </p:txBody>
      </p:sp>
      <p:sp>
        <p:nvSpPr>
          <p:cNvPr id="13" name="Text 10"/>
          <p:cNvSpPr/>
          <p:nvPr/>
        </p:nvSpPr>
        <p:spPr>
          <a:xfrm>
            <a:off x="9509760" y="3822192"/>
            <a:ext cx="2011680" cy="365760"/>
          </a:xfrm>
          <a:prstGeom prst="rect">
            <a:avLst/>
          </a:prstGeom>
          <a:noFill/>
          <a:ln/>
        </p:spPr>
        <p:txBody>
          <a:bodyPr wrap="square" rtlCol="0" anchor="ctr"/>
          <a:lstStyle/>
          <a:p>
            <a:pPr marL="0" indent="0" algn="r">
              <a:buNone/>
            </a:pPr>
            <a:r>
              <a:rPr lang="en-US" sz="1300" b="1" dirty="0">
                <a:solidFill>
                  <a:srgbClr val="12283C"/>
                </a:solidFill>
                <a:latin typeface="Calibri" pitchFamily="34" charset="0"/>
                <a:ea typeface="Calibri" pitchFamily="34" charset="-122"/>
                <a:cs typeface="Calibri" pitchFamily="34" charset="-120"/>
              </a:rPr>
              <a:t>61.5 pts</a:t>
            </a:r>
            <a:endParaRPr lang="en-US" sz="1300" dirty="0"/>
          </a:p>
        </p:txBody>
      </p:sp>
      <p:sp>
        <p:nvSpPr>
          <p:cNvPr id="14" name="Text 11"/>
          <p:cNvSpPr/>
          <p:nvPr/>
        </p:nvSpPr>
        <p:spPr>
          <a:xfrm>
            <a:off x="7040880" y="4224528"/>
            <a:ext cx="2468880" cy="3657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Burundi</a:t>
            </a:r>
            <a:endParaRPr lang="en-US" sz="1300" dirty="0"/>
          </a:p>
        </p:txBody>
      </p:sp>
      <p:sp>
        <p:nvSpPr>
          <p:cNvPr id="15" name="Text 12"/>
          <p:cNvSpPr/>
          <p:nvPr/>
        </p:nvSpPr>
        <p:spPr>
          <a:xfrm>
            <a:off x="9509760" y="4224528"/>
            <a:ext cx="2011680" cy="365760"/>
          </a:xfrm>
          <a:prstGeom prst="rect">
            <a:avLst/>
          </a:prstGeom>
          <a:noFill/>
          <a:ln/>
        </p:spPr>
        <p:txBody>
          <a:bodyPr wrap="square" rtlCol="0" anchor="ctr"/>
          <a:lstStyle/>
          <a:p>
            <a:pPr marL="0" indent="0" algn="r">
              <a:buNone/>
            </a:pPr>
            <a:r>
              <a:rPr lang="en-US" sz="1300" b="1" dirty="0">
                <a:solidFill>
                  <a:srgbClr val="12283C"/>
                </a:solidFill>
                <a:latin typeface="Calibri" pitchFamily="34" charset="0"/>
                <a:ea typeface="Calibri" pitchFamily="34" charset="-122"/>
                <a:cs typeface="Calibri" pitchFamily="34" charset="-120"/>
              </a:rPr>
              <a:t>54.6 pts</a:t>
            </a:r>
            <a:endParaRPr lang="en-US" sz="1300" dirty="0"/>
          </a:p>
        </p:txBody>
      </p:sp>
      <p:sp>
        <p:nvSpPr>
          <p:cNvPr id="16" name="Shape 13"/>
          <p:cNvSpPr/>
          <p:nvPr/>
        </p:nvSpPr>
        <p:spPr>
          <a:xfrm>
            <a:off x="6858000" y="4709160"/>
            <a:ext cx="4846320" cy="1417320"/>
          </a:xfrm>
          <a:prstGeom prst="roundRect">
            <a:avLst>
              <a:gd name="adj" fmla="val 5161"/>
            </a:avLst>
          </a:prstGeom>
          <a:solidFill>
            <a:srgbClr val="E5EEF1"/>
          </a:solidFill>
          <a:ln/>
        </p:spPr>
        <p:txBody>
          <a:bodyPr/>
          <a:lstStyle/>
          <a:p>
            <a:endParaRPr lang="en-KE"/>
          </a:p>
        </p:txBody>
      </p:sp>
      <p:sp>
        <p:nvSpPr>
          <p:cNvPr id="17" name="Text 14"/>
          <p:cNvSpPr/>
          <p:nvPr/>
        </p:nvSpPr>
        <p:spPr>
          <a:xfrm>
            <a:off x="7086600" y="4846320"/>
            <a:ext cx="4389120" cy="1143000"/>
          </a:xfrm>
          <a:prstGeom prst="rect">
            <a:avLst/>
          </a:prstGeom>
          <a:noFill/>
          <a:ln/>
        </p:spPr>
        <p:txBody>
          <a:bodyPr wrap="square" rtlCol="0" anchor="ctr"/>
          <a:lstStyle/>
          <a:p>
            <a:pPr marL="0" indent="0">
              <a:lnSpc>
                <a:spcPts val="1600"/>
              </a:lnSpc>
              <a:buNone/>
            </a:pPr>
            <a:r>
              <a:rPr lang="en-US" sz="1150" i="1" dirty="0">
                <a:solidFill>
                  <a:srgbClr val="12283C"/>
                </a:solidFill>
                <a:latin typeface="Calibri" pitchFamily="34" charset="0"/>
                <a:ea typeface="Calibri" pitchFamily="34" charset="-122"/>
                <a:cs typeface="Calibri" pitchFamily="34" charset="-120"/>
              </a:rPr>
              <a:t>The gap is smallest in Somalia (26.0 pts) and South Sudan (40.0 pts), but only because both mobile and internet uptake are low there, not because adoption is balanced.</a:t>
            </a:r>
            <a:endParaRPr lang="en-US" sz="1150" dirty="0"/>
          </a:p>
        </p:txBody>
      </p:sp>
      <p:sp>
        <p:nvSpPr>
          <p:cNvPr id="18" name="Text 15"/>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9" name="Text 16"/>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Q5 · KENYA IN CONTEXT</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Kenya Leads the Region on Every Core Indicator</a:t>
            </a:r>
            <a:endParaRPr lang="en-US" sz="3000" dirty="0"/>
          </a:p>
        </p:txBody>
      </p:sp>
      <p:pic>
        <p:nvPicPr>
          <p:cNvPr id="4" name="Image 0" descr="/home/claude/pptx_build/cell44_out1.png"/>
          <p:cNvPicPr>
            <a:picLocks noChangeAspect="1"/>
          </p:cNvPicPr>
          <p:nvPr/>
        </p:nvPicPr>
        <p:blipFill>
          <a:blip r:embed="rId3"/>
          <a:stretch>
            <a:fillRect/>
          </a:stretch>
        </p:blipFill>
        <p:spPr>
          <a:xfrm>
            <a:off x="457200" y="1417320"/>
            <a:ext cx="9052560" cy="3017520"/>
          </a:xfrm>
          <a:prstGeom prst="rect">
            <a:avLst/>
          </a:prstGeom>
        </p:spPr>
      </p:pic>
      <p:sp>
        <p:nvSpPr>
          <p:cNvPr id="5" name="Shape 2"/>
          <p:cNvSpPr/>
          <p:nvPr/>
        </p:nvSpPr>
        <p:spPr>
          <a:xfrm>
            <a:off x="9692640" y="1417320"/>
            <a:ext cx="2011680" cy="914400"/>
          </a:xfrm>
          <a:prstGeom prst="roundRect">
            <a:avLst>
              <a:gd name="adj" fmla="val 8000"/>
            </a:avLst>
          </a:prstGeom>
          <a:solidFill>
            <a:srgbClr val="12283C"/>
          </a:solidFill>
          <a:ln/>
        </p:spPr>
        <p:txBody>
          <a:bodyPr/>
          <a:lstStyle/>
          <a:p>
            <a:endParaRPr lang="en-KE"/>
          </a:p>
        </p:txBody>
      </p:sp>
      <p:sp>
        <p:nvSpPr>
          <p:cNvPr id="6" name="Text 3"/>
          <p:cNvSpPr/>
          <p:nvPr/>
        </p:nvSpPr>
        <p:spPr>
          <a:xfrm>
            <a:off x="9692640" y="1463040"/>
            <a:ext cx="2011680" cy="365760"/>
          </a:xfrm>
          <a:prstGeom prst="rect">
            <a:avLst/>
          </a:prstGeom>
          <a:noFill/>
          <a:ln/>
        </p:spPr>
        <p:txBody>
          <a:bodyPr wrap="square" rtlCol="0" anchor="ctr"/>
          <a:lstStyle/>
          <a:p>
            <a:pPr marL="0" indent="0" algn="ctr">
              <a:buNone/>
            </a:pPr>
            <a:r>
              <a:rPr lang="en-US" sz="1700" b="1" dirty="0">
                <a:solidFill>
                  <a:srgbClr val="F4A300"/>
                </a:solidFill>
                <a:latin typeface="Cambria" pitchFamily="34" charset="0"/>
                <a:ea typeface="Cambria" pitchFamily="34" charset="-122"/>
                <a:cs typeface="Cambria" pitchFamily="34" charset="-120"/>
              </a:rPr>
              <a:t>#1 of 8</a:t>
            </a:r>
            <a:endParaRPr lang="en-US" sz="1700" dirty="0"/>
          </a:p>
        </p:txBody>
      </p:sp>
      <p:sp>
        <p:nvSpPr>
          <p:cNvPr id="7" name="Text 4"/>
          <p:cNvSpPr/>
          <p:nvPr/>
        </p:nvSpPr>
        <p:spPr>
          <a:xfrm>
            <a:off x="9784080" y="1828800"/>
            <a:ext cx="1828800" cy="457200"/>
          </a:xfrm>
          <a:prstGeom prst="rect">
            <a:avLst/>
          </a:prstGeom>
          <a:noFill/>
          <a:ln/>
        </p:spPr>
        <p:txBody>
          <a:bodyPr wrap="square" rtlCol="0" anchor="ctr"/>
          <a:lstStyle/>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Internet users (34.98%)</a:t>
            </a:r>
            <a:endParaRPr lang="en-US" sz="900" dirty="0"/>
          </a:p>
        </p:txBody>
      </p:sp>
      <p:sp>
        <p:nvSpPr>
          <p:cNvPr id="8" name="Shape 5"/>
          <p:cNvSpPr/>
          <p:nvPr/>
        </p:nvSpPr>
        <p:spPr>
          <a:xfrm>
            <a:off x="9692640" y="2468880"/>
            <a:ext cx="2011680" cy="914400"/>
          </a:xfrm>
          <a:prstGeom prst="roundRect">
            <a:avLst>
              <a:gd name="adj" fmla="val 8000"/>
            </a:avLst>
          </a:prstGeom>
          <a:solidFill>
            <a:srgbClr val="E5EEF1"/>
          </a:solidFill>
          <a:ln/>
        </p:spPr>
        <p:txBody>
          <a:bodyPr/>
          <a:lstStyle/>
          <a:p>
            <a:endParaRPr lang="en-KE"/>
          </a:p>
        </p:txBody>
      </p:sp>
      <p:sp>
        <p:nvSpPr>
          <p:cNvPr id="9" name="Text 6"/>
          <p:cNvSpPr/>
          <p:nvPr/>
        </p:nvSpPr>
        <p:spPr>
          <a:xfrm>
            <a:off x="9692640" y="2514600"/>
            <a:ext cx="2011680" cy="365760"/>
          </a:xfrm>
          <a:prstGeom prst="rect">
            <a:avLst/>
          </a:prstGeom>
          <a:noFill/>
          <a:ln/>
        </p:spPr>
        <p:txBody>
          <a:bodyPr wrap="square" rtlCol="0" anchor="ctr"/>
          <a:lstStyle/>
          <a:p>
            <a:pPr marL="0" indent="0" algn="ctr">
              <a:buNone/>
            </a:pPr>
            <a:r>
              <a:rPr lang="en-US" sz="1700" b="1" dirty="0">
                <a:solidFill>
                  <a:srgbClr val="12283C"/>
                </a:solidFill>
                <a:latin typeface="Cambria" pitchFamily="34" charset="0"/>
                <a:ea typeface="Cambria" pitchFamily="34" charset="-122"/>
                <a:cs typeface="Cambria" pitchFamily="34" charset="-120"/>
              </a:rPr>
              <a:t>#2 of 8</a:t>
            </a:r>
            <a:endParaRPr lang="en-US" sz="1700" dirty="0"/>
          </a:p>
        </p:txBody>
      </p:sp>
      <p:sp>
        <p:nvSpPr>
          <p:cNvPr id="10" name="Text 7"/>
          <p:cNvSpPr/>
          <p:nvPr/>
        </p:nvSpPr>
        <p:spPr>
          <a:xfrm>
            <a:off x="9784080" y="2880360"/>
            <a:ext cx="1828800" cy="457200"/>
          </a:xfrm>
          <a:prstGeom prst="rect">
            <a:avLst/>
          </a:prstGeom>
          <a:noFill/>
          <a:ln/>
        </p:spPr>
        <p:txBody>
          <a:bodyPr wrap="square" rtlCol="0" anchor="ctr"/>
          <a:lstStyle/>
          <a:p>
            <a:pPr marL="0" indent="0" algn="ctr">
              <a:lnSpc>
                <a:spcPts val="1100"/>
              </a:lnSpc>
              <a:buNone/>
            </a:pPr>
            <a:r>
              <a:rPr lang="en-US" sz="900" dirty="0">
                <a:solidFill>
                  <a:srgbClr val="1A1A1A"/>
                </a:solidFill>
                <a:latin typeface="Calibri" pitchFamily="34" charset="0"/>
                <a:ea typeface="Calibri" pitchFamily="34" charset="-122"/>
                <a:cs typeface="Calibri" pitchFamily="34" charset="-120"/>
              </a:rPr>
              <a:t>Mobile subscriptions (126.48 / 100)</a:t>
            </a:r>
            <a:endParaRPr lang="en-US" sz="900" dirty="0"/>
          </a:p>
        </p:txBody>
      </p:sp>
      <p:sp>
        <p:nvSpPr>
          <p:cNvPr id="11" name="Shape 8"/>
          <p:cNvSpPr/>
          <p:nvPr/>
        </p:nvSpPr>
        <p:spPr>
          <a:xfrm>
            <a:off x="9692640" y="3520440"/>
            <a:ext cx="2011680" cy="914400"/>
          </a:xfrm>
          <a:prstGeom prst="roundRect">
            <a:avLst>
              <a:gd name="adj" fmla="val 8000"/>
            </a:avLst>
          </a:prstGeom>
          <a:solidFill>
            <a:srgbClr val="12283C"/>
          </a:solidFill>
          <a:ln/>
        </p:spPr>
        <p:txBody>
          <a:bodyPr/>
          <a:lstStyle/>
          <a:p>
            <a:endParaRPr lang="en-KE"/>
          </a:p>
        </p:txBody>
      </p:sp>
      <p:sp>
        <p:nvSpPr>
          <p:cNvPr id="12" name="Text 9"/>
          <p:cNvSpPr/>
          <p:nvPr/>
        </p:nvSpPr>
        <p:spPr>
          <a:xfrm>
            <a:off x="9692640" y="3566160"/>
            <a:ext cx="2011680" cy="365760"/>
          </a:xfrm>
          <a:prstGeom prst="rect">
            <a:avLst/>
          </a:prstGeom>
          <a:noFill/>
          <a:ln/>
        </p:spPr>
        <p:txBody>
          <a:bodyPr wrap="square" rtlCol="0" anchor="ctr"/>
          <a:lstStyle/>
          <a:p>
            <a:pPr marL="0" indent="0" algn="ctr">
              <a:buNone/>
            </a:pPr>
            <a:r>
              <a:rPr lang="en-US" sz="1700" b="1" dirty="0">
                <a:solidFill>
                  <a:srgbClr val="F4A300"/>
                </a:solidFill>
                <a:latin typeface="Cambria" pitchFamily="34" charset="0"/>
                <a:ea typeface="Cambria" pitchFamily="34" charset="-122"/>
                <a:cs typeface="Cambria" pitchFamily="34" charset="-120"/>
              </a:rPr>
              <a:t>#1 of 8</a:t>
            </a:r>
            <a:endParaRPr lang="en-US" sz="1700" dirty="0"/>
          </a:p>
        </p:txBody>
      </p:sp>
      <p:sp>
        <p:nvSpPr>
          <p:cNvPr id="13" name="Text 10"/>
          <p:cNvSpPr/>
          <p:nvPr/>
        </p:nvSpPr>
        <p:spPr>
          <a:xfrm>
            <a:off x="9784080" y="3931920"/>
            <a:ext cx="1828800" cy="457200"/>
          </a:xfrm>
          <a:prstGeom prst="rect">
            <a:avLst/>
          </a:prstGeom>
          <a:noFill/>
          <a:ln/>
        </p:spPr>
        <p:txBody>
          <a:bodyPr wrap="square" rtlCol="0" anchor="ctr"/>
          <a:lstStyle/>
          <a:p>
            <a:pPr marL="0" indent="0" algn="ctr">
              <a:lnSpc>
                <a:spcPts val="1100"/>
              </a:lnSpc>
              <a:buNone/>
            </a:pPr>
            <a:r>
              <a:rPr lang="en-US" sz="900" dirty="0">
                <a:solidFill>
                  <a:srgbClr val="CADCE0"/>
                </a:solidFill>
                <a:latin typeface="Calibri" pitchFamily="34" charset="0"/>
                <a:ea typeface="Calibri" pitchFamily="34" charset="-122"/>
                <a:cs typeface="Calibri" pitchFamily="34" charset="-120"/>
              </a:rPr>
              <a:t>Electricity access (77.0%)</a:t>
            </a:r>
            <a:endParaRPr lang="en-US" sz="900" dirty="0"/>
          </a:p>
        </p:txBody>
      </p:sp>
      <p:sp>
        <p:nvSpPr>
          <p:cNvPr id="14" name="Text 11"/>
          <p:cNvSpPr/>
          <p:nvPr/>
        </p:nvSpPr>
        <p:spPr>
          <a:xfrm>
            <a:off x="457200" y="4617720"/>
            <a:ext cx="11247120" cy="502920"/>
          </a:xfrm>
          <a:prstGeom prst="rect">
            <a:avLst/>
          </a:prstGeom>
          <a:noFill/>
          <a:ln/>
        </p:spPr>
        <p:txBody>
          <a:bodyPr wrap="square" rtlCol="0" anchor="ctr"/>
          <a:lstStyle/>
          <a:p>
            <a:pPr marL="0" indent="0">
              <a:lnSpc>
                <a:spcPts val="1500"/>
              </a:lnSpc>
              <a:buNone/>
            </a:pPr>
            <a:r>
              <a:rPr lang="en-US" sz="1150" b="1" i="1" dirty="0">
                <a:solidFill>
                  <a:srgbClr val="12283C"/>
                </a:solidFill>
                <a:latin typeface="Calibri" pitchFamily="34" charset="0"/>
                <a:ea typeface="Calibri" pitchFamily="34" charset="-122"/>
                <a:cs typeface="Calibri" pitchFamily="34" charset="-120"/>
              </a:rPr>
              <a:t>Why this chart: </a:t>
            </a:r>
            <a:r>
              <a:rPr lang="en-US" sz="1150" i="1" dirty="0">
                <a:solidFill>
                  <a:srgbClr val="5B6B79"/>
                </a:solidFill>
                <a:latin typeface="Calibri" pitchFamily="34" charset="0"/>
                <a:ea typeface="Calibri" pitchFamily="34" charset="-122"/>
                <a:cs typeface="Calibri" pitchFamily="34" charset="-120"/>
              </a:rPr>
              <a:t>small multiples compare Kenya against peers across three dimensions without overloading a single axis; highlighting Kenya in red applies pre-attentive visual emphasis.</a:t>
            </a:r>
            <a:endParaRPr lang="en-US" sz="1150" dirty="0"/>
          </a:p>
        </p:txBody>
      </p:sp>
      <p:sp>
        <p:nvSpPr>
          <p:cNvPr id="15" name="Shape 12"/>
          <p:cNvSpPr/>
          <p:nvPr/>
        </p:nvSpPr>
        <p:spPr>
          <a:xfrm>
            <a:off x="457200" y="5212080"/>
            <a:ext cx="11247120" cy="1188720"/>
          </a:xfrm>
          <a:prstGeom prst="roundRect">
            <a:avLst>
              <a:gd name="adj" fmla="val 6154"/>
            </a:avLst>
          </a:prstGeom>
          <a:solidFill>
            <a:srgbClr val="F6F8FA"/>
          </a:solidFill>
          <a:ln w="12700">
            <a:solidFill>
              <a:srgbClr val="E1E7EC"/>
            </a:solidFill>
            <a:prstDash val="solid"/>
          </a:ln>
        </p:spPr>
        <p:txBody>
          <a:bodyPr/>
          <a:lstStyle/>
          <a:p>
            <a:endParaRPr lang="en-KE"/>
          </a:p>
        </p:txBody>
      </p:sp>
      <p:sp>
        <p:nvSpPr>
          <p:cNvPr id="16" name="Text 13"/>
          <p:cNvSpPr/>
          <p:nvPr/>
        </p:nvSpPr>
        <p:spPr>
          <a:xfrm>
            <a:off x="685800" y="5349240"/>
            <a:ext cx="10789920" cy="914400"/>
          </a:xfrm>
          <a:prstGeom prst="rect">
            <a:avLst/>
          </a:prstGeom>
          <a:noFill/>
          <a:ln/>
        </p:spPr>
        <p:txBody>
          <a:bodyPr wrap="square" rtlCol="0" anchor="ctr"/>
          <a:lstStyle/>
          <a:p>
            <a:pPr marL="0" indent="0">
              <a:lnSpc>
                <a:spcPts val="1700"/>
              </a:lnSpc>
              <a:buNone/>
            </a:pPr>
            <a:r>
              <a:rPr lang="en-US" sz="1250" dirty="0">
                <a:solidFill>
                  <a:srgbClr val="1A1A1A"/>
                </a:solidFill>
                <a:latin typeface="Calibri" pitchFamily="34" charset="0"/>
                <a:ea typeface="Calibri" pitchFamily="34" charset="-122"/>
                <a:cs typeface="Calibri" pitchFamily="34" charset="-120"/>
              </a:rPr>
              <a:t>Kenya is the region's clear digital leader, ranking first in internet penetration and electricity access, and second only to Tanzania in mobile subscriptions. This reflects sustained investment in ICT infrastructure, mobile money (M-Pesa), and digital government services, a reference model for regional catch-up strategies.</a:t>
            </a:r>
            <a:endParaRPr lang="en-US" sz="1250" dirty="0"/>
          </a:p>
        </p:txBody>
      </p:sp>
      <p:sp>
        <p:nvSpPr>
          <p:cNvPr id="17" name="Text 14"/>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8" name="Text 15"/>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Q6 · FORECASTING TO 2028</a:t>
            </a:r>
            <a:endParaRPr lang="en-US" sz="1200" dirty="0"/>
          </a:p>
        </p:txBody>
      </p:sp>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On Current Trends, the Region's Digital Divide Widens</a:t>
            </a:r>
            <a:endParaRPr lang="en-US" sz="3000" dirty="0"/>
          </a:p>
        </p:txBody>
      </p:sp>
      <p:pic>
        <p:nvPicPr>
          <p:cNvPr id="4" name="Image 0" descr="/home/claude/pptx_build/cell49_out0.png"/>
          <p:cNvPicPr>
            <a:picLocks noChangeAspect="1"/>
          </p:cNvPicPr>
          <p:nvPr/>
        </p:nvPicPr>
        <p:blipFill>
          <a:blip r:embed="rId3"/>
          <a:stretch>
            <a:fillRect/>
          </a:stretch>
        </p:blipFill>
        <p:spPr>
          <a:xfrm>
            <a:off x="457200" y="1371600"/>
            <a:ext cx="7955280" cy="3977640"/>
          </a:xfrm>
          <a:prstGeom prst="rect">
            <a:avLst/>
          </a:prstGeom>
        </p:spPr>
      </p:pic>
      <p:sp>
        <p:nvSpPr>
          <p:cNvPr id="5" name="Shape 2"/>
          <p:cNvSpPr/>
          <p:nvPr/>
        </p:nvSpPr>
        <p:spPr>
          <a:xfrm>
            <a:off x="8595360" y="1371600"/>
            <a:ext cx="3108960" cy="1874520"/>
          </a:xfrm>
          <a:prstGeom prst="roundRect">
            <a:avLst>
              <a:gd name="adj" fmla="val 3902"/>
            </a:avLst>
          </a:prstGeom>
          <a:solidFill>
            <a:srgbClr val="12283C"/>
          </a:solidFill>
          <a:ln/>
        </p:spPr>
        <p:txBody>
          <a:bodyPr/>
          <a:lstStyle/>
          <a:p>
            <a:endParaRPr lang="en-KE"/>
          </a:p>
        </p:txBody>
      </p:sp>
      <p:sp>
        <p:nvSpPr>
          <p:cNvPr id="6" name="Text 3"/>
          <p:cNvSpPr/>
          <p:nvPr/>
        </p:nvSpPr>
        <p:spPr>
          <a:xfrm>
            <a:off x="8778240" y="1508760"/>
            <a:ext cx="2743200" cy="274320"/>
          </a:xfrm>
          <a:prstGeom prst="rect">
            <a:avLst/>
          </a:prstGeom>
          <a:noFill/>
          <a:ln/>
        </p:spPr>
        <p:txBody>
          <a:bodyPr wrap="square" rtlCol="0" anchor="ctr"/>
          <a:lstStyle/>
          <a:p>
            <a:pPr marL="0" indent="0">
              <a:buNone/>
            </a:pPr>
            <a:r>
              <a:rPr lang="en-US" sz="1050" b="1" kern="0" spc="100" dirty="0">
                <a:solidFill>
                  <a:srgbClr val="F4A300"/>
                </a:solidFill>
                <a:latin typeface="Calibri" pitchFamily="34" charset="0"/>
                <a:ea typeface="Calibri" pitchFamily="34" charset="-122"/>
                <a:cs typeface="Calibri" pitchFamily="34" charset="-120"/>
              </a:rPr>
              <a:t>LEADERS BY 2028</a:t>
            </a:r>
            <a:endParaRPr lang="en-US" sz="1050" dirty="0"/>
          </a:p>
        </p:txBody>
      </p:sp>
      <p:sp>
        <p:nvSpPr>
          <p:cNvPr id="7" name="Text 4"/>
          <p:cNvSpPr/>
          <p:nvPr/>
        </p:nvSpPr>
        <p:spPr>
          <a:xfrm>
            <a:off x="8778240" y="1810512"/>
            <a:ext cx="2743200" cy="54864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Kenya · Rwanda · Somalia</a:t>
            </a: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Tanzania</a:t>
            </a:r>
            <a:endParaRPr lang="en-US" sz="1250" dirty="0"/>
          </a:p>
        </p:txBody>
      </p:sp>
      <p:sp>
        <p:nvSpPr>
          <p:cNvPr id="8" name="Text 5"/>
          <p:cNvSpPr/>
          <p:nvPr/>
        </p:nvSpPr>
        <p:spPr>
          <a:xfrm>
            <a:off x="8778240" y="2423160"/>
            <a:ext cx="2743200" cy="731520"/>
          </a:xfrm>
          <a:prstGeom prst="rect">
            <a:avLst/>
          </a:prstGeom>
          <a:noFill/>
          <a:ln/>
        </p:spPr>
        <p:txBody>
          <a:bodyPr wrap="square" rtlCol="0" anchor="ctr"/>
          <a:lstStyle/>
          <a:p>
            <a:pPr marL="0" indent="0">
              <a:lnSpc>
                <a:spcPts val="1300"/>
              </a:lnSpc>
              <a:buNone/>
            </a:pPr>
            <a:r>
              <a:rPr lang="en-US" sz="1050" i="1" dirty="0">
                <a:solidFill>
                  <a:srgbClr val="CADCE0"/>
                </a:solidFill>
                <a:latin typeface="Calibri" pitchFamily="34" charset="0"/>
                <a:ea typeface="Calibri" pitchFamily="34" charset="-122"/>
                <a:cs typeface="Calibri" pitchFamily="34" charset="-120"/>
              </a:rPr>
              <a:t>≈ 40%+ internet users forecast</a:t>
            </a:r>
            <a:endParaRPr lang="en-US" sz="1050" dirty="0"/>
          </a:p>
        </p:txBody>
      </p:sp>
      <p:sp>
        <p:nvSpPr>
          <p:cNvPr id="9" name="Shape 6"/>
          <p:cNvSpPr/>
          <p:nvPr/>
        </p:nvSpPr>
        <p:spPr>
          <a:xfrm>
            <a:off x="8595360" y="3383280"/>
            <a:ext cx="3108960" cy="1965960"/>
          </a:xfrm>
          <a:prstGeom prst="roundRect">
            <a:avLst>
              <a:gd name="adj" fmla="val 3721"/>
            </a:avLst>
          </a:prstGeom>
          <a:solidFill>
            <a:srgbClr val="E5EEF1"/>
          </a:solidFill>
          <a:ln/>
        </p:spPr>
        <p:txBody>
          <a:bodyPr/>
          <a:lstStyle/>
          <a:p>
            <a:endParaRPr lang="en-KE"/>
          </a:p>
        </p:txBody>
      </p:sp>
      <p:sp>
        <p:nvSpPr>
          <p:cNvPr id="10" name="Text 7"/>
          <p:cNvSpPr/>
          <p:nvPr/>
        </p:nvSpPr>
        <p:spPr>
          <a:xfrm>
            <a:off x="8778240" y="3520440"/>
            <a:ext cx="2743200" cy="274320"/>
          </a:xfrm>
          <a:prstGeom prst="rect">
            <a:avLst/>
          </a:prstGeom>
          <a:noFill/>
          <a:ln/>
        </p:spPr>
        <p:txBody>
          <a:bodyPr wrap="square" rtlCol="0" anchor="ctr"/>
          <a:lstStyle/>
          <a:p>
            <a:pPr marL="0" indent="0">
              <a:buNone/>
            </a:pPr>
            <a:r>
              <a:rPr lang="en-US" sz="1050" b="1" kern="0" spc="100" dirty="0">
                <a:solidFill>
                  <a:srgbClr val="1C7293"/>
                </a:solidFill>
                <a:latin typeface="Calibri" pitchFamily="34" charset="0"/>
                <a:ea typeface="Calibri" pitchFamily="34" charset="-122"/>
                <a:cs typeface="Calibri" pitchFamily="34" charset="-120"/>
              </a:rPr>
              <a:t>LAGGARDS BY 2028</a:t>
            </a:r>
            <a:endParaRPr lang="en-US" sz="1050" dirty="0"/>
          </a:p>
        </p:txBody>
      </p:sp>
      <p:sp>
        <p:nvSpPr>
          <p:cNvPr id="11" name="Text 8"/>
          <p:cNvSpPr/>
          <p:nvPr/>
        </p:nvSpPr>
        <p:spPr>
          <a:xfrm>
            <a:off x="8778240" y="3822192"/>
            <a:ext cx="2743200" cy="502920"/>
          </a:xfrm>
          <a:prstGeom prst="rect">
            <a:avLst/>
          </a:prstGeom>
          <a:noFill/>
          <a:ln/>
        </p:spPr>
        <p:txBody>
          <a:bodyPr wrap="square" rtlCol="0" anchor="ctr"/>
          <a:lstStyle/>
          <a:p>
            <a:pPr marL="0" indent="0">
              <a:lnSpc>
                <a:spcPts val="1600"/>
              </a:lnSpc>
              <a:buNone/>
            </a:pPr>
            <a:r>
              <a:rPr lang="en-US" sz="1250" b="1" dirty="0">
                <a:solidFill>
                  <a:srgbClr val="12283C"/>
                </a:solidFill>
                <a:latin typeface="Calibri" pitchFamily="34" charset="0"/>
                <a:ea typeface="Calibri" pitchFamily="34" charset="-122"/>
                <a:cs typeface="Calibri" pitchFamily="34" charset="-120"/>
              </a:rPr>
              <a:t>Burundi · South Sudan</a:t>
            </a:r>
            <a:endParaRPr lang="en-US" sz="1250" dirty="0"/>
          </a:p>
          <a:p>
            <a:pPr marL="0" indent="0">
              <a:lnSpc>
                <a:spcPts val="1600"/>
              </a:lnSpc>
              <a:buNone/>
            </a:pPr>
            <a:r>
              <a:rPr lang="en-US" sz="1250" b="1" dirty="0">
                <a:solidFill>
                  <a:srgbClr val="12283C"/>
                </a:solidFill>
                <a:latin typeface="Calibri" pitchFamily="34" charset="0"/>
                <a:ea typeface="Calibri" pitchFamily="34" charset="-122"/>
                <a:cs typeface="Calibri" pitchFamily="34" charset="-120"/>
              </a:rPr>
              <a:t>Uganda</a:t>
            </a:r>
            <a:endParaRPr lang="en-US" sz="1250" dirty="0"/>
          </a:p>
        </p:txBody>
      </p:sp>
      <p:sp>
        <p:nvSpPr>
          <p:cNvPr id="12" name="Text 9"/>
          <p:cNvSpPr/>
          <p:nvPr/>
        </p:nvSpPr>
        <p:spPr>
          <a:xfrm>
            <a:off x="8778240" y="4343400"/>
            <a:ext cx="2743200" cy="914400"/>
          </a:xfrm>
          <a:prstGeom prst="rect">
            <a:avLst/>
          </a:prstGeom>
          <a:noFill/>
          <a:ln/>
        </p:spPr>
        <p:txBody>
          <a:bodyPr wrap="square" rtlCol="0" anchor="ctr"/>
          <a:lstStyle/>
          <a:p>
            <a:pPr marL="0" indent="0">
              <a:lnSpc>
                <a:spcPts val="1300"/>
              </a:lnSpc>
              <a:buNone/>
            </a:pPr>
            <a:r>
              <a:rPr lang="en-US" sz="1050" i="1" dirty="0">
                <a:solidFill>
                  <a:srgbClr val="1A1A1A"/>
                </a:solidFill>
                <a:latin typeface="Calibri" pitchFamily="34" charset="0"/>
                <a:ea typeface="Calibri" pitchFamily="34" charset="-122"/>
                <a:cs typeface="Calibri" pitchFamily="34" charset="-120"/>
              </a:rPr>
              <a:t>remain below 15% internet users forecast without intervention, the gap to leaders widens further.</a:t>
            </a:r>
            <a:endParaRPr lang="en-US" sz="1050" dirty="0"/>
          </a:p>
        </p:txBody>
      </p:sp>
      <p:sp>
        <p:nvSpPr>
          <p:cNvPr id="13" name="Text 10"/>
          <p:cNvSpPr/>
          <p:nvPr/>
        </p:nvSpPr>
        <p:spPr>
          <a:xfrm>
            <a:off x="457200" y="5486400"/>
            <a:ext cx="11247120" cy="777240"/>
          </a:xfrm>
          <a:prstGeom prst="rect">
            <a:avLst/>
          </a:prstGeom>
          <a:noFill/>
          <a:ln/>
        </p:spPr>
        <p:txBody>
          <a:bodyPr wrap="square" rtlCol="0" anchor="ctr"/>
          <a:lstStyle/>
          <a:p>
            <a:pPr marL="0" indent="0">
              <a:lnSpc>
                <a:spcPts val="1500"/>
              </a:lnSpc>
              <a:buNone/>
            </a:pPr>
            <a:r>
              <a:rPr lang="en-US" sz="1150" b="1" dirty="0">
                <a:solidFill>
                  <a:srgbClr val="12283C"/>
                </a:solidFill>
                <a:latin typeface="Calibri" pitchFamily="34" charset="0"/>
                <a:ea typeface="Calibri" pitchFamily="34" charset="-122"/>
                <a:cs typeface="Calibri" pitchFamily="34" charset="-120"/>
              </a:rPr>
              <a:t>Statistical technique: Forecasting (Holt exponential smoothing): </a:t>
            </a:r>
            <a:r>
              <a:rPr lang="en-US" sz="1150" dirty="0">
                <a:solidFill>
                  <a:srgbClr val="1A1A1A"/>
                </a:solidFill>
                <a:latin typeface="Calibri" pitchFamily="34" charset="0"/>
                <a:ea typeface="Calibri" pitchFamily="34" charset="-122"/>
                <a:cs typeface="Calibri" pitchFamily="34" charset="-120"/>
              </a:rPr>
              <a:t>each country’s trend is projected to 2028. The vertical marker separates observed 2010–2024 data from the projection, showing that without intervention, the divide inside East Africa widens rather than narrows.</a:t>
            </a:r>
            <a:endParaRPr lang="en-US" sz="1150" dirty="0"/>
          </a:p>
        </p:txBody>
      </p:sp>
      <p:sp>
        <p:nvSpPr>
          <p:cNvPr id="14" name="Text 11"/>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5" name="Text 12"/>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83C"/>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RECOMMENDATIONS FOR EACO</a:t>
            </a:r>
            <a:endParaRPr lang="en-US" sz="1200" dirty="0"/>
          </a:p>
        </p:txBody>
      </p:sp>
      <p:sp>
        <p:nvSpPr>
          <p:cNvPr id="3" name="Text 1"/>
          <p:cNvSpPr/>
          <p:nvPr/>
        </p:nvSpPr>
        <p:spPr>
          <a:xfrm>
            <a:off x="548640" y="621792"/>
            <a:ext cx="1106424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Three Evidence-Based Policy Interventions</a:t>
            </a:r>
            <a:endParaRPr lang="en-US" sz="2800" dirty="0"/>
          </a:p>
        </p:txBody>
      </p:sp>
      <p:sp>
        <p:nvSpPr>
          <p:cNvPr id="4" name="Text 2"/>
          <p:cNvSpPr/>
          <p:nvPr/>
        </p:nvSpPr>
        <p:spPr>
          <a:xfrm>
            <a:off x="548640" y="1417320"/>
            <a:ext cx="1188720" cy="914400"/>
          </a:xfrm>
          <a:prstGeom prst="rect">
            <a:avLst/>
          </a:prstGeom>
          <a:noFill/>
          <a:ln/>
        </p:spPr>
        <p:txBody>
          <a:bodyPr wrap="square" rtlCol="0" anchor="ctr"/>
          <a:lstStyle/>
          <a:p>
            <a:pPr marL="0" indent="0">
              <a:buNone/>
            </a:pPr>
            <a:r>
              <a:rPr lang="en-US" sz="4000" b="1" dirty="0">
                <a:solidFill>
                  <a:srgbClr val="1C7293"/>
                </a:solidFill>
                <a:latin typeface="Cambria" pitchFamily="34" charset="0"/>
                <a:ea typeface="Cambria" pitchFamily="34" charset="-122"/>
                <a:cs typeface="Cambria" pitchFamily="34" charset="-120"/>
              </a:rPr>
              <a:t>01</a:t>
            </a:r>
            <a:endParaRPr lang="en-US" sz="4000" dirty="0"/>
          </a:p>
        </p:txBody>
      </p:sp>
      <p:sp>
        <p:nvSpPr>
          <p:cNvPr id="5" name="Text 3"/>
          <p:cNvSpPr/>
          <p:nvPr/>
        </p:nvSpPr>
        <p:spPr>
          <a:xfrm>
            <a:off x="1828800" y="1417320"/>
            <a:ext cx="9784080" cy="411480"/>
          </a:xfrm>
          <a:prstGeom prst="rect">
            <a:avLst/>
          </a:prstGeom>
          <a:noFill/>
          <a:ln/>
        </p:spPr>
        <p:txBody>
          <a:bodyPr wrap="square" rtlCol="0" anchor="ctr"/>
          <a:lstStyle/>
          <a:p>
            <a:pPr marL="0" indent="0">
              <a:buNone/>
            </a:pPr>
            <a:r>
              <a:rPr lang="en-US" sz="1650" b="1" dirty="0">
                <a:solidFill>
                  <a:srgbClr val="F4A300"/>
                </a:solidFill>
                <a:latin typeface="Cambria" pitchFamily="34" charset="0"/>
                <a:ea typeface="Cambria" pitchFamily="34" charset="-122"/>
                <a:cs typeface="Cambria" pitchFamily="34" charset="-120"/>
              </a:rPr>
              <a:t>Coordinate electrification with connectivity investment</a:t>
            </a:r>
            <a:endParaRPr lang="en-US" sz="1650" dirty="0"/>
          </a:p>
        </p:txBody>
      </p:sp>
      <p:sp>
        <p:nvSpPr>
          <p:cNvPr id="6" name="Text 4"/>
          <p:cNvSpPr/>
          <p:nvPr/>
        </p:nvSpPr>
        <p:spPr>
          <a:xfrm>
            <a:off x="1828800" y="1819656"/>
            <a:ext cx="9784080" cy="960120"/>
          </a:xfrm>
          <a:prstGeom prst="rect">
            <a:avLst/>
          </a:prstGeom>
          <a:noFill/>
          <a:ln/>
        </p:spPr>
        <p:txBody>
          <a:bodyPr wrap="square" rtlCol="0" anchor="ctr"/>
          <a:lstStyle/>
          <a:p>
            <a:pPr marL="0" indent="0">
              <a:lnSpc>
                <a:spcPts val="1500"/>
              </a:lnSpc>
              <a:buNone/>
            </a:pPr>
            <a:r>
              <a:rPr lang="en-US" sz="1150" dirty="0">
                <a:solidFill>
                  <a:srgbClr val="D6E2E8"/>
                </a:solidFill>
                <a:latin typeface="Calibri" pitchFamily="34" charset="0"/>
                <a:ea typeface="Calibri" pitchFamily="34" charset="-122"/>
                <a:cs typeface="Calibri" pitchFamily="34" charset="-120"/>
              </a:rPr>
              <a:t>High correlation between electricity access and internet use is r = 0.744 (p &lt; 0.001, n = 110); the OLS regression confirms electricity remains a significant predictor after controlling for mobile subscriptions. EACO should advocate joint energy–connectivity planning: fibre along grid extensions, solar-powered base stations off-grid.</a:t>
            </a:r>
            <a:endParaRPr lang="en-US" sz="1150" dirty="0"/>
          </a:p>
        </p:txBody>
      </p:sp>
      <p:sp>
        <p:nvSpPr>
          <p:cNvPr id="7" name="Text 5"/>
          <p:cNvSpPr/>
          <p:nvPr/>
        </p:nvSpPr>
        <p:spPr>
          <a:xfrm>
            <a:off x="548640" y="2953512"/>
            <a:ext cx="1188720" cy="914400"/>
          </a:xfrm>
          <a:prstGeom prst="rect">
            <a:avLst/>
          </a:prstGeom>
          <a:noFill/>
          <a:ln/>
        </p:spPr>
        <p:txBody>
          <a:bodyPr wrap="square" rtlCol="0" anchor="ctr"/>
          <a:lstStyle/>
          <a:p>
            <a:pPr marL="0" indent="0">
              <a:buNone/>
            </a:pPr>
            <a:r>
              <a:rPr lang="en-US" sz="4000" b="1" dirty="0">
                <a:solidFill>
                  <a:srgbClr val="1C7293"/>
                </a:solidFill>
                <a:latin typeface="Cambria" pitchFamily="34" charset="0"/>
                <a:ea typeface="Cambria" pitchFamily="34" charset="-122"/>
                <a:cs typeface="Cambria" pitchFamily="34" charset="-120"/>
              </a:rPr>
              <a:t>02</a:t>
            </a:r>
            <a:endParaRPr lang="en-US" sz="4000" dirty="0"/>
          </a:p>
        </p:txBody>
      </p:sp>
      <p:sp>
        <p:nvSpPr>
          <p:cNvPr id="8" name="Text 6"/>
          <p:cNvSpPr/>
          <p:nvPr/>
        </p:nvSpPr>
        <p:spPr>
          <a:xfrm>
            <a:off x="1828800" y="2953512"/>
            <a:ext cx="9784080" cy="411480"/>
          </a:xfrm>
          <a:prstGeom prst="rect">
            <a:avLst/>
          </a:prstGeom>
          <a:noFill/>
          <a:ln/>
        </p:spPr>
        <p:txBody>
          <a:bodyPr wrap="square" rtlCol="0" anchor="ctr"/>
          <a:lstStyle/>
          <a:p>
            <a:pPr marL="0" indent="0">
              <a:buNone/>
            </a:pPr>
            <a:r>
              <a:rPr lang="en-US" sz="1650" b="1" dirty="0">
                <a:solidFill>
                  <a:srgbClr val="F4A300"/>
                </a:solidFill>
                <a:latin typeface="Cambria" pitchFamily="34" charset="0"/>
                <a:ea typeface="Cambria" pitchFamily="34" charset="-122"/>
                <a:cs typeface="Cambria" pitchFamily="34" charset="-120"/>
              </a:rPr>
              <a:t>Review sector-specific taxes on data and devices</a:t>
            </a:r>
            <a:endParaRPr lang="en-US" sz="1650" dirty="0"/>
          </a:p>
        </p:txBody>
      </p:sp>
      <p:sp>
        <p:nvSpPr>
          <p:cNvPr id="9" name="Text 7"/>
          <p:cNvSpPr/>
          <p:nvPr/>
        </p:nvSpPr>
        <p:spPr>
          <a:xfrm>
            <a:off x="1828800" y="3355848"/>
            <a:ext cx="9784080" cy="960120"/>
          </a:xfrm>
          <a:prstGeom prst="rect">
            <a:avLst/>
          </a:prstGeom>
          <a:noFill/>
          <a:ln/>
        </p:spPr>
        <p:txBody>
          <a:bodyPr wrap="square" rtlCol="0" anchor="ctr"/>
          <a:lstStyle/>
          <a:p>
            <a:pPr marL="0" indent="0">
              <a:lnSpc>
                <a:spcPts val="1500"/>
              </a:lnSpc>
              <a:buNone/>
            </a:pPr>
            <a:r>
              <a:rPr lang="en-US" sz="1150" dirty="0">
                <a:solidFill>
                  <a:srgbClr val="D6E2E8"/>
                </a:solidFill>
                <a:latin typeface="Calibri" pitchFamily="34" charset="0"/>
                <a:ea typeface="Calibri" pitchFamily="34" charset="-122"/>
                <a:cs typeface="Calibri" pitchFamily="34" charset="-120"/>
              </a:rPr>
              <a:t>In every country, mobile subscriptions far exceed internet use; the largest gap is Tanzania at 95.4 points. Networks already reach far more people than use the internet, so the binding constraint is demand-side. Recommended: review sector-specific taxes on data and devices, and zero-rate essential education and health services.</a:t>
            </a:r>
            <a:endParaRPr lang="en-US" sz="1150" dirty="0"/>
          </a:p>
        </p:txBody>
      </p:sp>
      <p:sp>
        <p:nvSpPr>
          <p:cNvPr id="10" name="Text 8"/>
          <p:cNvSpPr/>
          <p:nvPr/>
        </p:nvSpPr>
        <p:spPr>
          <a:xfrm>
            <a:off x="548640" y="4489704"/>
            <a:ext cx="1188720" cy="914400"/>
          </a:xfrm>
          <a:prstGeom prst="rect">
            <a:avLst/>
          </a:prstGeom>
          <a:noFill/>
          <a:ln/>
        </p:spPr>
        <p:txBody>
          <a:bodyPr wrap="square" rtlCol="0" anchor="ctr"/>
          <a:lstStyle/>
          <a:p>
            <a:pPr marL="0" indent="0">
              <a:buNone/>
            </a:pPr>
            <a:r>
              <a:rPr lang="en-US" sz="4000" b="1" dirty="0">
                <a:solidFill>
                  <a:srgbClr val="1C7293"/>
                </a:solidFill>
                <a:latin typeface="Cambria" pitchFamily="34" charset="0"/>
                <a:ea typeface="Cambria" pitchFamily="34" charset="-122"/>
                <a:cs typeface="Cambria" pitchFamily="34" charset="-120"/>
              </a:rPr>
              <a:t>03</a:t>
            </a:r>
            <a:endParaRPr lang="en-US" sz="4000" dirty="0"/>
          </a:p>
        </p:txBody>
      </p:sp>
      <p:sp>
        <p:nvSpPr>
          <p:cNvPr id="11" name="Text 9"/>
          <p:cNvSpPr/>
          <p:nvPr/>
        </p:nvSpPr>
        <p:spPr>
          <a:xfrm>
            <a:off x="1828800" y="4489704"/>
            <a:ext cx="9784080" cy="411480"/>
          </a:xfrm>
          <a:prstGeom prst="rect">
            <a:avLst/>
          </a:prstGeom>
          <a:noFill/>
          <a:ln/>
        </p:spPr>
        <p:txBody>
          <a:bodyPr wrap="square" rtlCol="0" anchor="ctr"/>
          <a:lstStyle/>
          <a:p>
            <a:pPr marL="0" indent="0">
              <a:buNone/>
            </a:pPr>
            <a:r>
              <a:rPr lang="en-US" sz="1650" b="1" dirty="0">
                <a:solidFill>
                  <a:srgbClr val="F4A300"/>
                </a:solidFill>
                <a:latin typeface="Cambria" pitchFamily="34" charset="0"/>
                <a:ea typeface="Cambria" pitchFamily="34" charset="-122"/>
                <a:cs typeface="Cambria" pitchFamily="34" charset="-120"/>
              </a:rPr>
              <a:t>Target Universal Service Funds at the diverging countries</a:t>
            </a:r>
            <a:endParaRPr lang="en-US" sz="1650" dirty="0"/>
          </a:p>
        </p:txBody>
      </p:sp>
      <p:sp>
        <p:nvSpPr>
          <p:cNvPr id="12" name="Text 10"/>
          <p:cNvSpPr/>
          <p:nvPr/>
        </p:nvSpPr>
        <p:spPr>
          <a:xfrm>
            <a:off x="1828800" y="4892040"/>
            <a:ext cx="9784080" cy="960120"/>
          </a:xfrm>
          <a:prstGeom prst="rect">
            <a:avLst/>
          </a:prstGeom>
          <a:noFill/>
          <a:ln/>
        </p:spPr>
        <p:txBody>
          <a:bodyPr wrap="square" rtlCol="0" anchor="ctr"/>
          <a:lstStyle/>
          <a:p>
            <a:pPr marL="0" indent="0">
              <a:lnSpc>
                <a:spcPts val="1500"/>
              </a:lnSpc>
              <a:buNone/>
            </a:pPr>
            <a:r>
              <a:rPr lang="en-US" sz="1150" dirty="0">
                <a:solidFill>
                  <a:srgbClr val="D6E2E8"/>
                </a:solidFill>
                <a:latin typeface="Calibri" pitchFamily="34" charset="0"/>
                <a:ea typeface="Calibri" pitchFamily="34" charset="-122"/>
                <a:cs typeface="Calibri" pitchFamily="34" charset="-120"/>
              </a:rPr>
              <a:t>Holt forecasts show the region diverging by 2028: leaders (Kenya, Rwanda, Somalia, Tanzania) approach 40%+, while laggards (Burundi, South Sudan, Uganda) remain below 15%. Recommended: prioritise USF disbursement and infrastructure-sharing mandates in the lagging countries before the gap widens further.</a:t>
            </a:r>
            <a:endParaRPr lang="en-US" sz="1150" dirty="0"/>
          </a:p>
        </p:txBody>
      </p:sp>
      <p:sp>
        <p:nvSpPr>
          <p:cNvPr id="13" name="Text 11"/>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14" name="Text 12"/>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566928"/>
            <a:ext cx="11247120" cy="594360"/>
          </a:xfrm>
          <a:prstGeom prst="rect">
            <a:avLst/>
          </a:prstGeom>
          <a:noFill/>
          <a:ln/>
        </p:spPr>
        <p:txBody>
          <a:bodyPr wrap="square" rtlCol="0" anchor="ctr"/>
          <a:lstStyle/>
          <a:p>
            <a:pPr marL="0" indent="0">
              <a:buNone/>
            </a:pPr>
            <a:r>
              <a:rPr lang="en-US" sz="3000" b="1" dirty="0">
                <a:solidFill>
                  <a:srgbClr val="12283C"/>
                </a:solidFill>
                <a:latin typeface="Cambria" pitchFamily="34" charset="0"/>
                <a:ea typeface="Cambria" pitchFamily="34" charset="-122"/>
                <a:cs typeface="Cambria" pitchFamily="34" charset="-120"/>
              </a:rPr>
              <a:t>EXECUTIVE SUMMARY</a:t>
            </a:r>
          </a:p>
        </p:txBody>
      </p:sp>
      <p:sp>
        <p:nvSpPr>
          <p:cNvPr id="4" name="Shape 2"/>
          <p:cNvSpPr/>
          <p:nvPr/>
        </p:nvSpPr>
        <p:spPr>
          <a:xfrm>
            <a:off x="457200" y="1463040"/>
            <a:ext cx="54864" cy="1325880"/>
          </a:xfrm>
          <a:prstGeom prst="rect">
            <a:avLst/>
          </a:prstGeom>
          <a:solidFill>
            <a:srgbClr val="F4A300"/>
          </a:solidFill>
          <a:ln/>
        </p:spPr>
        <p:txBody>
          <a:bodyPr/>
          <a:lstStyle/>
          <a:p>
            <a:endParaRPr lang="en-KE"/>
          </a:p>
        </p:txBody>
      </p:sp>
      <p:sp>
        <p:nvSpPr>
          <p:cNvPr id="5" name="Text 3"/>
          <p:cNvSpPr/>
          <p:nvPr/>
        </p:nvSpPr>
        <p:spPr>
          <a:xfrm>
            <a:off x="685800" y="1417320"/>
            <a:ext cx="5394960" cy="36576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Growth leader</a:t>
            </a:r>
            <a:endParaRPr lang="en-US" sz="1450" dirty="0"/>
          </a:p>
        </p:txBody>
      </p:sp>
      <p:sp>
        <p:nvSpPr>
          <p:cNvPr id="6" name="Text 4"/>
          <p:cNvSpPr/>
          <p:nvPr/>
        </p:nvSpPr>
        <p:spPr>
          <a:xfrm>
            <a:off x="685800" y="1783080"/>
            <a:ext cx="5394960" cy="1005840"/>
          </a:xfrm>
          <a:prstGeom prst="rect">
            <a:avLst/>
          </a:prstGeom>
          <a:noFill/>
          <a:ln/>
        </p:spPr>
        <p:txBody>
          <a:bodyPr wrap="square" rtlCol="0" anchor="ctr"/>
          <a:lstStyle/>
          <a:p>
            <a:pPr marL="0" indent="0">
              <a:lnSpc>
                <a:spcPts val="1500"/>
              </a:lnSpc>
              <a:buNone/>
            </a:pPr>
            <a:r>
              <a:rPr lang="en-US" sz="1100" dirty="0">
                <a:solidFill>
                  <a:srgbClr val="1A1A1A"/>
                </a:solidFill>
                <a:latin typeface="Calibri" pitchFamily="34" charset="0"/>
                <a:ea typeface="Calibri" pitchFamily="34" charset="-122"/>
                <a:cs typeface="Calibri" pitchFamily="34" charset="-120"/>
              </a:rPr>
              <a:t>Tanzania grew fastest in absolute terms (+28.3 pp); Ethiopia grew fastest relatively (27.3% CAGR) from a near-zero base.</a:t>
            </a:r>
            <a:endParaRPr lang="en-US" sz="1100" dirty="0"/>
          </a:p>
        </p:txBody>
      </p:sp>
      <p:sp>
        <p:nvSpPr>
          <p:cNvPr id="7" name="Shape 5"/>
          <p:cNvSpPr/>
          <p:nvPr/>
        </p:nvSpPr>
        <p:spPr>
          <a:xfrm>
            <a:off x="6263640" y="1463040"/>
            <a:ext cx="54864" cy="1325880"/>
          </a:xfrm>
          <a:prstGeom prst="rect">
            <a:avLst/>
          </a:prstGeom>
          <a:solidFill>
            <a:srgbClr val="F4A300"/>
          </a:solidFill>
          <a:ln/>
        </p:spPr>
        <p:txBody>
          <a:bodyPr/>
          <a:lstStyle/>
          <a:p>
            <a:endParaRPr lang="en-KE"/>
          </a:p>
        </p:txBody>
      </p:sp>
      <p:sp>
        <p:nvSpPr>
          <p:cNvPr id="8" name="Text 6"/>
          <p:cNvSpPr/>
          <p:nvPr/>
        </p:nvSpPr>
        <p:spPr>
          <a:xfrm>
            <a:off x="6492240" y="1417320"/>
            <a:ext cx="5394960" cy="36576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Mobile &gt; internet, everywhere</a:t>
            </a:r>
            <a:endParaRPr lang="en-US" sz="1450" dirty="0"/>
          </a:p>
        </p:txBody>
      </p:sp>
      <p:sp>
        <p:nvSpPr>
          <p:cNvPr id="9" name="Text 7"/>
          <p:cNvSpPr/>
          <p:nvPr/>
        </p:nvSpPr>
        <p:spPr>
          <a:xfrm>
            <a:off x="6492240" y="1783080"/>
            <a:ext cx="5394960" cy="1005840"/>
          </a:xfrm>
          <a:prstGeom prst="rect">
            <a:avLst/>
          </a:prstGeom>
          <a:noFill/>
          <a:ln/>
        </p:spPr>
        <p:txBody>
          <a:bodyPr wrap="square" rtlCol="0" anchor="ctr"/>
          <a:lstStyle/>
          <a:p>
            <a:pPr marL="0" indent="0">
              <a:lnSpc>
                <a:spcPts val="1500"/>
              </a:lnSpc>
              <a:buNone/>
            </a:pPr>
            <a:r>
              <a:rPr lang="en-US" sz="1100" dirty="0">
                <a:solidFill>
                  <a:srgbClr val="1A1A1A"/>
                </a:solidFill>
                <a:latin typeface="Calibri" pitchFamily="34" charset="0"/>
                <a:ea typeface="Calibri" pitchFamily="34" charset="-122"/>
                <a:cs typeface="Calibri" pitchFamily="34" charset="-120"/>
              </a:rPr>
              <a:t>Mobile reach outstrips internet use in all 8 countries; demand-side barriers, not coverage, are the constraint.</a:t>
            </a:r>
            <a:endParaRPr lang="en-US" sz="1100" dirty="0"/>
          </a:p>
        </p:txBody>
      </p:sp>
      <p:sp>
        <p:nvSpPr>
          <p:cNvPr id="10" name="Shape 8"/>
          <p:cNvSpPr/>
          <p:nvPr/>
        </p:nvSpPr>
        <p:spPr>
          <a:xfrm>
            <a:off x="457200" y="3035808"/>
            <a:ext cx="54864" cy="1325880"/>
          </a:xfrm>
          <a:prstGeom prst="rect">
            <a:avLst/>
          </a:prstGeom>
          <a:solidFill>
            <a:srgbClr val="F4A300"/>
          </a:solidFill>
          <a:ln/>
        </p:spPr>
        <p:txBody>
          <a:bodyPr/>
          <a:lstStyle/>
          <a:p>
            <a:endParaRPr lang="en-KE"/>
          </a:p>
        </p:txBody>
      </p:sp>
      <p:sp>
        <p:nvSpPr>
          <p:cNvPr id="11" name="Text 9"/>
          <p:cNvSpPr/>
          <p:nvPr/>
        </p:nvSpPr>
        <p:spPr>
          <a:xfrm>
            <a:off x="685800" y="2990088"/>
            <a:ext cx="5394960" cy="36576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Electricity matters</a:t>
            </a:r>
            <a:endParaRPr lang="en-US" sz="1450" dirty="0"/>
          </a:p>
        </p:txBody>
      </p:sp>
      <p:sp>
        <p:nvSpPr>
          <p:cNvPr id="12" name="Text 10"/>
          <p:cNvSpPr/>
          <p:nvPr/>
        </p:nvSpPr>
        <p:spPr>
          <a:xfrm>
            <a:off x="685800" y="3355848"/>
            <a:ext cx="5394960" cy="1005840"/>
          </a:xfrm>
          <a:prstGeom prst="rect">
            <a:avLst/>
          </a:prstGeom>
          <a:noFill/>
          <a:ln/>
        </p:spPr>
        <p:txBody>
          <a:bodyPr wrap="square" rtlCol="0" anchor="ctr"/>
          <a:lstStyle/>
          <a:p>
            <a:pPr marL="0" indent="0">
              <a:lnSpc>
                <a:spcPts val="1500"/>
              </a:lnSpc>
              <a:buNone/>
            </a:pPr>
            <a:r>
              <a:rPr lang="en-US" sz="1100" dirty="0">
                <a:solidFill>
                  <a:srgbClr val="1A1A1A"/>
                </a:solidFill>
                <a:latin typeface="Calibri" pitchFamily="34" charset="0"/>
                <a:ea typeface="Calibri" pitchFamily="34" charset="-122"/>
                <a:cs typeface="Calibri" pitchFamily="34" charset="-120"/>
              </a:rPr>
              <a:t>Electricity access predicts internet use (r = 0.744, R² = 0.715) even after controlling for mobile penetration.</a:t>
            </a:r>
            <a:endParaRPr lang="en-US" sz="1100" dirty="0"/>
          </a:p>
        </p:txBody>
      </p:sp>
      <p:sp>
        <p:nvSpPr>
          <p:cNvPr id="13" name="Shape 11"/>
          <p:cNvSpPr/>
          <p:nvPr/>
        </p:nvSpPr>
        <p:spPr>
          <a:xfrm>
            <a:off x="6263640" y="3035808"/>
            <a:ext cx="54864" cy="1325880"/>
          </a:xfrm>
          <a:prstGeom prst="rect">
            <a:avLst/>
          </a:prstGeom>
          <a:solidFill>
            <a:srgbClr val="F4A300"/>
          </a:solidFill>
          <a:ln/>
        </p:spPr>
        <p:txBody>
          <a:bodyPr/>
          <a:lstStyle/>
          <a:p>
            <a:endParaRPr lang="en-KE"/>
          </a:p>
        </p:txBody>
      </p:sp>
      <p:sp>
        <p:nvSpPr>
          <p:cNvPr id="14" name="Text 12"/>
          <p:cNvSpPr/>
          <p:nvPr/>
        </p:nvSpPr>
        <p:spPr>
          <a:xfrm>
            <a:off x="6492240" y="2990088"/>
            <a:ext cx="5394960" cy="36576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Widest gap</a:t>
            </a:r>
            <a:endParaRPr lang="en-US" sz="1450" dirty="0"/>
          </a:p>
        </p:txBody>
      </p:sp>
      <p:sp>
        <p:nvSpPr>
          <p:cNvPr id="15" name="Text 13"/>
          <p:cNvSpPr/>
          <p:nvPr/>
        </p:nvSpPr>
        <p:spPr>
          <a:xfrm>
            <a:off x="6492240" y="3355848"/>
            <a:ext cx="5394960" cy="1005840"/>
          </a:xfrm>
          <a:prstGeom prst="rect">
            <a:avLst/>
          </a:prstGeom>
          <a:noFill/>
          <a:ln/>
        </p:spPr>
        <p:txBody>
          <a:bodyPr wrap="square" rtlCol="0" anchor="ctr"/>
          <a:lstStyle/>
          <a:p>
            <a:pPr marL="0" indent="0">
              <a:lnSpc>
                <a:spcPts val="1500"/>
              </a:lnSpc>
              <a:buNone/>
            </a:pPr>
            <a:r>
              <a:rPr lang="en-US" sz="1100" dirty="0">
                <a:solidFill>
                  <a:srgbClr val="1A1A1A"/>
                </a:solidFill>
                <a:latin typeface="Calibri" pitchFamily="34" charset="0"/>
                <a:ea typeface="Calibri" pitchFamily="34" charset="-122"/>
                <a:cs typeface="Calibri" pitchFamily="34" charset="-120"/>
              </a:rPr>
              <a:t>Tanzania has the largest mobile–internet adoption gap (95.4 points), followed by Kenya (91.5 points).</a:t>
            </a:r>
            <a:endParaRPr lang="en-US" sz="1100" dirty="0"/>
          </a:p>
        </p:txBody>
      </p:sp>
      <p:sp>
        <p:nvSpPr>
          <p:cNvPr id="16" name="Shape 14"/>
          <p:cNvSpPr/>
          <p:nvPr/>
        </p:nvSpPr>
        <p:spPr>
          <a:xfrm>
            <a:off x="457200" y="4608576"/>
            <a:ext cx="54864" cy="1325880"/>
          </a:xfrm>
          <a:prstGeom prst="rect">
            <a:avLst/>
          </a:prstGeom>
          <a:solidFill>
            <a:srgbClr val="F4A300"/>
          </a:solidFill>
          <a:ln/>
        </p:spPr>
        <p:txBody>
          <a:bodyPr/>
          <a:lstStyle/>
          <a:p>
            <a:endParaRPr lang="en-KE"/>
          </a:p>
        </p:txBody>
      </p:sp>
      <p:sp>
        <p:nvSpPr>
          <p:cNvPr id="17" name="Text 15"/>
          <p:cNvSpPr/>
          <p:nvPr/>
        </p:nvSpPr>
        <p:spPr>
          <a:xfrm>
            <a:off x="685800" y="4562856"/>
            <a:ext cx="5394960" cy="36576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Kenya leads</a:t>
            </a:r>
            <a:endParaRPr lang="en-US" sz="1450" dirty="0"/>
          </a:p>
        </p:txBody>
      </p:sp>
      <p:sp>
        <p:nvSpPr>
          <p:cNvPr id="18" name="Text 16"/>
          <p:cNvSpPr/>
          <p:nvPr/>
        </p:nvSpPr>
        <p:spPr>
          <a:xfrm>
            <a:off x="685800" y="4928616"/>
            <a:ext cx="5394960" cy="1005840"/>
          </a:xfrm>
          <a:prstGeom prst="rect">
            <a:avLst/>
          </a:prstGeom>
          <a:noFill/>
          <a:ln/>
        </p:spPr>
        <p:txBody>
          <a:bodyPr wrap="square" rtlCol="0" anchor="ctr"/>
          <a:lstStyle/>
          <a:p>
            <a:pPr marL="0" indent="0">
              <a:lnSpc>
                <a:spcPts val="1500"/>
              </a:lnSpc>
              <a:buNone/>
            </a:pPr>
            <a:r>
              <a:rPr lang="en-US" sz="1100" dirty="0">
                <a:solidFill>
                  <a:srgbClr val="1A1A1A"/>
                </a:solidFill>
                <a:latin typeface="Calibri" pitchFamily="34" charset="0"/>
                <a:ea typeface="Calibri" pitchFamily="34" charset="-122"/>
                <a:cs typeface="Calibri" pitchFamily="34" charset="-120"/>
              </a:rPr>
              <a:t>Kenya ranks #1 in internet use and electricity access, and #2 in mobile subscriptions — a regional benchmark.</a:t>
            </a:r>
            <a:endParaRPr lang="en-US" sz="1100" dirty="0"/>
          </a:p>
        </p:txBody>
      </p:sp>
      <p:sp>
        <p:nvSpPr>
          <p:cNvPr id="19" name="Shape 17"/>
          <p:cNvSpPr/>
          <p:nvPr/>
        </p:nvSpPr>
        <p:spPr>
          <a:xfrm>
            <a:off x="6263640" y="4608576"/>
            <a:ext cx="54864" cy="1325880"/>
          </a:xfrm>
          <a:prstGeom prst="rect">
            <a:avLst/>
          </a:prstGeom>
          <a:solidFill>
            <a:srgbClr val="F4A300"/>
          </a:solidFill>
          <a:ln/>
        </p:spPr>
        <p:txBody>
          <a:bodyPr/>
          <a:lstStyle/>
          <a:p>
            <a:endParaRPr lang="en-KE"/>
          </a:p>
        </p:txBody>
      </p:sp>
      <p:sp>
        <p:nvSpPr>
          <p:cNvPr id="20" name="Text 18"/>
          <p:cNvSpPr/>
          <p:nvPr/>
        </p:nvSpPr>
        <p:spPr>
          <a:xfrm>
            <a:off x="6492240" y="4562856"/>
            <a:ext cx="5394960" cy="365760"/>
          </a:xfrm>
          <a:prstGeom prst="rect">
            <a:avLst/>
          </a:prstGeom>
          <a:noFill/>
          <a:ln/>
        </p:spPr>
        <p:txBody>
          <a:bodyPr wrap="square" rtlCol="0" anchor="ctr"/>
          <a:lstStyle/>
          <a:p>
            <a:pPr marL="0" indent="0">
              <a:buNone/>
            </a:pPr>
            <a:r>
              <a:rPr lang="en-US" sz="1450" b="1" dirty="0">
                <a:solidFill>
                  <a:srgbClr val="12283C"/>
                </a:solidFill>
                <a:latin typeface="Cambria" pitchFamily="34" charset="0"/>
                <a:ea typeface="Cambria" pitchFamily="34" charset="-122"/>
                <a:cs typeface="Cambria" pitchFamily="34" charset="-120"/>
              </a:rPr>
              <a:t>Divide widening</a:t>
            </a:r>
            <a:endParaRPr lang="en-US" sz="1450" dirty="0"/>
          </a:p>
        </p:txBody>
      </p:sp>
      <p:sp>
        <p:nvSpPr>
          <p:cNvPr id="21" name="Text 19"/>
          <p:cNvSpPr/>
          <p:nvPr/>
        </p:nvSpPr>
        <p:spPr>
          <a:xfrm>
            <a:off x="6492240" y="4928616"/>
            <a:ext cx="5394960" cy="1005840"/>
          </a:xfrm>
          <a:prstGeom prst="rect">
            <a:avLst/>
          </a:prstGeom>
          <a:noFill/>
          <a:ln/>
        </p:spPr>
        <p:txBody>
          <a:bodyPr wrap="square" rtlCol="0" anchor="ctr"/>
          <a:lstStyle/>
          <a:p>
            <a:pPr marL="0" indent="0">
              <a:lnSpc>
                <a:spcPts val="1500"/>
              </a:lnSpc>
              <a:buNone/>
            </a:pPr>
            <a:r>
              <a:rPr lang="en-US" sz="1100" dirty="0">
                <a:solidFill>
                  <a:srgbClr val="1A1A1A"/>
                </a:solidFill>
                <a:latin typeface="Calibri" pitchFamily="34" charset="0"/>
                <a:ea typeface="Calibri" pitchFamily="34" charset="-122"/>
                <a:cs typeface="Calibri" pitchFamily="34" charset="-120"/>
              </a:rPr>
              <a:t>Absent intervention, Holt forecasts show leaders approaching 40%+ internet use by 2028 while laggards stay below 15%.</a:t>
            </a:r>
            <a:endParaRPr lang="en-US" sz="1100" dirty="0"/>
          </a:p>
        </p:txBody>
      </p:sp>
      <p:sp>
        <p:nvSpPr>
          <p:cNvPr id="22" name="Text 20"/>
          <p:cNvSpPr/>
          <p:nvPr/>
        </p:nvSpPr>
        <p:spPr>
          <a:xfrm>
            <a:off x="457200" y="6565392"/>
            <a:ext cx="7315200" cy="256032"/>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EACO — Digital Transformation &amp; Inclusion in East Africa</a:t>
            </a:r>
            <a:endParaRPr lang="en-US" sz="900" dirty="0"/>
          </a:p>
        </p:txBody>
      </p:sp>
      <p:sp>
        <p:nvSpPr>
          <p:cNvPr id="23" name="Text 21"/>
          <p:cNvSpPr/>
          <p:nvPr/>
        </p:nvSpPr>
        <p:spPr>
          <a:xfrm>
            <a:off x="11521440" y="6565392"/>
            <a:ext cx="36576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1983</Words>
  <Application>Microsoft Office PowerPoint</Application>
  <PresentationFormat>Widescreen</PresentationFormat>
  <Paragraphs>272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Aldhabi</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David Irungu</cp:lastModifiedBy>
  <cp:revision>2</cp:revision>
  <dcterms:created xsi:type="dcterms:W3CDTF">2026-08-17T10:11:03Z</dcterms:created>
  <dcterms:modified xsi:type="dcterms:W3CDTF">2026-08-17T12:54:54Z</dcterms:modified>
</cp:coreProperties>
</file>