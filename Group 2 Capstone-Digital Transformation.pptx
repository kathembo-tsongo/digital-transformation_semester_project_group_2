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40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851F2C-3EBE-4F7E-88EA-52D6D5418D76}" v="2" dt="2026-08-17T09:00:35.3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8" y="52"/>
      </p:cViewPr>
      <p:guideLst>
        <p:guide orient="horz" pos="2160"/>
        <p:guide pos="406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60120" y="4462629"/>
            <a:ext cx="969900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600" dirty="0"/>
              <a:t>Data Analytics &amp; Visualization Capstone</a:t>
            </a:r>
          </a:p>
          <a:p>
            <a:pPr>
              <a:defRPr sz="1100">
                <a:solidFill>
                  <a:srgbClr val="CDDCE1"/>
                </a:solidFill>
              </a:defRPr>
            </a:pPr>
            <a:r>
              <a:rPr sz="1600" dirty="0"/>
              <a:t>World Bank Indicators API | 2010–2024 | Kenya • Uganda • Tanzania • Rwanda • Burundi • Somalia • South Sudan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274F4D9-E040-9BC9-4E87-B1F4F5FE6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6982" y="763179"/>
            <a:ext cx="10722429" cy="2300061"/>
          </a:xfrm>
        </p:spPr>
        <p:txBody>
          <a:bodyPr>
            <a:norm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Digital Transformation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dirty="0">
                <a:solidFill>
                  <a:schemeClr val="tx2"/>
                </a:solidFill>
              </a:rPr>
              <a:t>and Inclusion in East Africa</a:t>
            </a:r>
            <a:br>
              <a:rPr lang="en-US" dirty="0">
                <a:solidFill>
                  <a:schemeClr val="tx2"/>
                </a:solidFill>
              </a:rPr>
            </a:br>
            <a:endParaRPr lang="en-KE" dirty="0">
              <a:solidFill>
                <a:schemeClr val="tx2"/>
              </a:solidFill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A444BC0D-62D2-BE39-237A-4234ECCD6A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5394" y="2749520"/>
            <a:ext cx="10526486" cy="1649186"/>
          </a:xfrm>
        </p:spPr>
        <p:txBody>
          <a:bodyPr>
            <a:normAutofit/>
          </a:bodyPr>
          <a:lstStyle/>
          <a:p>
            <a:r>
              <a:rPr lang="en-US" dirty="0"/>
              <a:t>An API-driven data analytics assessment for the East African </a:t>
            </a:r>
            <a:r>
              <a:rPr lang="en-US"/>
              <a:t>Communications Organization </a:t>
            </a:r>
            <a:r>
              <a:rPr lang="en-US" dirty="0"/>
              <a:t>(EACO)</a:t>
            </a:r>
            <a:br>
              <a:rPr lang="en-US" dirty="0"/>
            </a:br>
            <a:r>
              <a:rPr lang="en-US" dirty="0"/>
              <a:t>Group 2</a:t>
            </a:r>
            <a:endParaRPr lang="en-K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201266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04A"/>
                </a:solidFill>
              </a:defRPr>
            </a:pPr>
            <a:r>
              <a:rPr dirty="0"/>
              <a:t>The </a:t>
            </a:r>
            <a:r>
              <a:rPr lang="en-US" dirty="0"/>
              <a:t>Problem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What EACO needs to know to target digital-inclusion investment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94960" cy="443484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8304A"/>
                </a:solidFill>
              </a:defRPr>
            </a:pPr>
            <a:r>
              <a:rPr sz="2400" dirty="0">
                <a:latin typeface="Aldhabi" panose="01000000000000000000" pitchFamily="2" charset="-78"/>
                <a:cs typeface="Aldhabi" panose="01000000000000000000" pitchFamily="2" charset="-78"/>
              </a:rPr>
              <a:t>Client question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rPr sz="2400" dirty="0">
                <a:latin typeface="Aldhabi" panose="01000000000000000000" pitchFamily="2" charset="-78"/>
                <a:cs typeface="Aldhabi" panose="01000000000000000000" pitchFamily="2" charset="-78"/>
              </a:rPr>
              <a:t>• Digital access has expanded across East Africa, but adoption remains uneven.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rPr sz="2400" dirty="0">
                <a:latin typeface="Aldhabi" panose="01000000000000000000" pitchFamily="2" charset="-78"/>
                <a:cs typeface="Aldhabi" panose="01000000000000000000" pitchFamily="2" charset="-78"/>
              </a:rPr>
              <a:t>• EACO needs comparable evidence across countries and over time.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rPr sz="2400" dirty="0">
                <a:latin typeface="Aldhabi" panose="01000000000000000000" pitchFamily="2" charset="-78"/>
                <a:cs typeface="Aldhabi" panose="01000000000000000000" pitchFamily="2" charset="-78"/>
              </a:rPr>
              <a:t>• The analysis focuses on internet adoption, mobile connectivity and electricity access.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rPr sz="2400" dirty="0">
                <a:latin typeface="Aldhabi" panose="01000000000000000000" pitchFamily="2" charset="-78"/>
                <a:cs typeface="Aldhabi" panose="01000000000000000000" pitchFamily="2" charset="-78"/>
              </a:rPr>
              <a:t>• The objective is to identify where the largest digital-inclusion gaps remain and what policy actions should be prioritized.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99032"/>
            <a:ext cx="5303520" cy="4453128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8304A"/>
                </a:solidFill>
              </a:defRPr>
            </a:pPr>
            <a:r>
              <a:rPr sz="2400" dirty="0">
                <a:latin typeface="Aldhabi" panose="01000000000000000000" pitchFamily="2" charset="-78"/>
                <a:cs typeface="Aldhabi" panose="01000000000000000000" pitchFamily="2" charset="-78"/>
              </a:rPr>
              <a:t>Six analytical questions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rPr sz="2400" dirty="0">
                <a:latin typeface="Aldhabi" panose="01000000000000000000" pitchFamily="2" charset="-78"/>
                <a:cs typeface="Aldhabi" panose="01000000000000000000" pitchFamily="2" charset="-78"/>
              </a:rPr>
              <a:t>• Which country experienced the highest growth in internet users from 2010 to 2024?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rPr sz="2400" dirty="0">
                <a:latin typeface="Aldhabi" panose="01000000000000000000" pitchFamily="2" charset="-78"/>
                <a:cs typeface="Aldhabi" panose="01000000000000000000" pitchFamily="2" charset="-78"/>
              </a:rPr>
              <a:t>• How does internet penetration compare with mobile subscriptions?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rPr sz="2400" dirty="0">
                <a:latin typeface="Aldhabi" panose="01000000000000000000" pitchFamily="2" charset="-78"/>
                <a:cs typeface="Aldhabi" panose="01000000000000000000" pitchFamily="2" charset="-78"/>
              </a:rPr>
              <a:t>• Is electricity access associated with internet usage?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rPr sz="2400" dirty="0">
                <a:latin typeface="Aldhabi" panose="01000000000000000000" pitchFamily="2" charset="-78"/>
                <a:cs typeface="Aldhabi" panose="01000000000000000000" pitchFamily="2" charset="-78"/>
              </a:rPr>
              <a:t>• Which country has the largest mobile–internet gap?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rPr sz="2400" dirty="0">
                <a:latin typeface="Aldhabi" panose="01000000000000000000" pitchFamily="2" charset="-78"/>
                <a:cs typeface="Aldhabi" panose="01000000000000000000" pitchFamily="2" charset="-78"/>
              </a:rPr>
              <a:t>• How does Kenya compare with the regional picture?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rPr sz="2400" dirty="0">
                <a:latin typeface="Aldhabi" panose="01000000000000000000" pitchFamily="2" charset="-78"/>
                <a:cs typeface="Aldhabi" panose="01000000000000000000" pitchFamily="2" charset="-78"/>
              </a:rPr>
              <a:t>• Which three interventions should EACO prioritize?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7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Source: World Bank Indicators API | Analysis: Python/Google Colab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04A"/>
                </a:solidFill>
              </a:defRPr>
            </a:pPr>
            <a:r>
              <a:t>Data and analytical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1737360" cy="1234440"/>
          </a:xfrm>
          <a:prstGeom prst="roundRect">
            <a:avLst/>
          </a:prstGeom>
          <a:solidFill>
            <a:srgbClr val="F2F6F8"/>
          </a:solidFill>
          <a:ln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7882"/>
                </a:solidFill>
              </a:defRPr>
            </a:pPr>
            <a:r>
              <a:t>1</a:t>
            </a:r>
          </a:p>
          <a:p>
            <a:pPr algn="ctr">
              <a:defRPr sz="1200" b="1">
                <a:solidFill>
                  <a:srgbClr val="2D3741"/>
                </a:solidFill>
              </a:defRPr>
            </a:pPr>
            <a:r>
              <a:t>API</a:t>
            </a:r>
            <a:br/>
            <a:r>
              <a:t>acquisition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79" y="1828800"/>
            <a:ext cx="1737360" cy="1234440"/>
          </a:xfrm>
          <a:prstGeom prst="roundRect">
            <a:avLst/>
          </a:prstGeom>
          <a:solidFill>
            <a:srgbClr val="F2F6F8"/>
          </a:solidFill>
          <a:ln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7882"/>
                </a:solidFill>
              </a:defRPr>
            </a:pPr>
            <a:r>
              <a:t>2</a:t>
            </a:r>
          </a:p>
          <a:p>
            <a:pPr algn="ctr">
              <a:defRPr sz="1200" b="1">
                <a:solidFill>
                  <a:srgbClr val="2D3741"/>
                </a:solidFill>
              </a:defRPr>
            </a:pPr>
            <a:r>
              <a:t>Raw</a:t>
            </a:r>
            <a:br/>
            <a:r>
              <a:t>JSON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28800"/>
            <a:ext cx="1737360" cy="1234440"/>
          </a:xfrm>
          <a:prstGeom prst="roundRect">
            <a:avLst/>
          </a:prstGeom>
          <a:solidFill>
            <a:srgbClr val="F2F6F8"/>
          </a:solidFill>
          <a:ln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7882"/>
                </a:solidFill>
              </a:defRPr>
            </a:pPr>
            <a:r>
              <a:t>3</a:t>
            </a:r>
          </a:p>
          <a:p>
            <a:pPr algn="ctr">
              <a:defRPr sz="1200" b="1">
                <a:solidFill>
                  <a:srgbClr val="2D3741"/>
                </a:solidFill>
              </a:defRPr>
            </a:pPr>
            <a:r>
              <a:t>Quality</a:t>
            </a:r>
            <a:br/>
            <a:r>
              <a:t>assessment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1737360" cy="1234440"/>
          </a:xfrm>
          <a:prstGeom prst="roundRect">
            <a:avLst/>
          </a:prstGeom>
          <a:solidFill>
            <a:srgbClr val="F2F6F8"/>
          </a:solidFill>
          <a:ln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7882"/>
                </a:solidFill>
              </a:defRPr>
            </a:pPr>
            <a:r>
              <a:t>4</a:t>
            </a:r>
          </a:p>
          <a:p>
            <a:pPr algn="ctr">
              <a:defRPr sz="1200" b="1">
                <a:solidFill>
                  <a:srgbClr val="2D3741"/>
                </a:solidFill>
              </a:defRPr>
            </a:pPr>
            <a:r>
              <a:t>Cleaning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828800"/>
            <a:ext cx="1737360" cy="1234440"/>
          </a:xfrm>
          <a:prstGeom prst="roundRect">
            <a:avLst/>
          </a:prstGeom>
          <a:solidFill>
            <a:srgbClr val="F2F6F8"/>
          </a:solidFill>
          <a:ln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7882"/>
                </a:solidFill>
              </a:defRPr>
            </a:pPr>
            <a:r>
              <a:t>5</a:t>
            </a:r>
          </a:p>
          <a:p>
            <a:pPr algn="ctr">
              <a:defRPr sz="1200" b="1">
                <a:solidFill>
                  <a:srgbClr val="2D3741"/>
                </a:solidFill>
              </a:defRPr>
            </a:pPr>
            <a:r>
              <a:t>Statistical</a:t>
            </a:r>
            <a:br/>
            <a:r>
              <a:t>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1828800"/>
            <a:ext cx="1737360" cy="1234440"/>
          </a:xfrm>
          <a:prstGeom prst="roundRect">
            <a:avLst/>
          </a:prstGeom>
          <a:solidFill>
            <a:srgbClr val="F2F6F8"/>
          </a:solidFill>
          <a:ln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7882"/>
                </a:solidFill>
              </a:defRPr>
            </a:pPr>
            <a:r>
              <a:t>6</a:t>
            </a:r>
          </a:p>
          <a:p>
            <a:pPr algn="ctr">
              <a:defRPr sz="1200" b="1">
                <a:solidFill>
                  <a:srgbClr val="2D3741"/>
                </a:solidFill>
              </a:defRPr>
            </a:pPr>
            <a:r>
              <a:t>Visualisation &amp;</a:t>
            </a:r>
            <a:br/>
            <a:r>
              <a:t>recommendations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5194663" cy="3072384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8304A"/>
                </a:solidFill>
              </a:defRPr>
            </a:pPr>
            <a:r>
              <a:rPr sz="2400">
                <a:latin typeface="Aldhabi" panose="01000000000000000000" pitchFamily="2" charset="-78"/>
                <a:cs typeface="Aldhabi" panose="01000000000000000000" pitchFamily="2" charset="-78"/>
              </a:rPr>
              <a:t>Dataset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rPr sz="2400">
                <a:latin typeface="Aldhabi" panose="01000000000000000000" pitchFamily="2" charset="-78"/>
                <a:cs typeface="Aldhabi" panose="01000000000000000000" pitchFamily="2" charset="-78"/>
              </a:rPr>
              <a:t>• 7 EAC countries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rPr sz="2400">
                <a:latin typeface="Aldhabi" panose="01000000000000000000" pitchFamily="2" charset="-78"/>
                <a:cs typeface="Aldhabi" panose="01000000000000000000" pitchFamily="2" charset="-78"/>
              </a:rPr>
              <a:t>• 2010–2024 analytical period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rPr sz="2400">
                <a:latin typeface="Aldhabi" panose="01000000000000000000" pitchFamily="2" charset="-78"/>
                <a:cs typeface="Aldhabi" panose="01000000000000000000" pitchFamily="2" charset="-78"/>
              </a:rPr>
              <a:t>• 3 World Bank indicators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rPr sz="2400">
                <a:latin typeface="Aldhabi" panose="01000000000000000000" pitchFamily="2" charset="-78"/>
                <a:cs typeface="Aldhabi" panose="01000000000000000000" pitchFamily="2" charset="-78"/>
              </a:rPr>
              <a:t>• Internet users (% of population)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rPr sz="2400">
                <a:latin typeface="Aldhabi" panose="01000000000000000000" pitchFamily="2" charset="-78"/>
                <a:cs typeface="Aldhabi" panose="01000000000000000000" pitchFamily="2" charset="-78"/>
              </a:rPr>
              <a:t>• Mobile cellular subscriptions (per 100 people)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rPr sz="2400">
                <a:latin typeface="Aldhabi" panose="01000000000000000000" pitchFamily="2" charset="-78"/>
                <a:cs typeface="Aldhabi" panose="01000000000000000000" pitchFamily="2" charset="-78"/>
              </a:rPr>
              <a:t>• Access to electricity (% of population)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474720"/>
            <a:ext cx="5194663" cy="3072384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8304A"/>
                </a:solidFill>
              </a:defRPr>
            </a:pPr>
            <a:r>
              <a:rPr sz="2400">
                <a:latin typeface="Aldhabi" panose="01000000000000000000" pitchFamily="2" charset="-78"/>
                <a:cs typeface="Aldhabi" panose="01000000000000000000" pitchFamily="2" charset="-78"/>
              </a:rPr>
              <a:t>Methods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rPr sz="2400">
                <a:latin typeface="Aldhabi" panose="01000000000000000000" pitchFamily="2" charset="-78"/>
                <a:cs typeface="Aldhabi" panose="01000000000000000000" pitchFamily="2" charset="-78"/>
              </a:rPr>
              <a:t>• Trend and growth analysis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rPr sz="2400">
                <a:latin typeface="Aldhabi" panose="01000000000000000000" pitchFamily="2" charset="-78"/>
                <a:cs typeface="Aldhabi" panose="01000000000000000000" pitchFamily="2" charset="-78"/>
              </a:rPr>
              <a:t>• Pearson and Spearman correlation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rPr sz="2400">
                <a:latin typeface="Aldhabi" panose="01000000000000000000" pitchFamily="2" charset="-78"/>
                <a:cs typeface="Aldhabi" panose="01000000000000000000" pitchFamily="2" charset="-78"/>
              </a:rPr>
              <a:t>• Linear regression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rPr sz="2400">
                <a:latin typeface="Aldhabi" panose="01000000000000000000" pitchFamily="2" charset="-78"/>
                <a:cs typeface="Aldhabi" panose="01000000000000000000" pitchFamily="2" charset="-78"/>
              </a:rPr>
              <a:t>• Mobile–internet gap analysis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rPr sz="2400">
                <a:latin typeface="Aldhabi" panose="01000000000000000000" pitchFamily="2" charset="-78"/>
                <a:cs typeface="Aldhabi" panose="01000000000000000000" pitchFamily="2" charset="-78"/>
              </a:rPr>
              <a:t>• Kenya vs regional-average benchmarking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7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Source: World Bank Indicators API | Analysis: Python/Google Colab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04A"/>
                </a:solidFill>
              </a:defRPr>
            </a:pPr>
            <a:r>
              <a:t>Data quality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Quality checks performed before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2423160" cy="114300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007882"/>
                </a:solidFill>
              </a:defRPr>
            </a:pPr>
            <a:r>
              <a:t>0</a:t>
            </a:r>
          </a:p>
          <a:p>
            <a:pPr algn="ctr">
              <a:defRPr sz="1100">
                <a:solidFill>
                  <a:srgbClr val="2D3741"/>
                </a:solidFill>
              </a:defRPr>
            </a:pPr>
            <a:r>
              <a:t>Duplicate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325880"/>
            <a:ext cx="2423160" cy="114300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007882"/>
                </a:solidFill>
              </a:defRPr>
            </a:pPr>
            <a:r>
              <a:t>0</a:t>
            </a:r>
          </a:p>
          <a:p>
            <a:pPr algn="ctr">
              <a:defRPr sz="1100">
                <a:solidFill>
                  <a:srgbClr val="2D3741"/>
                </a:solidFill>
              </a:defRPr>
            </a:pPr>
            <a:r>
              <a:t>Duplicate country–year pairs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325880"/>
            <a:ext cx="2423160" cy="114300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007882"/>
                </a:solidFill>
              </a:defRPr>
            </a:pPr>
            <a:r>
              <a:t>100%</a:t>
            </a:r>
          </a:p>
          <a:p>
            <a:pPr algn="ctr">
              <a:defRPr sz="1100">
                <a:solidFill>
                  <a:srgbClr val="2D3741"/>
                </a:solidFill>
              </a:defRPr>
            </a:pPr>
            <a:r>
              <a:t>Electricity data completeness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325880"/>
            <a:ext cx="2743200" cy="114300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007882"/>
                </a:solidFill>
              </a:defRPr>
            </a:pPr>
            <a:r>
              <a:t>90.48%</a:t>
            </a:r>
          </a:p>
          <a:p>
            <a:pPr algn="ctr">
              <a:defRPr sz="1100">
                <a:solidFill>
                  <a:srgbClr val="2D3741"/>
                </a:solidFill>
              </a:defRPr>
            </a:pPr>
            <a:r>
              <a:t>Internet data completeness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88920"/>
            <a:ext cx="5268686" cy="361188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8304A"/>
                </a:solidFill>
              </a:defRPr>
            </a:pPr>
            <a:r>
              <a:rPr sz="2400">
                <a:latin typeface="Aldhabi" panose="01000000000000000000" pitchFamily="2" charset="-78"/>
                <a:cs typeface="Aldhabi" panose="01000000000000000000" pitchFamily="2" charset="-78"/>
              </a:rPr>
              <a:t>Key quality findings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rPr sz="2400">
                <a:latin typeface="Aldhabi" panose="01000000000000000000" pitchFamily="2" charset="-78"/>
                <a:cs typeface="Aldhabi" panose="01000000000000000000" pitchFamily="2" charset="-78"/>
              </a:rPr>
              <a:t>• Internet users: 10 missing observations (9.52%).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rPr sz="2400">
                <a:latin typeface="Aldhabi" panose="01000000000000000000" pitchFamily="2" charset="-78"/>
                <a:cs typeface="Aldhabi" panose="01000000000000000000" pitchFamily="2" charset="-78"/>
              </a:rPr>
              <a:t>• Mobile subscriptions: 4 missing observations (3.81%).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rPr sz="2400">
                <a:latin typeface="Aldhabi" panose="01000000000000000000" pitchFamily="2" charset="-78"/>
                <a:cs typeface="Aldhabi" panose="01000000000000000000" pitchFamily="2" charset="-78"/>
              </a:rPr>
              <a:t>• Electricity access: no missing observations in the analytical dataset.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rPr sz="2400">
                <a:latin typeface="Aldhabi" panose="01000000000000000000" pitchFamily="2" charset="-78"/>
                <a:cs typeface="Aldhabi" panose="01000000000000000000" pitchFamily="2" charset="-78"/>
              </a:rPr>
              <a:t>• Three mobile-subscription observations were flagged as statistical outliers by the IQR rule.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788920"/>
            <a:ext cx="5178623" cy="361188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8304A"/>
                </a:solidFill>
              </a:defRPr>
            </a:pPr>
            <a:r>
              <a:rPr sz="2400">
                <a:latin typeface="Aldhabi" panose="01000000000000000000" pitchFamily="2" charset="-78"/>
                <a:cs typeface="Aldhabi" panose="01000000000000000000" pitchFamily="2" charset="-78"/>
              </a:rPr>
              <a:t>Important limitations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rPr sz="2400">
                <a:latin typeface="Aldhabi" panose="01000000000000000000" pitchFamily="2" charset="-78"/>
                <a:cs typeface="Aldhabi" panose="01000000000000000000" pitchFamily="2" charset="-78"/>
              </a:rPr>
              <a:t>• South Sudan has no comparable 2010 or 2024 internet observation in the extracted dataset.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rPr sz="2400">
                <a:latin typeface="Aldhabi" panose="01000000000000000000" pitchFamily="2" charset="-78"/>
                <a:cs typeface="Aldhabi" panose="01000000000000000000" pitchFamily="2" charset="-78"/>
              </a:rPr>
              <a:t>• Somalia lacks a 2010 internet observation, so its 2010–2024 growth cannot be calculated.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rPr sz="2400">
                <a:latin typeface="Aldhabi" panose="01000000000000000000" pitchFamily="2" charset="-78"/>
                <a:cs typeface="Aldhabi" panose="01000000000000000000" pitchFamily="2" charset="-78"/>
              </a:rPr>
              <a:t>• Burundi and Somalia have missing 2024 mobile-subscription values.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rPr sz="2400">
                <a:latin typeface="Aldhabi" panose="01000000000000000000" pitchFamily="2" charset="-78"/>
                <a:cs typeface="Aldhabi" panose="01000000000000000000" pitchFamily="2" charset="-78"/>
              </a:rPr>
              <a:t>• Missing observations were not fabricated through interpolation.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7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Source: World Bank Indicators API | Analysis: Python/Google Colab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04A"/>
                </a:solidFill>
              </a:defRPr>
            </a:pPr>
            <a:r>
              <a:t>Internet adoption accelerated — but unevenly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2010–2024 internet-user trends across the selected East African countries</a:t>
            </a:r>
          </a:p>
        </p:txBody>
      </p:sp>
      <p:pic>
        <p:nvPicPr>
          <p:cNvPr id="5" name="Picture 4" descr="chart_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7589520" cy="377017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58200" y="1417320"/>
            <a:ext cx="2926080" cy="123444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007882"/>
                </a:solidFill>
              </a:defRPr>
            </a:pPr>
            <a:r>
              <a:t>Tanzania</a:t>
            </a:r>
          </a:p>
          <a:p>
            <a:pPr algn="ctr">
              <a:defRPr sz="1100">
                <a:solidFill>
                  <a:srgbClr val="2D3741"/>
                </a:solidFill>
              </a:defRPr>
            </a:pPr>
            <a:r>
              <a:t>Highest 2010–2024 growth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2834640"/>
            <a:ext cx="2926080" cy="123444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007882"/>
                </a:solidFill>
              </a:defRPr>
            </a:pPr>
            <a:r>
              <a:t>+28.26 pp</a:t>
            </a:r>
          </a:p>
          <a:p>
            <a:pPr algn="ctr">
              <a:defRPr sz="1100">
                <a:solidFill>
                  <a:srgbClr val="2D3741"/>
                </a:solidFill>
              </a:defRPr>
            </a:pPr>
            <a:r>
              <a:t>Tanzania: 2010 → 2024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4343400"/>
            <a:ext cx="3154680" cy="160020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8304A"/>
                </a:solidFill>
              </a:defRPr>
            </a:pPr>
            <a:r>
              <a:t>Key comparison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t>• Tanzania: 2.9% → 31.16%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t>• Kenya: 7.2% → 34.98%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t>• Rwanda: 8.0% → 31.70%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7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Source: World Bank Indicators API | Analysis: Python/Google Colab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04A"/>
                </a:solidFill>
              </a:defRPr>
            </a:pPr>
            <a:r>
              <a:t>Mobile connectivity is much higher than internet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2024 comparison of mobile subscriptions and internet usage</a:t>
            </a:r>
          </a:p>
        </p:txBody>
      </p:sp>
      <p:pic>
        <p:nvPicPr>
          <p:cNvPr id="5" name="Picture 4" descr="chart_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629400" cy="473311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417320"/>
            <a:ext cx="3566160" cy="114300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007882"/>
                </a:solidFill>
              </a:defRPr>
            </a:pPr>
            <a:r>
              <a:t>126.56</a:t>
            </a:r>
          </a:p>
          <a:p>
            <a:pPr algn="ctr">
              <a:defRPr sz="1100">
                <a:solidFill>
                  <a:srgbClr val="2D3741"/>
                </a:solidFill>
              </a:defRPr>
            </a:pPr>
            <a:r>
              <a:t>Tanzania mobile subscriptions / 100 people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2743200"/>
            <a:ext cx="3566160" cy="114300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007882"/>
                </a:solidFill>
              </a:defRPr>
            </a:pPr>
            <a:r>
              <a:t>31.16%</a:t>
            </a:r>
          </a:p>
          <a:p>
            <a:pPr algn="ctr">
              <a:defRPr sz="1100">
                <a:solidFill>
                  <a:srgbClr val="2D3741"/>
                </a:solidFill>
              </a:defRPr>
            </a:pPr>
            <a:r>
              <a:t>Tanzania internet users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4251960"/>
            <a:ext cx="3794760" cy="150876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8304A"/>
                </a:solidFill>
              </a:defRPr>
            </a:pPr>
            <a:r>
              <a:t>Interpretation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t>• Kenya also shows very high mobile subscription density (126.48 per 100).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t>• The relationship is positive, but mobile subscriptions do not translate one-for-one into internet adoption.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7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Source: World Bank Indicators API | Analysis: Python/Google Colab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04A"/>
                </a:solidFill>
              </a:defRPr>
            </a:pPr>
            <a:r>
              <a:t>Electricity access is positively associated with internet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2024 cross-country relationship; association is suggestive rather than causal</a:t>
            </a:r>
          </a:p>
        </p:txBody>
      </p:sp>
      <p:pic>
        <p:nvPicPr>
          <p:cNvPr id="5" name="Picture 4" descr="chart_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720840" cy="48371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35240" y="1417320"/>
            <a:ext cx="3246120" cy="109728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007882"/>
                </a:solidFill>
              </a:defRPr>
            </a:pPr>
            <a:r>
              <a:t>r = 0.743</a:t>
            </a:r>
          </a:p>
          <a:p>
            <a:pPr algn="ctr">
              <a:defRPr sz="1100">
                <a:solidFill>
                  <a:srgbClr val="2D3741"/>
                </a:solidFill>
              </a:defRPr>
            </a:pPr>
            <a:r>
              <a:t>Pearson correlation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2697480"/>
            <a:ext cx="3246120" cy="109728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007882"/>
                </a:solidFill>
              </a:defRPr>
            </a:pPr>
            <a:r>
              <a:t>R² = 0.551</a:t>
            </a:r>
          </a:p>
          <a:p>
            <a:pPr algn="ctr">
              <a:defRPr sz="1100">
                <a:solidFill>
                  <a:srgbClr val="2D3741"/>
                </a:solidFill>
              </a:defRPr>
            </a:pPr>
            <a:r>
              <a:t>Linear regression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3977639"/>
            <a:ext cx="3246120" cy="109728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007882"/>
                </a:solidFill>
              </a:defRPr>
            </a:pPr>
            <a:r>
              <a:t>p = 0.091</a:t>
            </a:r>
          </a:p>
          <a:p>
            <a:pPr algn="ctr">
              <a:defRPr sz="1100">
                <a:solidFill>
                  <a:srgbClr val="2D3741"/>
                </a:solidFill>
              </a:defRPr>
            </a:pPr>
            <a:r>
              <a:t>Pearson 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5257800"/>
            <a:ext cx="3749039" cy="82296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8304A"/>
                </a:solidFill>
              </a:defRPr>
            </a:pPr>
            <a:r>
              <a:t>Statistical conclusion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t>• Positive association, but not statistically significant at the 5% level.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7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Source: World Bank Indicators API | Analysis: Python/Google Colab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04A"/>
                </a:solidFill>
              </a:defRPr>
            </a:pPr>
            <a:r>
              <a:t>The largest mobile–internet gap is in Tanzania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2024 gap = mobile subscriptions per 100 people minus internet users (%)</a:t>
            </a:r>
          </a:p>
        </p:txBody>
      </p:sp>
      <p:pic>
        <p:nvPicPr>
          <p:cNvPr id="5" name="Picture 4" descr="chart_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7040880" cy="420032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55279" y="1417320"/>
            <a:ext cx="3063240" cy="114300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007882"/>
                </a:solidFill>
              </a:defRPr>
            </a:pPr>
            <a:r>
              <a:t>95.40 pp</a:t>
            </a:r>
          </a:p>
          <a:p>
            <a:pPr algn="ctr">
              <a:defRPr sz="1100">
                <a:solidFill>
                  <a:srgbClr val="2D3741"/>
                </a:solidFill>
              </a:defRPr>
            </a:pPr>
            <a:r>
              <a:t>Tanzania's digital gap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2788920"/>
            <a:ext cx="3474720" cy="265176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8304A"/>
                </a:solidFill>
              </a:defRPr>
            </a:pPr>
            <a:r>
              <a:t>2024 ranking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t>• Tanzania: 126.56 mobile subscriptions vs 31.16% internet users.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t>• Kenya: 126.48 vs 34.98% → 91.50 pp gap.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t>• Uganda: 83.17 vs 8.95% → 74.22 pp gap.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t>• Rwanda: 93.20 vs 31.70% → 61.50 pp gap.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5532120"/>
            <a:ext cx="3474720" cy="59436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8304A"/>
                </a:solidFill>
              </a:defRPr>
            </a:pPr>
            <a:r>
              <a:t>Interpretation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t>• Note: subscriptions are not unique phone owners.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7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Source: World Bank Indicators API | Analysis: Python/Google Colab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04A"/>
                </a:solidFill>
              </a:defRPr>
            </a:pPr>
            <a:r>
              <a:t>Kenya is ahead of the regional average on all three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2024 benchmark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Indicator</a:t>
                      </a:r>
                    </a:p>
                  </a:txBody>
                  <a:tcPr>
                    <a:solidFill>
                      <a:srgbClr val="18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Kenya</a:t>
                      </a:r>
                    </a:p>
                  </a:txBody>
                  <a:tcPr>
                    <a:solidFill>
                      <a:srgbClr val="18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Regional average</a:t>
                      </a:r>
                    </a:p>
                  </a:txBody>
                  <a:tcPr>
                    <a:solidFill>
                      <a:srgbClr val="18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Kenya advantage</a:t>
                      </a:r>
                    </a:p>
                  </a:txBody>
                  <a:tcPr>
                    <a:solidFill>
                      <a:srgbClr val="18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D3741"/>
                          </a:solidFill>
                        </a:defRPr>
                      </a:pPr>
                      <a:r>
                        <a:t>Internet users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741"/>
                          </a:solidFill>
                        </a:defRPr>
                      </a:pPr>
                      <a:r>
                        <a:t>34.98%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741"/>
                          </a:solidFill>
                        </a:defRPr>
                      </a:pPr>
                      <a:r>
                        <a:t>23.89%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741"/>
                          </a:solidFill>
                        </a:defRPr>
                      </a:pPr>
                      <a:r>
                        <a:t>+11.09 pp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D3741"/>
                          </a:solidFill>
                        </a:defRPr>
                      </a:pPr>
                      <a:r>
                        <a:t>Mobile subscriptions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741"/>
                          </a:solidFill>
                        </a:defRPr>
                      </a:pPr>
                      <a:r>
                        <a:t>126.48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741"/>
                          </a:solidFill>
                        </a:defRPr>
                      </a:pPr>
                      <a:r>
                        <a:t>107.35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741"/>
                          </a:solidFill>
                        </a:defRPr>
                      </a:pPr>
                      <a:r>
                        <a:t>+19.13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D3741"/>
                          </a:solidFill>
                        </a:defRPr>
                      </a:pPr>
                      <a:r>
                        <a:t>Electricity access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741"/>
                          </a:solidFill>
                        </a:defRPr>
                      </a:pPr>
                      <a:r>
                        <a:t>77.00%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741"/>
                          </a:solidFill>
                        </a:defRPr>
                      </a:pPr>
                      <a:r>
                        <a:t>48.09%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741"/>
                          </a:solidFill>
                        </a:defRPr>
                      </a:pPr>
                      <a:r>
                        <a:t>+28.91 pp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800600"/>
            <a:ext cx="10698480" cy="123444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8304A"/>
                </a:solidFill>
              </a:defRPr>
            </a:pPr>
            <a:r>
              <a:t>Consulting interpretation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t>• Kenya leads the regional average in internet penetration, mobile subscription density and electricity access.</a:t>
            </a:r>
          </a:p>
          <a:p>
            <a:pPr>
              <a:spcAft>
                <a:spcPts val="700"/>
              </a:spcAft>
              <a:defRPr sz="1300">
                <a:solidFill>
                  <a:srgbClr val="2D3741"/>
                </a:solidFill>
              </a:defRPr>
            </a:pPr>
            <a:r>
              <a:t>• However, Kenya still has a large mobile–internet gap (91.50 percentage points), indicating that connectivity infrastructure alone does not guarantee internet adoption.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7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Source: World Bank Indicators API | Analysis: Python/Google Colab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9417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04A"/>
                </a:solidFill>
              </a:defRPr>
            </a:pPr>
            <a:r>
              <a:t>Three evidence-led priorities for EACO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6577" y="669200"/>
            <a:ext cx="51641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rPr sz="2400" dirty="0">
                <a:latin typeface="Aldhabi" panose="01000000000000000000" pitchFamily="2" charset="-78"/>
                <a:cs typeface="Aldhabi" panose="01000000000000000000" pitchFamily="2" charset="-78"/>
              </a:rPr>
              <a:t>Translate the observed gaps into targeted regional action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325880"/>
            <a:ext cx="594360" cy="594360"/>
          </a:xfrm>
          <a:prstGeom prst="ellipse">
            <a:avLst/>
          </a:prstGeom>
          <a:solidFill>
            <a:srgbClr val="007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298448"/>
            <a:ext cx="10413274" cy="1685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304A"/>
                </a:solidFill>
              </a:defRPr>
            </a:pPr>
            <a:r>
              <a:rPr sz="2400" dirty="0">
                <a:latin typeface="Aldhabi" panose="01000000000000000000" pitchFamily="2" charset="-78"/>
                <a:cs typeface="Aldhabi" panose="01000000000000000000" pitchFamily="2" charset="-78"/>
              </a:rPr>
              <a:t>Close the mobile–internet adoption gap</a:t>
            </a:r>
          </a:p>
          <a:p>
            <a:pPr>
              <a:spcBef>
                <a:spcPts val="500"/>
              </a:spcBef>
              <a:defRPr sz="1250">
                <a:solidFill>
                  <a:srgbClr val="2D3741"/>
                </a:solidFill>
              </a:defRPr>
            </a:pPr>
            <a:r>
              <a:rPr sz="2400" dirty="0">
                <a:latin typeface="Aldhabi" panose="01000000000000000000" pitchFamily="2" charset="-78"/>
                <a:cs typeface="Aldhabi" panose="01000000000000000000" pitchFamily="2" charset="-78"/>
              </a:rPr>
              <a:t>Prioritize affordable last-mile broadband and internet adoption initiatives in countries where mobile subscription density is high but internet usage remains low.</a:t>
            </a:r>
          </a:p>
          <a:p>
            <a:pPr>
              <a:spcBef>
                <a:spcPts val="400"/>
              </a:spcBef>
              <a:defRPr sz="1100" i="1">
                <a:solidFill>
                  <a:srgbClr val="69737D"/>
                </a:solidFill>
              </a:defRPr>
            </a:pPr>
            <a:r>
              <a:rPr sz="2400" dirty="0">
                <a:latin typeface="Aldhabi" panose="01000000000000000000" pitchFamily="2" charset="-78"/>
                <a:cs typeface="Aldhabi" panose="01000000000000000000" pitchFamily="2" charset="-78"/>
              </a:rPr>
              <a:t>Evidence: Tanzania 95.40 pp gap; Kenya 91.50 pp; Uganda 74.22 pp.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926080"/>
            <a:ext cx="594360" cy="594360"/>
          </a:xfrm>
          <a:prstGeom prst="ellipse">
            <a:avLst/>
          </a:prstGeom>
          <a:solidFill>
            <a:srgbClr val="007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898648"/>
            <a:ext cx="7726104" cy="205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304A"/>
                </a:solidFill>
              </a:defRPr>
            </a:pPr>
            <a:r>
              <a:rPr sz="2400">
                <a:latin typeface="Aldhabi" panose="01000000000000000000" pitchFamily="2" charset="-78"/>
                <a:cs typeface="Aldhabi" panose="01000000000000000000" pitchFamily="2" charset="-78"/>
              </a:rPr>
              <a:t>Integrate energy and digital infrastructure planning</a:t>
            </a:r>
          </a:p>
          <a:p>
            <a:pPr>
              <a:spcBef>
                <a:spcPts val="500"/>
              </a:spcBef>
              <a:defRPr sz="1250">
                <a:solidFill>
                  <a:srgbClr val="2D3741"/>
                </a:solidFill>
              </a:defRPr>
            </a:pPr>
            <a:r>
              <a:rPr sz="2400">
                <a:latin typeface="Aldhabi" panose="01000000000000000000" pitchFamily="2" charset="-78"/>
                <a:cs typeface="Aldhabi" panose="01000000000000000000" pitchFamily="2" charset="-78"/>
              </a:rPr>
              <a:t>Coordinate electricity-access expansion with digital connectivity investments, especially in underserved areas.</a:t>
            </a:r>
          </a:p>
          <a:p>
            <a:pPr>
              <a:spcBef>
                <a:spcPts val="400"/>
              </a:spcBef>
              <a:defRPr sz="1100" i="1">
                <a:solidFill>
                  <a:srgbClr val="69737D"/>
                </a:solidFill>
              </a:defRPr>
            </a:pPr>
            <a:r>
              <a:rPr sz="2400">
                <a:latin typeface="Aldhabi" panose="01000000000000000000" pitchFamily="2" charset="-78"/>
                <a:cs typeface="Aldhabi" panose="01000000000000000000" pitchFamily="2" charset="-78"/>
              </a:rPr>
              <a:t>Evidence: 2024 electricity–internet correlation r = 0.743; regression R² = 0.551. The relationship is associative, not causal.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4526280"/>
            <a:ext cx="594360" cy="594360"/>
          </a:xfrm>
          <a:prstGeom prst="ellipse">
            <a:avLst/>
          </a:prstGeom>
          <a:solidFill>
            <a:srgbClr val="007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1" y="4498848"/>
            <a:ext cx="8137160" cy="205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304A"/>
                </a:solidFill>
              </a:defRPr>
            </a:pPr>
            <a:r>
              <a:rPr sz="2400">
                <a:latin typeface="Aldhabi" panose="01000000000000000000" pitchFamily="2" charset="-78"/>
                <a:cs typeface="Aldhabi" panose="01000000000000000000" pitchFamily="2" charset="-78"/>
              </a:rPr>
              <a:t>Target investment using country-level performance gaps</a:t>
            </a:r>
          </a:p>
          <a:p>
            <a:pPr>
              <a:spcBef>
                <a:spcPts val="500"/>
              </a:spcBef>
              <a:defRPr sz="1250">
                <a:solidFill>
                  <a:srgbClr val="2D3741"/>
                </a:solidFill>
              </a:defRPr>
            </a:pPr>
            <a:r>
              <a:rPr sz="2400">
                <a:latin typeface="Aldhabi" panose="01000000000000000000" pitchFamily="2" charset="-78"/>
                <a:cs typeface="Aldhabi" panose="01000000000000000000" pitchFamily="2" charset="-78"/>
              </a:rPr>
              <a:t>Use comparable country indicators to prioritize lagging markets rather than applying a one-size-fits-all regional intervention.</a:t>
            </a:r>
          </a:p>
          <a:p>
            <a:pPr>
              <a:spcBef>
                <a:spcPts val="400"/>
              </a:spcBef>
              <a:defRPr sz="1100" i="1">
                <a:solidFill>
                  <a:srgbClr val="69737D"/>
                </a:solidFill>
              </a:defRPr>
            </a:pPr>
            <a:r>
              <a:rPr sz="2400">
                <a:latin typeface="Aldhabi" panose="01000000000000000000" pitchFamily="2" charset="-78"/>
                <a:cs typeface="Aldhabi" panose="01000000000000000000" pitchFamily="2" charset="-78"/>
              </a:rPr>
              <a:t>Evidence: 2024 internet usage ranges from 8.60% in Burundi to 34.98% in Kenya among countries with available observations.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7D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Source: World Bank Indicators API | Analysis: Python/Google Colab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22960" y="914400"/>
            <a:ext cx="236757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>
                <a:solidFill>
                  <a:schemeClr val="tx2"/>
                </a:solidFill>
              </a:rPr>
              <a:t>Key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59" y="1828800"/>
            <a:ext cx="8135983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FFFFFF"/>
                </a:solidFill>
              </a:defRPr>
            </a:pPr>
            <a:r>
              <a:rPr sz="3200" dirty="0">
                <a:solidFill>
                  <a:schemeClr val="tx2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East Africa has made substantial progress in digital connectivity, but the analysis shows that mobile access, electricity and internet adoption are not advancing at the same level.</a:t>
            </a:r>
          </a:p>
          <a:p>
            <a:pPr>
              <a:defRPr sz="1900">
                <a:solidFill>
                  <a:srgbClr val="DCEBEE"/>
                </a:solidFill>
              </a:defRPr>
            </a:pPr>
            <a:r>
              <a:rPr sz="3200" dirty="0">
                <a:solidFill>
                  <a:schemeClr val="tx2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For EACO, the priority is therefore not only expanding infrastructure, but converting connectivity into meaningful internet adoption—especially in countries with the largest observed gaps.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97851" y="5257800"/>
            <a:ext cx="150861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>
                <a:solidFill>
                  <a:schemeClr val="tx2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1075</Words>
  <Application>Microsoft Office PowerPoint</Application>
  <PresentationFormat>Widescreen</PresentationFormat>
  <Paragraphs>152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Aldhabi</vt:lpstr>
      <vt:lpstr>Arial</vt:lpstr>
      <vt:lpstr>Calibri</vt:lpstr>
      <vt:lpstr>Office Theme</vt:lpstr>
      <vt:lpstr>Digital Transformation and Inclusion in East Africa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Sarah Mongare</dc:creator>
  <cp:keywords/>
  <dc:description>generated using python-pptx</dc:description>
  <cp:lastModifiedBy>Sarah Mongare</cp:lastModifiedBy>
  <cp:revision>3</cp:revision>
  <dcterms:created xsi:type="dcterms:W3CDTF">2013-01-27T09:14:16Z</dcterms:created>
  <dcterms:modified xsi:type="dcterms:W3CDTF">2026-08-17T09:08:00Z</dcterms:modified>
  <cp:category/>
</cp:coreProperties>
</file>