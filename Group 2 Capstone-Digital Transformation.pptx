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7" r:id="rId6"/>
    <p:sldId id="268" r:id="rId7"/>
    <p:sldId id="269" r:id="rId8"/>
    <p:sldId id="270" r:id="rId9"/>
    <p:sldId id="261" r:id="rId10"/>
    <p:sldId id="262" r:id="rId11"/>
    <p:sldId id="263" r:id="rId12"/>
    <p:sldId id="264" r:id="rId13"/>
    <p:sldId id="265" r:id="rId14"/>
    <p:sldId id="271" r:id="rId15"/>
    <p:sldId id="266"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406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851F2C-3EBE-4F7E-88EA-52D6D5418D76}" v="2" dt="2026-08-17T09:00:35.3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4" d="100"/>
          <a:sy n="84" d="100"/>
        </p:scale>
        <p:origin x="629" y="72"/>
      </p:cViewPr>
      <p:guideLst>
        <p:guide orient="horz" pos="2160"/>
        <p:guide pos="4067"/>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960120" y="4462629"/>
            <a:ext cx="9699002" cy="584775"/>
          </a:xfrm>
          <a:prstGeom prst="rect">
            <a:avLst/>
          </a:prstGeom>
          <a:noFill/>
        </p:spPr>
        <p:txBody>
          <a:bodyPr wrap="none">
            <a:spAutoFit/>
          </a:bodyPr>
          <a:lstStyle/>
          <a:p>
            <a:pPr>
              <a:defRPr sz="1800" b="1">
                <a:solidFill>
                  <a:srgbClr val="FFFFFF"/>
                </a:solidFill>
              </a:defRPr>
            </a:pPr>
            <a:r>
              <a:rPr sz="1600" dirty="0"/>
              <a:t>Data Analytics &amp; Visualization Capstone</a:t>
            </a:r>
          </a:p>
          <a:p>
            <a:pPr>
              <a:defRPr sz="1100">
                <a:solidFill>
                  <a:srgbClr val="CDDCE1"/>
                </a:solidFill>
              </a:defRPr>
            </a:pPr>
            <a:r>
              <a:rPr sz="1600" dirty="0"/>
              <a:t>World Bank Indicators API | 2010–2024 | Kenya • Uganda • Tanzania • Rwanda • Burundi • Somalia • South Sudan</a:t>
            </a:r>
          </a:p>
        </p:txBody>
      </p:sp>
      <p:sp>
        <p:nvSpPr>
          <p:cNvPr id="7" name="Title 6">
            <a:extLst>
              <a:ext uri="{FF2B5EF4-FFF2-40B4-BE49-F238E27FC236}">
                <a16:creationId xmlns:a16="http://schemas.microsoft.com/office/drawing/2014/main" id="{1274F4D9-E040-9BC9-4E87-B1F4F5FE6DA5}"/>
              </a:ext>
            </a:extLst>
          </p:cNvPr>
          <p:cNvSpPr>
            <a:spLocks noGrp="1"/>
          </p:cNvSpPr>
          <p:nvPr>
            <p:ph type="ctrTitle"/>
          </p:nvPr>
        </p:nvSpPr>
        <p:spPr>
          <a:xfrm>
            <a:off x="896982" y="763179"/>
            <a:ext cx="10722429" cy="2300061"/>
          </a:xfrm>
        </p:spPr>
        <p:txBody>
          <a:bodyPr>
            <a:normAutofit/>
          </a:bodyPr>
          <a:lstStyle/>
          <a:p>
            <a:pPr>
              <a:defRPr sz="3400" b="1">
                <a:solidFill>
                  <a:srgbClr val="FFFFFF"/>
                </a:solidFill>
              </a:defRPr>
            </a:pPr>
            <a:r>
              <a:rPr lang="en-US" dirty="0">
                <a:solidFill>
                  <a:schemeClr val="tx2"/>
                </a:solidFill>
              </a:rPr>
              <a:t>Digital Transformation</a:t>
            </a:r>
            <a:br>
              <a:rPr lang="en-US" dirty="0">
                <a:solidFill>
                  <a:schemeClr val="tx2"/>
                </a:solidFill>
              </a:rPr>
            </a:br>
            <a:r>
              <a:rPr lang="en-US" dirty="0">
                <a:solidFill>
                  <a:schemeClr val="tx2"/>
                </a:solidFill>
              </a:rPr>
              <a:t>and Inclusion in East Africa</a:t>
            </a:r>
            <a:br>
              <a:rPr lang="en-US" dirty="0">
                <a:solidFill>
                  <a:schemeClr val="tx2"/>
                </a:solidFill>
              </a:rPr>
            </a:br>
            <a:endParaRPr lang="en-KE" dirty="0">
              <a:solidFill>
                <a:schemeClr val="tx2"/>
              </a:solidFill>
            </a:endParaRPr>
          </a:p>
        </p:txBody>
      </p:sp>
      <p:sp>
        <p:nvSpPr>
          <p:cNvPr id="8" name="Subtitle 7">
            <a:extLst>
              <a:ext uri="{FF2B5EF4-FFF2-40B4-BE49-F238E27FC236}">
                <a16:creationId xmlns:a16="http://schemas.microsoft.com/office/drawing/2014/main" id="{A444BC0D-62D2-BE39-237A-4234ECCD6A72}"/>
              </a:ext>
            </a:extLst>
          </p:cNvPr>
          <p:cNvSpPr>
            <a:spLocks noGrp="1"/>
          </p:cNvSpPr>
          <p:nvPr>
            <p:ph type="subTitle" idx="1"/>
          </p:nvPr>
        </p:nvSpPr>
        <p:spPr>
          <a:xfrm>
            <a:off x="705394" y="2749520"/>
            <a:ext cx="10526486" cy="1649186"/>
          </a:xfrm>
        </p:spPr>
        <p:txBody>
          <a:bodyPr>
            <a:normAutofit/>
          </a:bodyPr>
          <a:lstStyle/>
          <a:p>
            <a:r>
              <a:rPr lang="en-US" dirty="0"/>
              <a:t>An API-driven data analytics assessment for the East African </a:t>
            </a:r>
            <a:r>
              <a:rPr lang="en-US"/>
              <a:t>Communications Organization </a:t>
            </a:r>
            <a:r>
              <a:rPr lang="en-US" dirty="0"/>
              <a:t>(EACO)</a:t>
            </a:r>
            <a:br>
              <a:rPr lang="en-US" dirty="0"/>
            </a:br>
            <a:r>
              <a:rPr lang="en-US" dirty="0"/>
              <a:t>Group 2</a:t>
            </a:r>
            <a:endParaRPr lang="en-KE"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320040"/>
            <a:ext cx="2012667" cy="507831"/>
          </a:xfrm>
          <a:prstGeom prst="rect">
            <a:avLst/>
          </a:prstGeom>
          <a:noFill/>
        </p:spPr>
        <p:txBody>
          <a:bodyPr wrap="none">
            <a:spAutoFit/>
          </a:bodyPr>
          <a:lstStyle/>
          <a:p>
            <a:pPr>
              <a:defRPr sz="2700" b="1">
                <a:solidFill>
                  <a:srgbClr val="18304A"/>
                </a:solidFill>
              </a:defRPr>
            </a:pPr>
            <a:r>
              <a:rPr dirty="0"/>
              <a:t>The </a:t>
            </a:r>
            <a:r>
              <a:rPr lang="en-US" dirty="0"/>
              <a:t>Problem</a:t>
            </a:r>
            <a:endParaRPr dirty="0"/>
          </a:p>
        </p:txBody>
      </p:sp>
      <p:sp>
        <p:nvSpPr>
          <p:cNvPr id="4" name="TextBox 3"/>
          <p:cNvSpPr txBox="1"/>
          <p:nvPr/>
        </p:nvSpPr>
        <p:spPr>
          <a:xfrm>
            <a:off x="612648" y="932688"/>
            <a:ext cx="10789920" cy="411480"/>
          </a:xfrm>
          <a:prstGeom prst="rect">
            <a:avLst/>
          </a:prstGeom>
          <a:noFill/>
        </p:spPr>
        <p:txBody>
          <a:bodyPr wrap="none">
            <a:spAutoFit/>
          </a:bodyPr>
          <a:lstStyle/>
          <a:p>
            <a:pPr>
              <a:defRPr sz="1200">
                <a:solidFill>
                  <a:srgbClr val="69737D"/>
                </a:solidFill>
              </a:defRPr>
            </a:pPr>
            <a:r>
              <a:t>What EACO needs to know to target digital-inclusion investment</a:t>
            </a:r>
          </a:p>
        </p:txBody>
      </p:sp>
      <p:sp>
        <p:nvSpPr>
          <p:cNvPr id="5" name="Rounded Rectangle 4"/>
          <p:cNvSpPr/>
          <p:nvPr/>
        </p:nvSpPr>
        <p:spPr>
          <a:xfrm>
            <a:off x="640080" y="1417320"/>
            <a:ext cx="5394960" cy="443484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rPr sz="2400" dirty="0">
                <a:latin typeface="Aldhabi" panose="01000000000000000000" pitchFamily="2" charset="-78"/>
                <a:cs typeface="Aldhabi" panose="01000000000000000000" pitchFamily="2" charset="-78"/>
              </a:rPr>
              <a:t>Client question</a:t>
            </a:r>
          </a:p>
          <a:p>
            <a:pPr>
              <a:spcAft>
                <a:spcPts val="700"/>
              </a:spcAft>
              <a:defRPr sz="1300">
                <a:solidFill>
                  <a:srgbClr val="2D3741"/>
                </a:solidFill>
              </a:defRPr>
            </a:pPr>
            <a:r>
              <a:rPr sz="2400" dirty="0">
                <a:latin typeface="Aldhabi" panose="01000000000000000000" pitchFamily="2" charset="-78"/>
                <a:cs typeface="Aldhabi" panose="01000000000000000000" pitchFamily="2" charset="-78"/>
              </a:rPr>
              <a:t>• Digital access has expanded across East Africa, but adoption remains uneven.</a:t>
            </a:r>
          </a:p>
          <a:p>
            <a:pPr>
              <a:spcAft>
                <a:spcPts val="700"/>
              </a:spcAft>
              <a:defRPr sz="1300">
                <a:solidFill>
                  <a:srgbClr val="2D3741"/>
                </a:solidFill>
              </a:defRPr>
            </a:pPr>
            <a:r>
              <a:rPr sz="2400" dirty="0">
                <a:latin typeface="Aldhabi" panose="01000000000000000000" pitchFamily="2" charset="-78"/>
                <a:cs typeface="Aldhabi" panose="01000000000000000000" pitchFamily="2" charset="-78"/>
              </a:rPr>
              <a:t>• EACO needs comparable evidence across countries and over time.</a:t>
            </a:r>
          </a:p>
          <a:p>
            <a:pPr>
              <a:spcAft>
                <a:spcPts val="700"/>
              </a:spcAft>
              <a:defRPr sz="1300">
                <a:solidFill>
                  <a:srgbClr val="2D3741"/>
                </a:solidFill>
              </a:defRPr>
            </a:pPr>
            <a:r>
              <a:rPr sz="2400" dirty="0">
                <a:latin typeface="Aldhabi" panose="01000000000000000000" pitchFamily="2" charset="-78"/>
                <a:cs typeface="Aldhabi" panose="01000000000000000000" pitchFamily="2" charset="-78"/>
              </a:rPr>
              <a:t>• The analysis focuses on internet adoption, mobile connectivity and electricity access.</a:t>
            </a:r>
          </a:p>
          <a:p>
            <a:pPr>
              <a:spcAft>
                <a:spcPts val="700"/>
              </a:spcAft>
              <a:defRPr sz="1300">
                <a:solidFill>
                  <a:srgbClr val="2D3741"/>
                </a:solidFill>
              </a:defRPr>
            </a:pPr>
            <a:r>
              <a:rPr sz="2400" dirty="0">
                <a:latin typeface="Aldhabi" panose="01000000000000000000" pitchFamily="2" charset="-78"/>
                <a:cs typeface="Aldhabi" panose="01000000000000000000" pitchFamily="2" charset="-78"/>
              </a:rPr>
              <a:t>• The objective is to identify where the largest digital-inclusion gaps remain and what policy actions should be prioritized.</a:t>
            </a:r>
          </a:p>
        </p:txBody>
      </p:sp>
      <p:sp>
        <p:nvSpPr>
          <p:cNvPr id="6" name="Rounded Rectangle 5"/>
          <p:cNvSpPr/>
          <p:nvPr/>
        </p:nvSpPr>
        <p:spPr>
          <a:xfrm>
            <a:off x="6263640" y="1399032"/>
            <a:ext cx="5303520" cy="4453128"/>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rPr sz="2400" dirty="0">
                <a:latin typeface="Aldhabi" panose="01000000000000000000" pitchFamily="2" charset="-78"/>
                <a:cs typeface="Aldhabi" panose="01000000000000000000" pitchFamily="2" charset="-78"/>
              </a:rPr>
              <a:t>Six analytical questions</a:t>
            </a:r>
          </a:p>
          <a:p>
            <a:pPr>
              <a:spcAft>
                <a:spcPts val="700"/>
              </a:spcAft>
              <a:defRPr sz="1300">
                <a:solidFill>
                  <a:srgbClr val="2D3741"/>
                </a:solidFill>
              </a:defRPr>
            </a:pPr>
            <a:r>
              <a:rPr sz="2400" dirty="0">
                <a:latin typeface="Aldhabi" panose="01000000000000000000" pitchFamily="2" charset="-78"/>
                <a:cs typeface="Aldhabi" panose="01000000000000000000" pitchFamily="2" charset="-78"/>
              </a:rPr>
              <a:t>• Which country experienced the highest growth in internet users from 2010 to 2024?</a:t>
            </a:r>
          </a:p>
          <a:p>
            <a:pPr>
              <a:spcAft>
                <a:spcPts val="700"/>
              </a:spcAft>
              <a:defRPr sz="1300">
                <a:solidFill>
                  <a:srgbClr val="2D3741"/>
                </a:solidFill>
              </a:defRPr>
            </a:pPr>
            <a:r>
              <a:rPr sz="2400" dirty="0">
                <a:latin typeface="Aldhabi" panose="01000000000000000000" pitchFamily="2" charset="-78"/>
                <a:cs typeface="Aldhabi" panose="01000000000000000000" pitchFamily="2" charset="-78"/>
              </a:rPr>
              <a:t>• How does internet penetration compare with mobile subscriptions?</a:t>
            </a:r>
          </a:p>
          <a:p>
            <a:pPr>
              <a:spcAft>
                <a:spcPts val="700"/>
              </a:spcAft>
              <a:defRPr sz="1300">
                <a:solidFill>
                  <a:srgbClr val="2D3741"/>
                </a:solidFill>
              </a:defRPr>
            </a:pPr>
            <a:r>
              <a:rPr sz="2400" dirty="0">
                <a:latin typeface="Aldhabi" panose="01000000000000000000" pitchFamily="2" charset="-78"/>
                <a:cs typeface="Aldhabi" panose="01000000000000000000" pitchFamily="2" charset="-78"/>
              </a:rPr>
              <a:t>• Is electricity access associated with internet usage?</a:t>
            </a:r>
          </a:p>
          <a:p>
            <a:pPr>
              <a:spcAft>
                <a:spcPts val="700"/>
              </a:spcAft>
              <a:defRPr sz="1300">
                <a:solidFill>
                  <a:srgbClr val="2D3741"/>
                </a:solidFill>
              </a:defRPr>
            </a:pPr>
            <a:r>
              <a:rPr sz="2400" dirty="0">
                <a:latin typeface="Aldhabi" panose="01000000000000000000" pitchFamily="2" charset="-78"/>
                <a:cs typeface="Aldhabi" panose="01000000000000000000" pitchFamily="2" charset="-78"/>
              </a:rPr>
              <a:t>• Which country has the largest mobile–internet gap?</a:t>
            </a:r>
          </a:p>
          <a:p>
            <a:pPr>
              <a:spcAft>
                <a:spcPts val="700"/>
              </a:spcAft>
              <a:defRPr sz="1300">
                <a:solidFill>
                  <a:srgbClr val="2D3741"/>
                </a:solidFill>
              </a:defRPr>
            </a:pPr>
            <a:r>
              <a:rPr sz="2400" dirty="0">
                <a:latin typeface="Aldhabi" panose="01000000000000000000" pitchFamily="2" charset="-78"/>
                <a:cs typeface="Aldhabi" panose="01000000000000000000" pitchFamily="2" charset="-78"/>
              </a:rPr>
              <a:t>• How does Kenya compare with the regional picture?</a:t>
            </a:r>
          </a:p>
          <a:p>
            <a:pPr>
              <a:spcAft>
                <a:spcPts val="700"/>
              </a:spcAft>
              <a:defRPr sz="1300">
                <a:solidFill>
                  <a:srgbClr val="2D3741"/>
                </a:solidFill>
              </a:defRPr>
            </a:pPr>
            <a:r>
              <a:rPr sz="2400" dirty="0">
                <a:latin typeface="Aldhabi" panose="01000000000000000000" pitchFamily="2" charset="-78"/>
                <a:cs typeface="Aldhabi" panose="01000000000000000000" pitchFamily="2" charset="-78"/>
              </a:rPr>
              <a:t>• Which three interventions should EACO prioritize?</a:t>
            </a:r>
          </a:p>
        </p:txBody>
      </p:sp>
      <p:sp>
        <p:nvSpPr>
          <p:cNvPr id="7" name="Rectangle 6"/>
          <p:cNvSpPr/>
          <p:nvPr/>
        </p:nvSpPr>
        <p:spPr>
          <a:xfrm>
            <a:off x="594360" y="6510528"/>
            <a:ext cx="10972800" cy="18288"/>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6547104"/>
            <a:ext cx="10789920" cy="201168"/>
          </a:xfrm>
          <a:prstGeom prst="rect">
            <a:avLst/>
          </a:prstGeom>
          <a:noFill/>
        </p:spPr>
        <p:txBody>
          <a:bodyPr wrap="none">
            <a:spAutoFit/>
          </a:bodyPr>
          <a:lstStyle/>
          <a:p>
            <a:pPr>
              <a:defRPr sz="800">
                <a:solidFill>
                  <a:srgbClr val="69737D"/>
                </a:solidFill>
              </a:defRPr>
            </a:pPr>
            <a:r>
              <a:t>Source: World Bank Indicators API | Analysis: Python/Google Colab</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685800"/>
          </a:xfrm>
          <a:prstGeom prst="rect">
            <a:avLst/>
          </a:prstGeom>
          <a:noFill/>
        </p:spPr>
        <p:txBody>
          <a:bodyPr wrap="none">
            <a:spAutoFit/>
          </a:bodyPr>
          <a:lstStyle/>
          <a:p>
            <a:pPr>
              <a:defRPr sz="2700" b="1">
                <a:solidFill>
                  <a:srgbClr val="18304A"/>
                </a:solidFill>
              </a:defRPr>
            </a:pPr>
            <a:r>
              <a:t>Data and analytical workflow</a:t>
            </a:r>
          </a:p>
        </p:txBody>
      </p:sp>
      <p:sp>
        <p:nvSpPr>
          <p:cNvPr id="4" name="Rounded Rectangle 3"/>
          <p:cNvSpPr/>
          <p:nvPr/>
        </p:nvSpPr>
        <p:spPr>
          <a:xfrm>
            <a:off x="594360" y="1828800"/>
            <a:ext cx="1737360" cy="1234440"/>
          </a:xfrm>
          <a:prstGeom prst="roundRect">
            <a:avLst/>
          </a:prstGeom>
          <a:solidFill>
            <a:srgbClr val="F2F6F8"/>
          </a:solidFill>
          <a:ln>
            <a:solidFill>
              <a:srgbClr val="D7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007882"/>
                </a:solidFill>
              </a:defRPr>
            </a:pPr>
            <a:r>
              <a:t>1</a:t>
            </a:r>
          </a:p>
          <a:p>
            <a:pPr algn="ctr">
              <a:defRPr sz="1200" b="1">
                <a:solidFill>
                  <a:srgbClr val="2D3741"/>
                </a:solidFill>
              </a:defRPr>
            </a:pPr>
            <a:r>
              <a:t>API</a:t>
            </a:r>
            <a:br/>
            <a:r>
              <a:t>acquisition</a:t>
            </a:r>
          </a:p>
        </p:txBody>
      </p:sp>
      <p:sp>
        <p:nvSpPr>
          <p:cNvPr id="5" name="Rounded Rectangle 4"/>
          <p:cNvSpPr/>
          <p:nvPr/>
        </p:nvSpPr>
        <p:spPr>
          <a:xfrm>
            <a:off x="2468879" y="1828800"/>
            <a:ext cx="1737360" cy="1234440"/>
          </a:xfrm>
          <a:prstGeom prst="roundRect">
            <a:avLst/>
          </a:prstGeom>
          <a:solidFill>
            <a:srgbClr val="F2F6F8"/>
          </a:solidFill>
          <a:ln>
            <a:solidFill>
              <a:srgbClr val="D7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007882"/>
                </a:solidFill>
              </a:defRPr>
            </a:pPr>
            <a:r>
              <a:t>2</a:t>
            </a:r>
          </a:p>
          <a:p>
            <a:pPr algn="ctr">
              <a:defRPr sz="1200" b="1">
                <a:solidFill>
                  <a:srgbClr val="2D3741"/>
                </a:solidFill>
              </a:defRPr>
            </a:pPr>
            <a:r>
              <a:t>Raw</a:t>
            </a:r>
            <a:br/>
            <a:r>
              <a:t>JSON</a:t>
            </a:r>
          </a:p>
        </p:txBody>
      </p:sp>
      <p:sp>
        <p:nvSpPr>
          <p:cNvPr id="6" name="Rounded Rectangle 5"/>
          <p:cNvSpPr/>
          <p:nvPr/>
        </p:nvSpPr>
        <p:spPr>
          <a:xfrm>
            <a:off x="4343400" y="1828800"/>
            <a:ext cx="1737360" cy="1234440"/>
          </a:xfrm>
          <a:prstGeom prst="roundRect">
            <a:avLst/>
          </a:prstGeom>
          <a:solidFill>
            <a:srgbClr val="F2F6F8"/>
          </a:solidFill>
          <a:ln>
            <a:solidFill>
              <a:srgbClr val="D7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007882"/>
                </a:solidFill>
              </a:defRPr>
            </a:pPr>
            <a:r>
              <a:t>3</a:t>
            </a:r>
          </a:p>
          <a:p>
            <a:pPr algn="ctr">
              <a:defRPr sz="1200" b="1">
                <a:solidFill>
                  <a:srgbClr val="2D3741"/>
                </a:solidFill>
              </a:defRPr>
            </a:pPr>
            <a:r>
              <a:t>Quality</a:t>
            </a:r>
            <a:br/>
            <a:r>
              <a:t>assessment</a:t>
            </a:r>
          </a:p>
        </p:txBody>
      </p:sp>
      <p:sp>
        <p:nvSpPr>
          <p:cNvPr id="7" name="Rounded Rectangle 6"/>
          <p:cNvSpPr/>
          <p:nvPr/>
        </p:nvSpPr>
        <p:spPr>
          <a:xfrm>
            <a:off x="6217920" y="1828800"/>
            <a:ext cx="1737360" cy="1234440"/>
          </a:xfrm>
          <a:prstGeom prst="roundRect">
            <a:avLst/>
          </a:prstGeom>
          <a:solidFill>
            <a:srgbClr val="F2F6F8"/>
          </a:solidFill>
          <a:ln>
            <a:solidFill>
              <a:srgbClr val="D7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007882"/>
                </a:solidFill>
              </a:defRPr>
            </a:pPr>
            <a:r>
              <a:t>4</a:t>
            </a:r>
          </a:p>
          <a:p>
            <a:pPr algn="ctr">
              <a:defRPr sz="1200" b="1">
                <a:solidFill>
                  <a:srgbClr val="2D3741"/>
                </a:solidFill>
              </a:defRPr>
            </a:pPr>
            <a:r>
              <a:t>Cleaning</a:t>
            </a:r>
          </a:p>
        </p:txBody>
      </p:sp>
      <p:sp>
        <p:nvSpPr>
          <p:cNvPr id="8" name="Rounded Rectangle 7"/>
          <p:cNvSpPr/>
          <p:nvPr/>
        </p:nvSpPr>
        <p:spPr>
          <a:xfrm>
            <a:off x="8092440" y="1828800"/>
            <a:ext cx="1737360" cy="1234440"/>
          </a:xfrm>
          <a:prstGeom prst="roundRect">
            <a:avLst/>
          </a:prstGeom>
          <a:solidFill>
            <a:srgbClr val="F2F6F8"/>
          </a:solidFill>
          <a:ln>
            <a:solidFill>
              <a:srgbClr val="D7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007882"/>
                </a:solidFill>
              </a:defRPr>
            </a:pPr>
            <a:r>
              <a:t>5</a:t>
            </a:r>
          </a:p>
          <a:p>
            <a:pPr algn="ctr">
              <a:defRPr sz="1200" b="1">
                <a:solidFill>
                  <a:srgbClr val="2D3741"/>
                </a:solidFill>
              </a:defRPr>
            </a:pPr>
            <a:r>
              <a:t>Statistical</a:t>
            </a:r>
            <a:br/>
            <a:r>
              <a:t>analysis</a:t>
            </a:r>
          </a:p>
        </p:txBody>
      </p:sp>
      <p:sp>
        <p:nvSpPr>
          <p:cNvPr id="9" name="Rounded Rectangle 8"/>
          <p:cNvSpPr/>
          <p:nvPr/>
        </p:nvSpPr>
        <p:spPr>
          <a:xfrm>
            <a:off x="9966960" y="1828800"/>
            <a:ext cx="1737360" cy="1234440"/>
          </a:xfrm>
          <a:prstGeom prst="roundRect">
            <a:avLst/>
          </a:prstGeom>
          <a:solidFill>
            <a:srgbClr val="F2F6F8"/>
          </a:solidFill>
          <a:ln>
            <a:solidFill>
              <a:srgbClr val="D7E1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200" b="1">
                <a:solidFill>
                  <a:srgbClr val="007882"/>
                </a:solidFill>
              </a:defRPr>
            </a:pPr>
            <a:r>
              <a:t>6</a:t>
            </a:r>
          </a:p>
          <a:p>
            <a:pPr algn="ctr">
              <a:defRPr sz="1200" b="1">
                <a:solidFill>
                  <a:srgbClr val="2D3741"/>
                </a:solidFill>
              </a:defRPr>
            </a:pPr>
            <a:r>
              <a:t>Visualisation &amp;</a:t>
            </a:r>
            <a:br/>
            <a:r>
              <a:t>recommendations</a:t>
            </a:r>
          </a:p>
        </p:txBody>
      </p:sp>
      <p:sp>
        <p:nvSpPr>
          <p:cNvPr id="10" name="Rounded Rectangle 9"/>
          <p:cNvSpPr/>
          <p:nvPr/>
        </p:nvSpPr>
        <p:spPr>
          <a:xfrm>
            <a:off x="640080" y="3474720"/>
            <a:ext cx="5194663" cy="3072384"/>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rPr sz="2400">
                <a:latin typeface="Aldhabi" panose="01000000000000000000" pitchFamily="2" charset="-78"/>
                <a:cs typeface="Aldhabi" panose="01000000000000000000" pitchFamily="2" charset="-78"/>
              </a:rPr>
              <a:t>Dataset</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7 EAC countries</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2010–2024 analytical period</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3 World Bank indicators</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Internet users (% of population)</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Mobile cellular subscriptions (per 100 people)</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Access to electricity (% of population)</a:t>
            </a:r>
          </a:p>
        </p:txBody>
      </p:sp>
      <p:sp>
        <p:nvSpPr>
          <p:cNvPr id="11" name="Rounded Rectangle 10"/>
          <p:cNvSpPr/>
          <p:nvPr/>
        </p:nvSpPr>
        <p:spPr>
          <a:xfrm>
            <a:off x="6217920" y="3474720"/>
            <a:ext cx="5194663" cy="3072384"/>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rPr sz="2400">
                <a:latin typeface="Aldhabi" panose="01000000000000000000" pitchFamily="2" charset="-78"/>
                <a:cs typeface="Aldhabi" panose="01000000000000000000" pitchFamily="2" charset="-78"/>
              </a:rPr>
              <a:t>Methods</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Trend and growth analysis</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Pearson and Spearman correlation</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Linear regression</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Mobile–internet gap analysis</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Kenya vs regional-average benchmarking</a:t>
            </a:r>
          </a:p>
        </p:txBody>
      </p:sp>
      <p:sp>
        <p:nvSpPr>
          <p:cNvPr id="12" name="Rectangle 11"/>
          <p:cNvSpPr/>
          <p:nvPr/>
        </p:nvSpPr>
        <p:spPr>
          <a:xfrm>
            <a:off x="594360" y="6510528"/>
            <a:ext cx="10972800" cy="18288"/>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6547104"/>
            <a:ext cx="10789920" cy="201168"/>
          </a:xfrm>
          <a:prstGeom prst="rect">
            <a:avLst/>
          </a:prstGeom>
          <a:noFill/>
        </p:spPr>
        <p:txBody>
          <a:bodyPr wrap="none">
            <a:spAutoFit/>
          </a:bodyPr>
          <a:lstStyle/>
          <a:p>
            <a:pPr>
              <a:defRPr sz="800">
                <a:solidFill>
                  <a:srgbClr val="69737D"/>
                </a:solidFill>
              </a:defRPr>
            </a:pPr>
            <a:r>
              <a:t>Source: World Bank Indicators API | Analysis: Python/Google Colab</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685800"/>
          </a:xfrm>
          <a:prstGeom prst="rect">
            <a:avLst/>
          </a:prstGeom>
          <a:noFill/>
        </p:spPr>
        <p:txBody>
          <a:bodyPr wrap="none">
            <a:spAutoFit/>
          </a:bodyPr>
          <a:lstStyle/>
          <a:p>
            <a:pPr>
              <a:defRPr sz="2700" b="1">
                <a:solidFill>
                  <a:srgbClr val="18304A"/>
                </a:solidFill>
              </a:defRPr>
            </a:pPr>
            <a:r>
              <a:t>Data quality assessment</a:t>
            </a:r>
          </a:p>
        </p:txBody>
      </p:sp>
      <p:sp>
        <p:nvSpPr>
          <p:cNvPr id="4" name="TextBox 3"/>
          <p:cNvSpPr txBox="1"/>
          <p:nvPr/>
        </p:nvSpPr>
        <p:spPr>
          <a:xfrm>
            <a:off x="612648" y="932688"/>
            <a:ext cx="10789920" cy="411480"/>
          </a:xfrm>
          <a:prstGeom prst="rect">
            <a:avLst/>
          </a:prstGeom>
          <a:noFill/>
        </p:spPr>
        <p:txBody>
          <a:bodyPr wrap="none">
            <a:spAutoFit/>
          </a:bodyPr>
          <a:lstStyle/>
          <a:p>
            <a:pPr>
              <a:defRPr sz="1200">
                <a:solidFill>
                  <a:srgbClr val="69737D"/>
                </a:solidFill>
              </a:defRPr>
            </a:pPr>
            <a:r>
              <a:t>Quality checks performed before analysis</a:t>
            </a:r>
          </a:p>
        </p:txBody>
      </p:sp>
      <p:sp>
        <p:nvSpPr>
          <p:cNvPr id="5" name="Rounded Rectangle 4"/>
          <p:cNvSpPr/>
          <p:nvPr/>
        </p:nvSpPr>
        <p:spPr>
          <a:xfrm>
            <a:off x="685800" y="1325880"/>
            <a:ext cx="2423160" cy="114300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007882"/>
                </a:solidFill>
              </a:defRPr>
            </a:pPr>
            <a:r>
              <a:t>0</a:t>
            </a:r>
          </a:p>
          <a:p>
            <a:pPr algn="ctr">
              <a:defRPr sz="1100">
                <a:solidFill>
                  <a:srgbClr val="2D3741"/>
                </a:solidFill>
              </a:defRPr>
            </a:pPr>
            <a:r>
              <a:t>Duplicate records</a:t>
            </a:r>
          </a:p>
        </p:txBody>
      </p:sp>
      <p:sp>
        <p:nvSpPr>
          <p:cNvPr id="6" name="Rounded Rectangle 5"/>
          <p:cNvSpPr/>
          <p:nvPr/>
        </p:nvSpPr>
        <p:spPr>
          <a:xfrm>
            <a:off x="3246120" y="1325880"/>
            <a:ext cx="2423160" cy="114300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007882"/>
                </a:solidFill>
              </a:defRPr>
            </a:pPr>
            <a:r>
              <a:t>0</a:t>
            </a:r>
          </a:p>
          <a:p>
            <a:pPr algn="ctr">
              <a:defRPr sz="1100">
                <a:solidFill>
                  <a:srgbClr val="2D3741"/>
                </a:solidFill>
              </a:defRPr>
            </a:pPr>
            <a:r>
              <a:t>Duplicate country–year pairs</a:t>
            </a:r>
          </a:p>
        </p:txBody>
      </p:sp>
      <p:sp>
        <p:nvSpPr>
          <p:cNvPr id="7" name="Rounded Rectangle 6"/>
          <p:cNvSpPr/>
          <p:nvPr/>
        </p:nvSpPr>
        <p:spPr>
          <a:xfrm>
            <a:off x="5806440" y="1325880"/>
            <a:ext cx="2423160" cy="114300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007882"/>
                </a:solidFill>
              </a:defRPr>
            </a:pPr>
            <a:r>
              <a:t>100%</a:t>
            </a:r>
          </a:p>
          <a:p>
            <a:pPr algn="ctr">
              <a:defRPr sz="1100">
                <a:solidFill>
                  <a:srgbClr val="2D3741"/>
                </a:solidFill>
              </a:defRPr>
            </a:pPr>
            <a:r>
              <a:t>Electricity data completeness</a:t>
            </a:r>
          </a:p>
        </p:txBody>
      </p:sp>
      <p:sp>
        <p:nvSpPr>
          <p:cNvPr id="8" name="Rounded Rectangle 7"/>
          <p:cNvSpPr/>
          <p:nvPr/>
        </p:nvSpPr>
        <p:spPr>
          <a:xfrm>
            <a:off x="8366760" y="1325880"/>
            <a:ext cx="2743200" cy="114300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007882"/>
                </a:solidFill>
              </a:defRPr>
            </a:pPr>
            <a:r>
              <a:t>90.48%</a:t>
            </a:r>
          </a:p>
          <a:p>
            <a:pPr algn="ctr">
              <a:defRPr sz="1100">
                <a:solidFill>
                  <a:srgbClr val="2D3741"/>
                </a:solidFill>
              </a:defRPr>
            </a:pPr>
            <a:r>
              <a:t>Internet data completeness</a:t>
            </a:r>
          </a:p>
        </p:txBody>
      </p:sp>
      <p:sp>
        <p:nvSpPr>
          <p:cNvPr id="9" name="Rounded Rectangle 8"/>
          <p:cNvSpPr/>
          <p:nvPr/>
        </p:nvSpPr>
        <p:spPr>
          <a:xfrm>
            <a:off x="685800" y="2788920"/>
            <a:ext cx="5268686" cy="361188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rPr sz="2400">
                <a:latin typeface="Aldhabi" panose="01000000000000000000" pitchFamily="2" charset="-78"/>
                <a:cs typeface="Aldhabi" panose="01000000000000000000" pitchFamily="2" charset="-78"/>
              </a:rPr>
              <a:t>Key quality findings</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Internet users: 10 missing observations (9.52%).</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Mobile subscriptions: 4 missing observations (3.81%).</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Electricity access: no missing observations in the analytical dataset.</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Three mobile-subscription observations were flagged as statistical outliers by the IQR rule.</a:t>
            </a:r>
          </a:p>
        </p:txBody>
      </p:sp>
      <p:sp>
        <p:nvSpPr>
          <p:cNvPr id="10" name="Rounded Rectangle 9"/>
          <p:cNvSpPr/>
          <p:nvPr/>
        </p:nvSpPr>
        <p:spPr>
          <a:xfrm>
            <a:off x="6263640" y="2788920"/>
            <a:ext cx="5178623" cy="361188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rPr sz="2400">
                <a:latin typeface="Aldhabi" panose="01000000000000000000" pitchFamily="2" charset="-78"/>
                <a:cs typeface="Aldhabi" panose="01000000000000000000" pitchFamily="2" charset="-78"/>
              </a:rPr>
              <a:t>Important limitations</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South Sudan has no comparable 2010 or 2024 internet observation in the extracted dataset.</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Somalia lacks a 2010 internet observation, so its 2010–2024 growth cannot be calculated.</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Burundi and Somalia have missing 2024 mobile-subscription values.</a:t>
            </a:r>
          </a:p>
          <a:p>
            <a:pPr>
              <a:spcAft>
                <a:spcPts val="700"/>
              </a:spcAft>
              <a:defRPr sz="1300">
                <a:solidFill>
                  <a:srgbClr val="2D3741"/>
                </a:solidFill>
              </a:defRPr>
            </a:pPr>
            <a:r>
              <a:rPr sz="2400">
                <a:latin typeface="Aldhabi" panose="01000000000000000000" pitchFamily="2" charset="-78"/>
                <a:cs typeface="Aldhabi" panose="01000000000000000000" pitchFamily="2" charset="-78"/>
              </a:rPr>
              <a:t>• Missing observations were not fabricated through interpolation.</a:t>
            </a:r>
          </a:p>
        </p:txBody>
      </p:sp>
      <p:sp>
        <p:nvSpPr>
          <p:cNvPr id="11" name="Rectangle 10"/>
          <p:cNvSpPr/>
          <p:nvPr/>
        </p:nvSpPr>
        <p:spPr>
          <a:xfrm>
            <a:off x="594360" y="6510528"/>
            <a:ext cx="10972800" cy="18288"/>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6547104"/>
            <a:ext cx="10789920" cy="201168"/>
          </a:xfrm>
          <a:prstGeom prst="rect">
            <a:avLst/>
          </a:prstGeom>
          <a:noFill/>
        </p:spPr>
        <p:txBody>
          <a:bodyPr wrap="none">
            <a:spAutoFit/>
          </a:bodyPr>
          <a:lstStyle/>
          <a:p>
            <a:pPr>
              <a:defRPr sz="800">
                <a:solidFill>
                  <a:srgbClr val="69737D"/>
                </a:solidFill>
              </a:defRPr>
            </a:pPr>
            <a:r>
              <a:t>Source: World Bank Indicators API | Analysis: Python/Google Colab</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1595A09-E336-4D1B-9B3A-06A2287A54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CB00A582-AB0C-67F4-31E5-7D8856E1442F}"/>
              </a:ext>
            </a:extLst>
          </p:cNvPr>
          <p:cNvPicPr>
            <a:picLocks noChangeAspect="1"/>
          </p:cNvPicPr>
          <p:nvPr/>
        </p:nvPicPr>
        <p:blipFill>
          <a:blip r:embed="rId2"/>
          <a:srcRect r="370" b="-1"/>
          <a:stretch>
            <a:fillRect/>
          </a:stretch>
        </p:blipFill>
        <p:spPr>
          <a:xfrm>
            <a:off x="20" y="10"/>
            <a:ext cx="12191980" cy="4558420"/>
          </a:xfrm>
          <a:custGeom>
            <a:avLst/>
            <a:gdLst/>
            <a:ahLst/>
            <a:cxnLst/>
            <a:rect l="l" t="t" r="r" b="b"/>
            <a:pathLst>
              <a:path w="12188952" h="4558430">
                <a:moveTo>
                  <a:pt x="6789701" y="4490221"/>
                </a:moveTo>
                <a:lnTo>
                  <a:pt x="6788702" y="4490299"/>
                </a:lnTo>
                <a:lnTo>
                  <a:pt x="6788476" y="4490833"/>
                </a:lnTo>
                <a:close/>
                <a:moveTo>
                  <a:pt x="0" y="0"/>
                </a:moveTo>
                <a:lnTo>
                  <a:pt x="12188952" y="0"/>
                </a:lnTo>
                <a:lnTo>
                  <a:pt x="12188952" y="3596895"/>
                </a:lnTo>
                <a:lnTo>
                  <a:pt x="12061096" y="3635026"/>
                </a:lnTo>
                <a:cubicBezTo>
                  <a:pt x="11933500" y="3671240"/>
                  <a:pt x="11805390" y="3705769"/>
                  <a:pt x="11676800" y="3738601"/>
                </a:cubicBezTo>
                <a:cubicBezTo>
                  <a:pt x="11262789" y="3846108"/>
                  <a:pt x="10845343" y="3939710"/>
                  <a:pt x="10425355" y="4022140"/>
                </a:cubicBezTo>
                <a:cubicBezTo>
                  <a:pt x="10092810" y="4087351"/>
                  <a:pt x="9759033" y="4145748"/>
                  <a:pt x="9424022" y="4197302"/>
                </a:cubicBezTo>
                <a:cubicBezTo>
                  <a:pt x="9102997" y="4246959"/>
                  <a:pt x="8781133" y="4291526"/>
                  <a:pt x="8458419" y="4331003"/>
                </a:cubicBezTo>
                <a:cubicBezTo>
                  <a:pt x="8211360" y="4361169"/>
                  <a:pt x="7963792" y="4386742"/>
                  <a:pt x="7715970" y="4410950"/>
                </a:cubicBezTo>
                <a:lnTo>
                  <a:pt x="6951716" y="4476730"/>
                </a:lnTo>
                <a:lnTo>
                  <a:pt x="6936303" y="4478801"/>
                </a:lnTo>
                <a:lnTo>
                  <a:pt x="6790448" y="4490162"/>
                </a:lnTo>
                <a:lnTo>
                  <a:pt x="6799941" y="4491982"/>
                </a:lnTo>
                <a:cubicBezTo>
                  <a:pt x="6811623" y="4492448"/>
                  <a:pt x="6823734" y="4490275"/>
                  <a:pt x="6835432" y="4490275"/>
                </a:cubicBezTo>
                <a:cubicBezTo>
                  <a:pt x="6851580" y="4490275"/>
                  <a:pt x="6867729" y="4487668"/>
                  <a:pt x="6884003" y="4487297"/>
                </a:cubicBezTo>
                <a:cubicBezTo>
                  <a:pt x="7115805" y="4481835"/>
                  <a:pt x="7347351" y="4469668"/>
                  <a:pt x="7578771" y="4454770"/>
                </a:cubicBezTo>
                <a:cubicBezTo>
                  <a:pt x="7927552" y="4432302"/>
                  <a:pt x="8276080" y="4404123"/>
                  <a:pt x="8623845" y="4367873"/>
                </a:cubicBezTo>
                <a:cubicBezTo>
                  <a:pt x="8909939" y="4338575"/>
                  <a:pt x="9195310" y="4303940"/>
                  <a:pt x="9479970" y="4263967"/>
                </a:cubicBezTo>
                <a:cubicBezTo>
                  <a:pt x="9864901" y="4209593"/>
                  <a:pt x="10248014" y="4144879"/>
                  <a:pt x="10629308" y="4069810"/>
                </a:cubicBezTo>
                <a:cubicBezTo>
                  <a:pt x="11090114" y="3978690"/>
                  <a:pt x="11546975" y="3871184"/>
                  <a:pt x="11998498" y="3743816"/>
                </a:cubicBezTo>
                <a:lnTo>
                  <a:pt x="12188952" y="3687715"/>
                </a:lnTo>
                <a:lnTo>
                  <a:pt x="12188952" y="3742439"/>
                </a:lnTo>
                <a:lnTo>
                  <a:pt x="11829257" y="3846853"/>
                </a:lnTo>
                <a:cubicBezTo>
                  <a:pt x="11534769" y="3926550"/>
                  <a:pt x="11238120" y="3997436"/>
                  <a:pt x="10939183" y="4061368"/>
                </a:cubicBezTo>
                <a:cubicBezTo>
                  <a:pt x="10622824" y="4129150"/>
                  <a:pt x="10304941" y="4189147"/>
                  <a:pt x="9985530" y="4241373"/>
                </a:cubicBezTo>
                <a:cubicBezTo>
                  <a:pt x="9720036" y="4284822"/>
                  <a:pt x="9453814" y="4323467"/>
                  <a:pt x="9186882" y="4357320"/>
                </a:cubicBezTo>
                <a:cubicBezTo>
                  <a:pt x="8984197" y="4382894"/>
                  <a:pt x="8781514" y="4406977"/>
                  <a:pt x="8578198" y="4426839"/>
                </a:cubicBezTo>
                <a:cubicBezTo>
                  <a:pt x="8340547" y="4449559"/>
                  <a:pt x="8102644" y="4471034"/>
                  <a:pt x="7864358" y="4488290"/>
                </a:cubicBezTo>
                <a:cubicBezTo>
                  <a:pt x="7554994" y="4510634"/>
                  <a:pt x="7245502" y="4528512"/>
                  <a:pt x="6935502" y="4539684"/>
                </a:cubicBezTo>
                <a:cubicBezTo>
                  <a:pt x="6782917" y="4545147"/>
                  <a:pt x="6630334" y="4548995"/>
                  <a:pt x="6477750" y="4553587"/>
                </a:cubicBezTo>
                <a:cubicBezTo>
                  <a:pt x="6439195" y="4551503"/>
                  <a:pt x="6400529" y="4553128"/>
                  <a:pt x="6362294" y="4558430"/>
                </a:cubicBezTo>
                <a:lnTo>
                  <a:pt x="6057129" y="4558430"/>
                </a:lnTo>
                <a:lnTo>
                  <a:pt x="5977784" y="4553836"/>
                </a:lnTo>
                <a:cubicBezTo>
                  <a:pt x="5740261" y="4541423"/>
                  <a:pt x="5502739" y="4527644"/>
                  <a:pt x="5265087" y="4517587"/>
                </a:cubicBezTo>
                <a:cubicBezTo>
                  <a:pt x="4958267" y="4505171"/>
                  <a:pt x="4651826" y="4484691"/>
                  <a:pt x="4346277" y="4455517"/>
                </a:cubicBezTo>
                <a:cubicBezTo>
                  <a:pt x="4021654" y="4424605"/>
                  <a:pt x="3697795" y="4389970"/>
                  <a:pt x="3373045" y="4356948"/>
                </a:cubicBezTo>
                <a:cubicBezTo>
                  <a:pt x="3035412" y="4322686"/>
                  <a:pt x="2698456" y="4283047"/>
                  <a:pt x="2362173" y="4238021"/>
                </a:cubicBezTo>
                <a:cubicBezTo>
                  <a:pt x="1984692" y="4187868"/>
                  <a:pt x="1608364" y="4130142"/>
                  <a:pt x="1233177" y="4064845"/>
                </a:cubicBezTo>
                <a:cubicBezTo>
                  <a:pt x="842181" y="3996132"/>
                  <a:pt x="453758" y="3917644"/>
                  <a:pt x="68500" y="3825138"/>
                </a:cubicBezTo>
                <a:lnTo>
                  <a:pt x="0" y="3807783"/>
                </a:lnTo>
                <a:lnTo>
                  <a:pt x="0" y="3751294"/>
                </a:lnTo>
                <a:lnTo>
                  <a:pt x="72441" y="3770071"/>
                </a:lnTo>
                <a:cubicBezTo>
                  <a:pt x="247961" y="3812249"/>
                  <a:pt x="424164" y="3851509"/>
                  <a:pt x="600716" y="3888441"/>
                </a:cubicBezTo>
                <a:cubicBezTo>
                  <a:pt x="988279" y="3969255"/>
                  <a:pt x="1378133" y="4038153"/>
                  <a:pt x="1769512" y="4098609"/>
                </a:cubicBezTo>
                <a:cubicBezTo>
                  <a:pt x="2052426" y="4142185"/>
                  <a:pt x="2335725" y="4182282"/>
                  <a:pt x="2613554" y="4215551"/>
                </a:cubicBezTo>
                <a:cubicBezTo>
                  <a:pt x="2605544" y="4218158"/>
                  <a:pt x="2594611" y="4208102"/>
                  <a:pt x="2581134" y="4205620"/>
                </a:cubicBezTo>
                <a:cubicBezTo>
                  <a:pt x="2087178" y="4113668"/>
                  <a:pt x="1597684" y="4002775"/>
                  <a:pt x="1112635" y="3872923"/>
                </a:cubicBezTo>
                <a:cubicBezTo>
                  <a:pt x="880453" y="3810852"/>
                  <a:pt x="649713" y="3744374"/>
                  <a:pt x="420412" y="3673490"/>
                </a:cubicBezTo>
                <a:lnTo>
                  <a:pt x="0" y="3534573"/>
                </a:lnTo>
                <a:close/>
              </a:path>
            </a:pathLst>
          </a:custGeom>
        </p:spPr>
      </p:pic>
      <p:sp>
        <p:nvSpPr>
          <p:cNvPr id="11" name="sketch line">
            <a:extLst>
              <a:ext uri="{FF2B5EF4-FFF2-40B4-BE49-F238E27FC236}">
                <a16:creationId xmlns:a16="http://schemas.microsoft.com/office/drawing/2014/main" id="{3540989C-C7B8-473B-BF87-6F2DA6A900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61305" y="5468206"/>
            <a:ext cx="1371600" cy="18288"/>
          </a:xfrm>
          <a:custGeom>
            <a:avLst/>
            <a:gdLst>
              <a:gd name="csX0" fmla="*/ 0 w 1371600"/>
              <a:gd name="csY0" fmla="*/ 0 h 18288"/>
              <a:gd name="csX1" fmla="*/ 685800 w 1371600"/>
              <a:gd name="csY1" fmla="*/ 0 h 18288"/>
              <a:gd name="csX2" fmla="*/ 1371600 w 1371600"/>
              <a:gd name="csY2" fmla="*/ 0 h 18288"/>
              <a:gd name="csX3" fmla="*/ 1371600 w 1371600"/>
              <a:gd name="csY3" fmla="*/ 18288 h 18288"/>
              <a:gd name="csX4" fmla="*/ 713232 w 1371600"/>
              <a:gd name="csY4" fmla="*/ 18288 h 18288"/>
              <a:gd name="csX5" fmla="*/ 0 w 1371600"/>
              <a:gd name="csY5" fmla="*/ 18288 h 18288"/>
              <a:gd name="csX6" fmla="*/ 0 w 1371600"/>
              <a:gd name="csY6" fmla="*/ 0 h 182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71600" h="18288" fill="none" extrusionOk="0">
                <a:moveTo>
                  <a:pt x="0" y="0"/>
                </a:moveTo>
                <a:cubicBezTo>
                  <a:pt x="247303" y="31625"/>
                  <a:pt x="422310" y="-25629"/>
                  <a:pt x="685800" y="0"/>
                </a:cubicBezTo>
                <a:cubicBezTo>
                  <a:pt x="949290" y="25629"/>
                  <a:pt x="1192357" y="6696"/>
                  <a:pt x="1371600" y="0"/>
                </a:cubicBezTo>
                <a:cubicBezTo>
                  <a:pt x="1371355" y="6649"/>
                  <a:pt x="1371915" y="11310"/>
                  <a:pt x="1371600" y="18288"/>
                </a:cubicBezTo>
                <a:cubicBezTo>
                  <a:pt x="1107995" y="26464"/>
                  <a:pt x="1033361" y="32942"/>
                  <a:pt x="713232" y="18288"/>
                </a:cubicBezTo>
                <a:cubicBezTo>
                  <a:pt x="393103" y="3634"/>
                  <a:pt x="289343" y="43221"/>
                  <a:pt x="0" y="18288"/>
                </a:cubicBezTo>
                <a:cubicBezTo>
                  <a:pt x="-459" y="11562"/>
                  <a:pt x="-31" y="5093"/>
                  <a:pt x="0" y="0"/>
                </a:cubicBezTo>
                <a:close/>
              </a:path>
              <a:path w="1371600" h="18288" stroke="0" extrusionOk="0">
                <a:moveTo>
                  <a:pt x="0" y="0"/>
                </a:moveTo>
                <a:cubicBezTo>
                  <a:pt x="170249" y="-24099"/>
                  <a:pt x="504634" y="14338"/>
                  <a:pt x="644652" y="0"/>
                </a:cubicBezTo>
                <a:cubicBezTo>
                  <a:pt x="784670" y="-14338"/>
                  <a:pt x="1087773" y="8679"/>
                  <a:pt x="1371600" y="0"/>
                </a:cubicBezTo>
                <a:cubicBezTo>
                  <a:pt x="1372456" y="3662"/>
                  <a:pt x="1371030" y="13946"/>
                  <a:pt x="1371600" y="18288"/>
                </a:cubicBezTo>
                <a:cubicBezTo>
                  <a:pt x="1176823" y="-1409"/>
                  <a:pt x="900830" y="9989"/>
                  <a:pt x="713232" y="18288"/>
                </a:cubicBezTo>
                <a:cubicBezTo>
                  <a:pt x="525634" y="26587"/>
                  <a:pt x="282837" y="5724"/>
                  <a:pt x="0" y="18288"/>
                </a:cubicBezTo>
                <a:cubicBezTo>
                  <a:pt x="367" y="13143"/>
                  <a:pt x="-823" y="5844"/>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61569767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1287B93-2AD8-2717-61F4-A5A982EC24F0}"/>
              </a:ext>
            </a:extLst>
          </p:cNvPr>
          <p:cNvSpPr txBox="1"/>
          <p:nvPr/>
        </p:nvSpPr>
        <p:spPr>
          <a:xfrm>
            <a:off x="4654294" y="4777739"/>
            <a:ext cx="6897626" cy="1399223"/>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r>
              <a:rPr lang="en-US" sz="2000"/>
              <a:t>Country with HIGHEST growth: Tanzania:  Growth: 28.26 percentage points</a:t>
            </a:r>
          </a:p>
          <a:p>
            <a:pPr indent="-228600" defTabSz="914400">
              <a:lnSpc>
                <a:spcPct val="90000"/>
              </a:lnSpc>
              <a:spcAft>
                <a:spcPts val="600"/>
              </a:spcAft>
              <a:buFont typeface="Arial" panose="020B0604020202020204" pitchFamily="34" charset="0"/>
              <a:buChar char="•"/>
            </a:pPr>
            <a:r>
              <a:rPr lang="en-US" sz="2000"/>
              <a:t>Country with NEGLIGIBLE growth: Somalia &amp; South Sudan</a:t>
            </a:r>
          </a:p>
          <a:p>
            <a:pPr indent="-228600" defTabSz="914400">
              <a:lnSpc>
                <a:spcPct val="90000"/>
              </a:lnSpc>
              <a:spcAft>
                <a:spcPts val="600"/>
              </a:spcAft>
              <a:buFont typeface="Arial" panose="020B0604020202020204" pitchFamily="34" charset="0"/>
              <a:buChar char="•"/>
            </a:pPr>
            <a:endParaRPr lang="en-US" sz="2000"/>
          </a:p>
        </p:txBody>
      </p:sp>
    </p:spTree>
    <p:extLst>
      <p:ext uri="{BB962C8B-B14F-4D97-AF65-F5344CB8AC3E}">
        <p14:creationId xmlns:p14="http://schemas.microsoft.com/office/powerpoint/2010/main" val="8968926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754D27A-5F8B-8109-27F5-3B43CCE7A5E9}"/>
              </a:ext>
            </a:extLst>
          </p:cNvPr>
          <p:cNvSpPr txBox="1"/>
          <p:nvPr/>
        </p:nvSpPr>
        <p:spPr>
          <a:xfrm>
            <a:off x="630936" y="2807208"/>
            <a:ext cx="3429000" cy="3410712"/>
          </a:xfrm>
          <a:prstGeom prst="rect">
            <a:avLst/>
          </a:prstGeom>
        </p:spPr>
        <p:txBody>
          <a:bodyPr vert="horz" lIns="91440" tIns="45720" rIns="91440" bIns="45720" rtlCol="0" anchor="t">
            <a:normAutofit/>
          </a:bodyPr>
          <a:lstStyle/>
          <a:p>
            <a:pPr indent="-228600" defTabSz="914400">
              <a:lnSpc>
                <a:spcPct val="90000"/>
              </a:lnSpc>
              <a:spcAft>
                <a:spcPts val="600"/>
              </a:spcAft>
              <a:buFont typeface="Arial" panose="020B0604020202020204" pitchFamily="34" charset="0"/>
              <a:buChar char="•"/>
            </a:pPr>
            <a:r>
              <a:rPr lang="en-US" sz="2200" dirty="0"/>
              <a:t>Mobile subscriptions far exceed internet penetration in all countries. This shows mobile are widely owned but internet adoption lags behind.</a:t>
            </a:r>
          </a:p>
        </p:txBody>
      </p:sp>
      <p:pic>
        <p:nvPicPr>
          <p:cNvPr id="3" name="Picture 2">
            <a:extLst>
              <a:ext uri="{FF2B5EF4-FFF2-40B4-BE49-F238E27FC236}">
                <a16:creationId xmlns:a16="http://schemas.microsoft.com/office/drawing/2014/main" id="{9F5DCDD9-B064-2A92-56D7-76548618BCB9}"/>
              </a:ext>
            </a:extLst>
          </p:cNvPr>
          <p:cNvPicPr>
            <a:picLocks noChangeAspect="1"/>
          </p:cNvPicPr>
          <p:nvPr/>
        </p:nvPicPr>
        <p:blipFill>
          <a:blip r:embed="rId2"/>
          <a:stretch>
            <a:fillRect/>
          </a:stretch>
        </p:blipFill>
        <p:spPr>
          <a:xfrm>
            <a:off x="4654296" y="1720330"/>
            <a:ext cx="6903720" cy="3417340"/>
          </a:xfrm>
          <a:prstGeom prst="rect">
            <a:avLst/>
          </a:prstGeom>
        </p:spPr>
      </p:pic>
    </p:spTree>
    <p:extLst>
      <p:ext uri="{BB962C8B-B14F-4D97-AF65-F5344CB8AC3E}">
        <p14:creationId xmlns:p14="http://schemas.microsoft.com/office/powerpoint/2010/main" val="2889679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BA513B0-82FF-4F41-8178-885375D1CF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73150026-3555-B0BF-5AF5-FBE59ACD5AB6}"/>
              </a:ext>
            </a:extLst>
          </p:cNvPr>
          <p:cNvPicPr>
            <a:picLocks noChangeAspect="1"/>
          </p:cNvPicPr>
          <p:nvPr/>
        </p:nvPicPr>
        <p:blipFill>
          <a:blip r:embed="rId2"/>
          <a:srcRect r="-1" b="868"/>
          <a:stretch>
            <a:fillRect/>
          </a:stretch>
        </p:blipFill>
        <p:spPr>
          <a:xfrm>
            <a:off x="-1" y="149350"/>
            <a:ext cx="12228129" cy="4666928"/>
          </a:xfrm>
          <a:prstGeom prst="rect">
            <a:avLst/>
          </a:prstGeom>
        </p:spPr>
      </p:pic>
      <p:grpSp>
        <p:nvGrpSpPr>
          <p:cNvPr id="11" name="Group 10">
            <a:extLst>
              <a:ext uri="{FF2B5EF4-FFF2-40B4-BE49-F238E27FC236}">
                <a16:creationId xmlns:a16="http://schemas.microsoft.com/office/drawing/2014/main" id="{93DB8501-F9F2-4ACD-B56A-9019CD5006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2987478"/>
            <a:ext cx="12228128" cy="1828800"/>
            <a:chOff x="-305" y="2987478"/>
            <a:chExt cx="12188952" cy="1828800"/>
          </a:xfrm>
        </p:grpSpPr>
        <p:sp>
          <p:nvSpPr>
            <p:cNvPr id="12" name="Freeform: Shape 11">
              <a:extLst>
                <a:ext uri="{FF2B5EF4-FFF2-40B4-BE49-F238E27FC236}">
                  <a16:creationId xmlns:a16="http://schemas.microsoft.com/office/drawing/2014/main" id="{DD03A94A-ADF5-4334-86B1-DBA5F70ACD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2987478"/>
              <a:ext cx="12188952" cy="1099712"/>
            </a:xfrm>
            <a:custGeom>
              <a:avLst/>
              <a:gdLst>
                <a:gd name="connsiteX0" fmla="*/ 9182100 w 9182100"/>
                <a:gd name="connsiteY0" fmla="*/ 396420 h 932744"/>
                <a:gd name="connsiteX1" fmla="*/ 9103805 w 9182100"/>
                <a:gd name="connsiteY1" fmla="*/ 392229 h 932744"/>
                <a:gd name="connsiteX2" fmla="*/ 8712422 w 9182100"/>
                <a:gd name="connsiteY2" fmla="*/ 359749 h 932744"/>
                <a:gd name="connsiteX3" fmla="*/ 8322755 w 9182100"/>
                <a:gd name="connsiteY3" fmla="*/ 313362 h 932744"/>
                <a:gd name="connsiteX4" fmla="*/ 8134826 w 9182100"/>
                <a:gd name="connsiteY4" fmla="*/ 283930 h 932744"/>
                <a:gd name="connsiteX5" fmla="*/ 8090916 w 9182100"/>
                <a:gd name="connsiteY5" fmla="*/ 275643 h 932744"/>
                <a:gd name="connsiteX6" fmla="*/ 8069485 w 9182100"/>
                <a:gd name="connsiteY6" fmla="*/ 271262 h 932744"/>
                <a:gd name="connsiteX7" fmla="*/ 8041862 w 9182100"/>
                <a:gd name="connsiteY7" fmla="*/ 266595 h 932744"/>
                <a:gd name="connsiteX8" fmla="*/ 7986903 w 9182100"/>
                <a:gd name="connsiteY8" fmla="*/ 257546 h 932744"/>
                <a:gd name="connsiteX9" fmla="*/ 7934230 w 9182100"/>
                <a:gd name="connsiteY9" fmla="*/ 249640 h 932744"/>
                <a:gd name="connsiteX10" fmla="*/ 7727537 w 9182100"/>
                <a:gd name="connsiteY10" fmla="*/ 221922 h 932744"/>
                <a:gd name="connsiteX11" fmla="*/ 7625239 w 9182100"/>
                <a:gd name="connsiteY11" fmla="*/ 209730 h 932744"/>
                <a:gd name="connsiteX12" fmla="*/ 7523227 w 9182100"/>
                <a:gd name="connsiteY12" fmla="*/ 198110 h 932744"/>
                <a:gd name="connsiteX13" fmla="*/ 7115651 w 9182100"/>
                <a:gd name="connsiteY13" fmla="*/ 158010 h 932744"/>
                <a:gd name="connsiteX14" fmla="*/ 6706839 w 9182100"/>
                <a:gd name="connsiteY14" fmla="*/ 126958 h 932744"/>
                <a:gd name="connsiteX15" fmla="*/ 6604064 w 9182100"/>
                <a:gd name="connsiteY15" fmla="*/ 120862 h 932744"/>
                <a:gd name="connsiteX16" fmla="*/ 6501003 w 9182100"/>
                <a:gd name="connsiteY16" fmla="*/ 115338 h 932744"/>
                <a:gd name="connsiteX17" fmla="*/ 6397467 w 9182100"/>
                <a:gd name="connsiteY17" fmla="*/ 110385 h 932744"/>
                <a:gd name="connsiteX18" fmla="*/ 6293168 w 9182100"/>
                <a:gd name="connsiteY18" fmla="*/ 106860 h 932744"/>
                <a:gd name="connsiteX19" fmla="*/ 6079712 w 9182100"/>
                <a:gd name="connsiteY19" fmla="*/ 103908 h 932744"/>
                <a:gd name="connsiteX20" fmla="*/ 6024563 w 9182100"/>
                <a:gd name="connsiteY20" fmla="*/ 104479 h 932744"/>
                <a:gd name="connsiteX21" fmla="*/ 5968080 w 9182100"/>
                <a:gd name="connsiteY21" fmla="*/ 106479 h 932744"/>
                <a:gd name="connsiteX22" fmla="*/ 5855875 w 9182100"/>
                <a:gd name="connsiteY22" fmla="*/ 113242 h 932744"/>
                <a:gd name="connsiteX23" fmla="*/ 5439251 w 9182100"/>
                <a:gd name="connsiteY23" fmla="*/ 160105 h 932744"/>
                <a:gd name="connsiteX24" fmla="*/ 5075396 w 9182100"/>
                <a:gd name="connsiteY24" fmla="*/ 186585 h 932744"/>
                <a:gd name="connsiteX25" fmla="*/ 4712780 w 9182100"/>
                <a:gd name="connsiteY25" fmla="*/ 171249 h 932744"/>
                <a:gd name="connsiteX26" fmla="*/ 4666679 w 9182100"/>
                <a:gd name="connsiteY26" fmla="*/ 166773 h 932744"/>
                <a:gd name="connsiteX27" fmla="*/ 4620292 w 9182100"/>
                <a:gd name="connsiteY27" fmla="*/ 161629 h 932744"/>
                <a:gd name="connsiteX28" fmla="*/ 4573810 w 9182100"/>
                <a:gd name="connsiteY28" fmla="*/ 156009 h 932744"/>
                <a:gd name="connsiteX29" fmla="*/ 4550569 w 9182100"/>
                <a:gd name="connsiteY29" fmla="*/ 153057 h 932744"/>
                <a:gd name="connsiteX30" fmla="*/ 4538948 w 9182100"/>
                <a:gd name="connsiteY30" fmla="*/ 151628 h 932744"/>
                <a:gd name="connsiteX31" fmla="*/ 4526566 w 9182100"/>
                <a:gd name="connsiteY31" fmla="*/ 149913 h 932744"/>
                <a:gd name="connsiteX32" fmla="*/ 4327779 w 9182100"/>
                <a:gd name="connsiteY32" fmla="*/ 122862 h 932744"/>
                <a:gd name="connsiteX33" fmla="*/ 3929729 w 9182100"/>
                <a:gd name="connsiteY33" fmla="*/ 68189 h 932744"/>
                <a:gd name="connsiteX34" fmla="*/ 3729133 w 9182100"/>
                <a:gd name="connsiteY34" fmla="*/ 41900 h 932744"/>
                <a:gd name="connsiteX35" fmla="*/ 3628930 w 9182100"/>
                <a:gd name="connsiteY35" fmla="*/ 28946 h 932744"/>
                <a:gd name="connsiteX36" fmla="*/ 3573399 w 9182100"/>
                <a:gd name="connsiteY36" fmla="*/ 22278 h 932744"/>
                <a:gd name="connsiteX37" fmla="*/ 3516916 w 9182100"/>
                <a:gd name="connsiteY37" fmla="*/ 16468 h 932744"/>
                <a:gd name="connsiteX38" fmla="*/ 3074670 w 9182100"/>
                <a:gd name="connsiteY38" fmla="*/ 752 h 932744"/>
                <a:gd name="connsiteX39" fmla="*/ 2858738 w 9182100"/>
                <a:gd name="connsiteY39" fmla="*/ 8753 h 932744"/>
                <a:gd name="connsiteX40" fmla="*/ 2645474 w 9182100"/>
                <a:gd name="connsiteY40" fmla="*/ 25326 h 932744"/>
                <a:gd name="connsiteX41" fmla="*/ 1810798 w 9182100"/>
                <a:gd name="connsiteY41" fmla="*/ 158010 h 932744"/>
                <a:gd name="connsiteX42" fmla="*/ 1602772 w 9182100"/>
                <a:gd name="connsiteY42" fmla="*/ 208111 h 932744"/>
                <a:gd name="connsiteX43" fmla="*/ 1548860 w 9182100"/>
                <a:gd name="connsiteY43" fmla="*/ 222780 h 932744"/>
                <a:gd name="connsiteX44" fmla="*/ 1501331 w 9182100"/>
                <a:gd name="connsiteY44" fmla="*/ 236115 h 932744"/>
                <a:gd name="connsiteX45" fmla="*/ 1411224 w 9182100"/>
                <a:gd name="connsiteY45" fmla="*/ 260880 h 932744"/>
                <a:gd name="connsiteX46" fmla="*/ 1050893 w 9182100"/>
                <a:gd name="connsiteY46" fmla="*/ 338032 h 932744"/>
                <a:gd name="connsiteX47" fmla="*/ 871252 w 9182100"/>
                <a:gd name="connsiteY47" fmla="*/ 360511 h 932744"/>
                <a:gd name="connsiteX48" fmla="*/ 781812 w 9182100"/>
                <a:gd name="connsiteY48" fmla="*/ 366512 h 932744"/>
                <a:gd name="connsiteX49" fmla="*/ 692563 w 9182100"/>
                <a:gd name="connsiteY49" fmla="*/ 369655 h 932744"/>
                <a:gd name="connsiteX50" fmla="*/ 515017 w 9182100"/>
                <a:gd name="connsiteY50" fmla="*/ 363940 h 932744"/>
                <a:gd name="connsiteX51" fmla="*/ 337661 w 9182100"/>
                <a:gd name="connsiteY51" fmla="*/ 341937 h 932744"/>
                <a:gd name="connsiteX52" fmla="*/ 156972 w 9182100"/>
                <a:gd name="connsiteY52" fmla="*/ 303456 h 932744"/>
                <a:gd name="connsiteX53" fmla="*/ 0 w 9182100"/>
                <a:gd name="connsiteY53" fmla="*/ 261642 h 932744"/>
                <a:gd name="connsiteX54" fmla="*/ 0 w 9182100"/>
                <a:gd name="connsiteY54" fmla="*/ 713412 h 932744"/>
                <a:gd name="connsiteX55" fmla="*/ 9144 w 9182100"/>
                <a:gd name="connsiteY55" fmla="*/ 717699 h 932744"/>
                <a:gd name="connsiteX56" fmla="*/ 213360 w 9182100"/>
                <a:gd name="connsiteY56" fmla="*/ 801042 h 932744"/>
                <a:gd name="connsiteX57" fmla="*/ 653510 w 9182100"/>
                <a:gd name="connsiteY57" fmla="*/ 908199 h 932744"/>
                <a:gd name="connsiteX58" fmla="*/ 1101947 w 9182100"/>
                <a:gd name="connsiteY58" fmla="*/ 930773 h 932744"/>
                <a:gd name="connsiteX59" fmla="*/ 1540002 w 9182100"/>
                <a:gd name="connsiteY59" fmla="*/ 889434 h 932744"/>
                <a:gd name="connsiteX60" fmla="*/ 1647158 w 9182100"/>
                <a:gd name="connsiteY60" fmla="*/ 871242 h 932744"/>
                <a:gd name="connsiteX61" fmla="*/ 1698117 w 9182100"/>
                <a:gd name="connsiteY61" fmla="*/ 862193 h 932744"/>
                <a:gd name="connsiteX62" fmla="*/ 1742789 w 9182100"/>
                <a:gd name="connsiteY62" fmla="*/ 854668 h 932744"/>
                <a:gd name="connsiteX63" fmla="*/ 1931003 w 9182100"/>
                <a:gd name="connsiteY63" fmla="*/ 826950 h 932744"/>
                <a:gd name="connsiteX64" fmla="*/ 2314861 w 9182100"/>
                <a:gd name="connsiteY64" fmla="*/ 783897 h 932744"/>
                <a:gd name="connsiteX65" fmla="*/ 2506885 w 9182100"/>
                <a:gd name="connsiteY65" fmla="*/ 768086 h 932744"/>
                <a:gd name="connsiteX66" fmla="*/ 2602611 w 9182100"/>
                <a:gd name="connsiteY66" fmla="*/ 762085 h 932744"/>
                <a:gd name="connsiteX67" fmla="*/ 2698052 w 9182100"/>
                <a:gd name="connsiteY67" fmla="*/ 756846 h 932744"/>
                <a:gd name="connsiteX68" fmla="*/ 2887980 w 9182100"/>
                <a:gd name="connsiteY68" fmla="*/ 750846 h 932744"/>
                <a:gd name="connsiteX69" fmla="*/ 3075813 w 9182100"/>
                <a:gd name="connsiteY69" fmla="*/ 750179 h 932744"/>
                <a:gd name="connsiteX70" fmla="*/ 3168587 w 9182100"/>
                <a:gd name="connsiteY70" fmla="*/ 752751 h 932744"/>
                <a:gd name="connsiteX71" fmla="*/ 3260408 w 9182100"/>
                <a:gd name="connsiteY71" fmla="*/ 756656 h 932744"/>
                <a:gd name="connsiteX72" fmla="*/ 3440049 w 9182100"/>
                <a:gd name="connsiteY72" fmla="*/ 771610 h 932744"/>
                <a:gd name="connsiteX73" fmla="*/ 3483864 w 9182100"/>
                <a:gd name="connsiteY73" fmla="*/ 776849 h 932744"/>
                <a:gd name="connsiteX74" fmla="*/ 3528536 w 9182100"/>
                <a:gd name="connsiteY74" fmla="*/ 782469 h 932744"/>
                <a:gd name="connsiteX75" fmla="*/ 3628549 w 9182100"/>
                <a:gd name="connsiteY75" fmla="*/ 796089 h 932744"/>
                <a:gd name="connsiteX76" fmla="*/ 3828574 w 9182100"/>
                <a:gd name="connsiteY76" fmla="*/ 823140 h 932744"/>
                <a:gd name="connsiteX77" fmla="*/ 4231196 w 9182100"/>
                <a:gd name="connsiteY77" fmla="*/ 874099 h 932744"/>
                <a:gd name="connsiteX78" fmla="*/ 4433126 w 9182100"/>
                <a:gd name="connsiteY78" fmla="*/ 897435 h 932744"/>
                <a:gd name="connsiteX79" fmla="*/ 4485990 w 9182100"/>
                <a:gd name="connsiteY79" fmla="*/ 903246 h 932744"/>
                <a:gd name="connsiteX80" fmla="*/ 4539806 w 9182100"/>
                <a:gd name="connsiteY80" fmla="*/ 908961 h 932744"/>
                <a:gd name="connsiteX81" fmla="*/ 4593908 w 9182100"/>
                <a:gd name="connsiteY81" fmla="*/ 914199 h 932744"/>
                <a:gd name="connsiteX82" fmla="*/ 4648296 w 9182100"/>
                <a:gd name="connsiteY82" fmla="*/ 918771 h 932744"/>
                <a:gd name="connsiteX83" fmla="*/ 5092446 w 9182100"/>
                <a:gd name="connsiteY83" fmla="*/ 931154 h 932744"/>
                <a:gd name="connsiteX84" fmla="*/ 5533168 w 9182100"/>
                <a:gd name="connsiteY84" fmla="*/ 891816 h 932744"/>
                <a:gd name="connsiteX85" fmla="*/ 5918169 w 9182100"/>
                <a:gd name="connsiteY85" fmla="*/ 840666 h 932744"/>
                <a:gd name="connsiteX86" fmla="*/ 6007323 w 9182100"/>
                <a:gd name="connsiteY86" fmla="*/ 833237 h 932744"/>
                <a:gd name="connsiteX87" fmla="*/ 6051709 w 9182100"/>
                <a:gd name="connsiteY87" fmla="*/ 830570 h 932744"/>
                <a:gd name="connsiteX88" fmla="*/ 6097429 w 9182100"/>
                <a:gd name="connsiteY88" fmla="*/ 828379 h 932744"/>
                <a:gd name="connsiteX89" fmla="*/ 6287834 w 9182100"/>
                <a:gd name="connsiteY89" fmla="*/ 822569 h 932744"/>
                <a:gd name="connsiteX90" fmla="*/ 6681597 w 9182100"/>
                <a:gd name="connsiteY90" fmla="*/ 821235 h 932744"/>
                <a:gd name="connsiteX91" fmla="*/ 7079647 w 9182100"/>
                <a:gd name="connsiteY91" fmla="*/ 826569 h 932744"/>
                <a:gd name="connsiteX92" fmla="*/ 7478173 w 9182100"/>
                <a:gd name="connsiteY92" fmla="*/ 836094 h 932744"/>
                <a:gd name="connsiteX93" fmla="*/ 7871937 w 9182100"/>
                <a:gd name="connsiteY93" fmla="*/ 851430 h 932744"/>
                <a:gd name="connsiteX94" fmla="*/ 7919657 w 9182100"/>
                <a:gd name="connsiteY94" fmla="*/ 854097 h 932744"/>
                <a:gd name="connsiteX95" fmla="*/ 7964901 w 9182100"/>
                <a:gd name="connsiteY95" fmla="*/ 857240 h 932744"/>
                <a:gd name="connsiteX96" fmla="*/ 8015955 w 9182100"/>
                <a:gd name="connsiteY96" fmla="*/ 861050 h 932744"/>
                <a:gd name="connsiteX97" fmla="*/ 8072247 w 9182100"/>
                <a:gd name="connsiteY97" fmla="*/ 864384 h 932744"/>
                <a:gd name="connsiteX98" fmla="*/ 8286750 w 9182100"/>
                <a:gd name="connsiteY98" fmla="*/ 868384 h 932744"/>
                <a:gd name="connsiteX99" fmla="*/ 8704040 w 9182100"/>
                <a:gd name="connsiteY99" fmla="*/ 853716 h 932744"/>
                <a:gd name="connsiteX100" fmla="*/ 9120188 w 9182100"/>
                <a:gd name="connsiteY100" fmla="*/ 814092 h 932744"/>
                <a:gd name="connsiteX101" fmla="*/ 9181909 w 9182100"/>
                <a:gd name="connsiteY101" fmla="*/ 805519 h 932744"/>
                <a:gd name="connsiteX102" fmla="*/ 9181909 w 9182100"/>
                <a:gd name="connsiteY102" fmla="*/ 396420 h 9327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385A18E1-CBE3-4BBD-B1B7-CDBCA685E0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199381"/>
              <a:ext cx="12188952" cy="902694"/>
            </a:xfrm>
            <a:custGeom>
              <a:avLst/>
              <a:gdLst>
                <a:gd name="connsiteX0" fmla="*/ 9182100 w 9182100"/>
                <a:gd name="connsiteY0" fmla="*/ 351088 h 765639"/>
                <a:gd name="connsiteX1" fmla="*/ 9178480 w 9182100"/>
                <a:gd name="connsiteY1" fmla="*/ 350993 h 765639"/>
                <a:gd name="connsiteX2" fmla="*/ 8783955 w 9182100"/>
                <a:gd name="connsiteY2" fmla="*/ 327561 h 765639"/>
                <a:gd name="connsiteX3" fmla="*/ 8390763 w 9182100"/>
                <a:gd name="connsiteY3" fmla="*/ 288795 h 765639"/>
                <a:gd name="connsiteX4" fmla="*/ 8199502 w 9182100"/>
                <a:gd name="connsiteY4" fmla="*/ 262601 h 765639"/>
                <a:gd name="connsiteX5" fmla="*/ 8153972 w 9182100"/>
                <a:gd name="connsiteY5" fmla="*/ 254886 h 765639"/>
                <a:gd name="connsiteX6" fmla="*/ 8131588 w 9182100"/>
                <a:gd name="connsiteY6" fmla="*/ 250790 h 765639"/>
                <a:gd name="connsiteX7" fmla="*/ 8104632 w 9182100"/>
                <a:gd name="connsiteY7" fmla="*/ 246504 h 765639"/>
                <a:gd name="connsiteX8" fmla="*/ 8050911 w 9182100"/>
                <a:gd name="connsiteY8" fmla="*/ 238217 h 765639"/>
                <a:gd name="connsiteX9" fmla="*/ 7998810 w 9182100"/>
                <a:gd name="connsiteY9" fmla="*/ 230978 h 765639"/>
                <a:gd name="connsiteX10" fmla="*/ 7589902 w 9182100"/>
                <a:gd name="connsiteY10" fmla="*/ 183925 h 765639"/>
                <a:gd name="connsiteX11" fmla="*/ 7183469 w 9182100"/>
                <a:gd name="connsiteY11" fmla="*/ 147634 h 765639"/>
                <a:gd name="connsiteX12" fmla="*/ 6775990 w 9182100"/>
                <a:gd name="connsiteY12" fmla="*/ 119821 h 765639"/>
                <a:gd name="connsiteX13" fmla="*/ 6364795 w 9182100"/>
                <a:gd name="connsiteY13" fmla="*/ 102391 h 765639"/>
                <a:gd name="connsiteX14" fmla="*/ 6154293 w 9182100"/>
                <a:gd name="connsiteY14" fmla="*/ 100581 h 765639"/>
                <a:gd name="connsiteX15" fmla="*/ 6100287 w 9182100"/>
                <a:gd name="connsiteY15" fmla="*/ 101343 h 765639"/>
                <a:gd name="connsiteX16" fmla="*/ 6045327 w 9182100"/>
                <a:gd name="connsiteY16" fmla="*/ 103438 h 765639"/>
                <a:gd name="connsiteX17" fmla="*/ 5935980 w 9182100"/>
                <a:gd name="connsiteY17" fmla="*/ 110296 h 765639"/>
                <a:gd name="connsiteX18" fmla="*/ 5523357 w 9182100"/>
                <a:gd name="connsiteY18" fmla="*/ 157635 h 765639"/>
                <a:gd name="connsiteX19" fmla="*/ 5149882 w 9182100"/>
                <a:gd name="connsiteY19" fmla="*/ 185639 h 765639"/>
                <a:gd name="connsiteX20" fmla="*/ 4777073 w 9182100"/>
                <a:gd name="connsiteY20" fmla="*/ 170685 h 765639"/>
                <a:gd name="connsiteX21" fmla="*/ 4729925 w 9182100"/>
                <a:gd name="connsiteY21" fmla="*/ 166208 h 765639"/>
                <a:gd name="connsiteX22" fmla="*/ 4682585 w 9182100"/>
                <a:gd name="connsiteY22" fmla="*/ 161064 h 765639"/>
                <a:gd name="connsiteX23" fmla="*/ 4635151 w 9182100"/>
                <a:gd name="connsiteY23" fmla="*/ 155445 h 765639"/>
                <a:gd name="connsiteX24" fmla="*/ 4611434 w 9182100"/>
                <a:gd name="connsiteY24" fmla="*/ 152492 h 765639"/>
                <a:gd name="connsiteX25" fmla="*/ 4587145 w 9182100"/>
                <a:gd name="connsiteY25" fmla="*/ 149349 h 765639"/>
                <a:gd name="connsiteX26" fmla="*/ 4387977 w 9182100"/>
                <a:gd name="connsiteY26" fmla="*/ 122774 h 765639"/>
                <a:gd name="connsiteX27" fmla="*/ 3989356 w 9182100"/>
                <a:gd name="connsiteY27" fmla="*/ 68577 h 765639"/>
                <a:gd name="connsiteX28" fmla="*/ 3789140 w 9182100"/>
                <a:gd name="connsiteY28" fmla="*/ 42192 h 765639"/>
                <a:gd name="connsiteX29" fmla="*/ 3689033 w 9182100"/>
                <a:gd name="connsiteY29" fmla="*/ 29143 h 765639"/>
                <a:gd name="connsiteX30" fmla="*/ 3634835 w 9182100"/>
                <a:gd name="connsiteY30" fmla="*/ 22571 h 765639"/>
                <a:gd name="connsiteX31" fmla="*/ 3579876 w 9182100"/>
                <a:gd name="connsiteY31" fmla="*/ 16856 h 765639"/>
                <a:gd name="connsiteX32" fmla="*/ 3147441 w 9182100"/>
                <a:gd name="connsiteY32" fmla="*/ 473 h 765639"/>
                <a:gd name="connsiteX33" fmla="*/ 2724722 w 9182100"/>
                <a:gd name="connsiteY33" fmla="*/ 22857 h 765639"/>
                <a:gd name="connsiteX34" fmla="*/ 1898428 w 9182100"/>
                <a:gd name="connsiteY34" fmla="*/ 147730 h 765639"/>
                <a:gd name="connsiteX35" fmla="*/ 1692878 w 9182100"/>
                <a:gd name="connsiteY35" fmla="*/ 195069 h 765639"/>
                <a:gd name="connsiteX36" fmla="*/ 1640205 w 9182100"/>
                <a:gd name="connsiteY36" fmla="*/ 208785 h 765639"/>
                <a:gd name="connsiteX37" fmla="*/ 1592294 w 9182100"/>
                <a:gd name="connsiteY37" fmla="*/ 221643 h 765639"/>
                <a:gd name="connsiteX38" fmla="*/ 1500092 w 9182100"/>
                <a:gd name="connsiteY38" fmla="*/ 245551 h 765639"/>
                <a:gd name="connsiteX39" fmla="*/ 1130046 w 9182100"/>
                <a:gd name="connsiteY39" fmla="*/ 318227 h 765639"/>
                <a:gd name="connsiteX40" fmla="*/ 944880 w 9182100"/>
                <a:gd name="connsiteY40" fmla="*/ 337658 h 765639"/>
                <a:gd name="connsiteX41" fmla="*/ 852583 w 9182100"/>
                <a:gd name="connsiteY41" fmla="*/ 341944 h 765639"/>
                <a:gd name="connsiteX42" fmla="*/ 760476 w 9182100"/>
                <a:gd name="connsiteY42" fmla="*/ 343087 h 765639"/>
                <a:gd name="connsiteX43" fmla="*/ 577215 w 9182100"/>
                <a:gd name="connsiteY43" fmla="*/ 332800 h 765639"/>
                <a:gd name="connsiteX44" fmla="*/ 394907 w 9182100"/>
                <a:gd name="connsiteY44" fmla="*/ 305463 h 765639"/>
                <a:gd name="connsiteX45" fmla="*/ 211265 w 9182100"/>
                <a:gd name="connsiteY45" fmla="*/ 261363 h 765639"/>
                <a:gd name="connsiteX46" fmla="*/ 17526 w 9182100"/>
                <a:gd name="connsiteY46" fmla="*/ 204880 h 765639"/>
                <a:gd name="connsiteX47" fmla="*/ 0 w 9182100"/>
                <a:gd name="connsiteY47" fmla="*/ 199927 h 765639"/>
                <a:gd name="connsiteX48" fmla="*/ 0 w 9182100"/>
                <a:gd name="connsiteY48" fmla="*/ 526920 h 765639"/>
                <a:gd name="connsiteX49" fmla="*/ 100298 w 9182100"/>
                <a:gd name="connsiteY49" fmla="*/ 571973 h 765639"/>
                <a:gd name="connsiteX50" fmla="*/ 301562 w 9182100"/>
                <a:gd name="connsiteY50" fmla="*/ 649697 h 765639"/>
                <a:gd name="connsiteX51" fmla="*/ 731044 w 9182100"/>
                <a:gd name="connsiteY51" fmla="*/ 746947 h 765639"/>
                <a:gd name="connsiteX52" fmla="*/ 1168241 w 9182100"/>
                <a:gd name="connsiteY52" fmla="*/ 762759 h 765639"/>
                <a:gd name="connsiteX53" fmla="*/ 1596581 w 9182100"/>
                <a:gd name="connsiteY53" fmla="*/ 716944 h 765639"/>
                <a:gd name="connsiteX54" fmla="*/ 1701641 w 9182100"/>
                <a:gd name="connsiteY54" fmla="*/ 697894 h 765639"/>
                <a:gd name="connsiteX55" fmla="*/ 1752124 w 9182100"/>
                <a:gd name="connsiteY55" fmla="*/ 688273 h 765639"/>
                <a:gd name="connsiteX56" fmla="*/ 1797939 w 9182100"/>
                <a:gd name="connsiteY56" fmla="*/ 679891 h 765639"/>
                <a:gd name="connsiteX57" fmla="*/ 1988630 w 9182100"/>
                <a:gd name="connsiteY57" fmla="*/ 649316 h 765639"/>
                <a:gd name="connsiteX58" fmla="*/ 2376297 w 9182100"/>
                <a:gd name="connsiteY58" fmla="*/ 601691 h 765639"/>
                <a:gd name="connsiteX59" fmla="*/ 2570416 w 9182100"/>
                <a:gd name="connsiteY59" fmla="*/ 584165 h 765639"/>
                <a:gd name="connsiteX60" fmla="*/ 2764155 w 9182100"/>
                <a:gd name="connsiteY60" fmla="*/ 571497 h 765639"/>
                <a:gd name="connsiteX61" fmla="*/ 2956941 w 9182100"/>
                <a:gd name="connsiteY61" fmla="*/ 564163 h 765639"/>
                <a:gd name="connsiteX62" fmla="*/ 3148298 w 9182100"/>
                <a:gd name="connsiteY62" fmla="*/ 562639 h 765639"/>
                <a:gd name="connsiteX63" fmla="*/ 3337274 w 9182100"/>
                <a:gd name="connsiteY63" fmla="*/ 568544 h 765639"/>
                <a:gd name="connsiteX64" fmla="*/ 3522345 w 9182100"/>
                <a:gd name="connsiteY64" fmla="*/ 583308 h 765639"/>
                <a:gd name="connsiteX65" fmla="*/ 3567779 w 9182100"/>
                <a:gd name="connsiteY65" fmla="*/ 588642 h 765639"/>
                <a:gd name="connsiteX66" fmla="*/ 3613785 w 9182100"/>
                <a:gd name="connsiteY66" fmla="*/ 594357 h 765639"/>
                <a:gd name="connsiteX67" fmla="*/ 3713798 w 9182100"/>
                <a:gd name="connsiteY67" fmla="*/ 607882 h 765639"/>
                <a:gd name="connsiteX68" fmla="*/ 3913823 w 9182100"/>
                <a:gd name="connsiteY68" fmla="*/ 634838 h 765639"/>
                <a:gd name="connsiteX69" fmla="*/ 4315873 w 9182100"/>
                <a:gd name="connsiteY69" fmla="*/ 686273 h 765639"/>
                <a:gd name="connsiteX70" fmla="*/ 4517422 w 9182100"/>
                <a:gd name="connsiteY70" fmla="*/ 710086 h 765639"/>
                <a:gd name="connsiteX71" fmla="*/ 4728972 w 9182100"/>
                <a:gd name="connsiteY71" fmla="*/ 731422 h 765639"/>
                <a:gd name="connsiteX72" fmla="*/ 5162931 w 9182100"/>
                <a:gd name="connsiteY72" fmla="*/ 744185 h 765639"/>
                <a:gd name="connsiteX73" fmla="*/ 5594033 w 9182100"/>
                <a:gd name="connsiteY73" fmla="*/ 706466 h 765639"/>
                <a:gd name="connsiteX74" fmla="*/ 5982939 w 9182100"/>
                <a:gd name="connsiteY74" fmla="*/ 655793 h 765639"/>
                <a:gd name="connsiteX75" fmla="*/ 6075045 w 9182100"/>
                <a:gd name="connsiteY75" fmla="*/ 648459 h 765639"/>
                <a:gd name="connsiteX76" fmla="*/ 6167819 w 9182100"/>
                <a:gd name="connsiteY76" fmla="*/ 643887 h 765639"/>
                <a:gd name="connsiteX77" fmla="*/ 6361081 w 9182100"/>
                <a:gd name="connsiteY77" fmla="*/ 639124 h 765639"/>
                <a:gd name="connsiteX78" fmla="*/ 6757321 w 9182100"/>
                <a:gd name="connsiteY78" fmla="*/ 640458 h 765639"/>
                <a:gd name="connsiteX79" fmla="*/ 7156704 w 9182100"/>
                <a:gd name="connsiteY79" fmla="*/ 649030 h 765639"/>
                <a:gd name="connsiteX80" fmla="*/ 7556373 w 9182100"/>
                <a:gd name="connsiteY80" fmla="*/ 662365 h 765639"/>
                <a:gd name="connsiteX81" fmla="*/ 7952328 w 9182100"/>
                <a:gd name="connsiteY81" fmla="*/ 682177 h 765639"/>
                <a:gd name="connsiteX82" fmla="*/ 8000714 w 9182100"/>
                <a:gd name="connsiteY82" fmla="*/ 685511 h 765639"/>
                <a:gd name="connsiteX83" fmla="*/ 8047196 w 9182100"/>
                <a:gd name="connsiteY83" fmla="*/ 689416 h 765639"/>
                <a:gd name="connsiteX84" fmla="*/ 8097965 w 9182100"/>
                <a:gd name="connsiteY84" fmla="*/ 693893 h 765639"/>
                <a:gd name="connsiteX85" fmla="*/ 8152733 w 9182100"/>
                <a:gd name="connsiteY85" fmla="*/ 697894 h 765639"/>
                <a:gd name="connsiteX86" fmla="*/ 8363903 w 9182100"/>
                <a:gd name="connsiteY86" fmla="*/ 705133 h 765639"/>
                <a:gd name="connsiteX87" fmla="*/ 8777764 w 9182100"/>
                <a:gd name="connsiteY87" fmla="*/ 698084 h 765639"/>
                <a:gd name="connsiteX88" fmla="*/ 9182005 w 9182100"/>
                <a:gd name="connsiteY88" fmla="*/ 668366 h 765639"/>
                <a:gd name="connsiteX89" fmla="*/ 9182005 w 9182100"/>
                <a:gd name="connsiteY89" fmla="*/ 351088 h 765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cap="flat">
              <a:no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133EDCAA-1D6C-4710-9DA1-C7FC946D8E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501488"/>
              <a:ext cx="12188952" cy="641669"/>
            </a:xfrm>
            <a:custGeom>
              <a:avLst/>
              <a:gdLst>
                <a:gd name="connsiteX0" fmla="*/ 9182100 w 9182100"/>
                <a:gd name="connsiteY0" fmla="*/ 154189 h 544245"/>
                <a:gd name="connsiteX1" fmla="*/ 9047702 w 9182100"/>
                <a:gd name="connsiteY1" fmla="*/ 162762 h 544245"/>
                <a:gd name="connsiteX2" fmla="*/ 8652224 w 9182100"/>
                <a:gd name="connsiteY2" fmla="*/ 178287 h 544245"/>
                <a:gd name="connsiteX3" fmla="*/ 8255603 w 9182100"/>
                <a:gd name="connsiteY3" fmla="*/ 161047 h 544245"/>
                <a:gd name="connsiteX4" fmla="*/ 8060722 w 9182100"/>
                <a:gd name="connsiteY4" fmla="*/ 140854 h 544245"/>
                <a:gd name="connsiteX5" fmla="*/ 8013478 w 9182100"/>
                <a:gd name="connsiteY5" fmla="*/ 134187 h 544245"/>
                <a:gd name="connsiteX6" fmla="*/ 7990428 w 9182100"/>
                <a:gd name="connsiteY6" fmla="*/ 130567 h 544245"/>
                <a:gd name="connsiteX7" fmla="*/ 7964139 w 9182100"/>
                <a:gd name="connsiteY7" fmla="*/ 126853 h 544245"/>
                <a:gd name="connsiteX8" fmla="*/ 7911656 w 9182100"/>
                <a:gd name="connsiteY8" fmla="*/ 119518 h 544245"/>
                <a:gd name="connsiteX9" fmla="*/ 7860220 w 9182100"/>
                <a:gd name="connsiteY9" fmla="*/ 113232 h 544245"/>
                <a:gd name="connsiteX10" fmla="*/ 7453884 w 9182100"/>
                <a:gd name="connsiteY10" fmla="*/ 70369 h 544245"/>
                <a:gd name="connsiteX11" fmla="*/ 7048976 w 9182100"/>
                <a:gd name="connsiteY11" fmla="*/ 36556 h 544245"/>
                <a:gd name="connsiteX12" fmla="*/ 6846285 w 9182100"/>
                <a:gd name="connsiteY12" fmla="*/ 22649 h 544245"/>
                <a:gd name="connsiteX13" fmla="*/ 6643212 w 9182100"/>
                <a:gd name="connsiteY13" fmla="*/ 11600 h 544245"/>
                <a:gd name="connsiteX14" fmla="*/ 6541485 w 9182100"/>
                <a:gd name="connsiteY14" fmla="*/ 7314 h 544245"/>
                <a:gd name="connsiteX15" fmla="*/ 6439567 w 9182100"/>
                <a:gd name="connsiteY15" fmla="*/ 3885 h 544245"/>
                <a:gd name="connsiteX16" fmla="*/ 6337459 w 9182100"/>
                <a:gd name="connsiteY16" fmla="*/ 1313 h 544245"/>
                <a:gd name="connsiteX17" fmla="*/ 6234970 w 9182100"/>
                <a:gd name="connsiteY17" fmla="*/ 75 h 544245"/>
                <a:gd name="connsiteX18" fmla="*/ 6027802 w 9182100"/>
                <a:gd name="connsiteY18" fmla="*/ 2265 h 544245"/>
                <a:gd name="connsiteX19" fmla="*/ 5921978 w 9182100"/>
                <a:gd name="connsiteY19" fmla="*/ 6552 h 544245"/>
                <a:gd name="connsiteX20" fmla="*/ 5815965 w 9182100"/>
                <a:gd name="connsiteY20" fmla="*/ 14362 h 544245"/>
                <a:gd name="connsiteX21" fmla="*/ 5408390 w 9182100"/>
                <a:gd name="connsiteY21" fmla="*/ 67036 h 544245"/>
                <a:gd name="connsiteX22" fmla="*/ 5023866 w 9182100"/>
                <a:gd name="connsiteY22" fmla="*/ 103992 h 544245"/>
                <a:gd name="connsiteX23" fmla="*/ 4831556 w 9182100"/>
                <a:gd name="connsiteY23" fmla="*/ 106374 h 544245"/>
                <a:gd name="connsiteX24" fmla="*/ 4637723 w 9182100"/>
                <a:gd name="connsiteY24" fmla="*/ 98754 h 544245"/>
                <a:gd name="connsiteX25" fmla="*/ 4442460 w 9182100"/>
                <a:gd name="connsiteY25" fmla="*/ 83038 h 544245"/>
                <a:gd name="connsiteX26" fmla="*/ 4341686 w 9182100"/>
                <a:gd name="connsiteY26" fmla="*/ 77227 h 544245"/>
                <a:gd name="connsiteX27" fmla="*/ 4241006 w 9182100"/>
                <a:gd name="connsiteY27" fmla="*/ 71989 h 544245"/>
                <a:gd name="connsiteX28" fmla="*/ 3836956 w 9182100"/>
                <a:gd name="connsiteY28" fmla="*/ 54177 h 544245"/>
                <a:gd name="connsiteX29" fmla="*/ 3634549 w 9182100"/>
                <a:gd name="connsiteY29" fmla="*/ 45414 h 544245"/>
                <a:gd name="connsiteX30" fmla="*/ 3533394 w 9182100"/>
                <a:gd name="connsiteY30" fmla="*/ 40461 h 544245"/>
                <a:gd name="connsiteX31" fmla="*/ 3481959 w 9182100"/>
                <a:gd name="connsiteY31" fmla="*/ 37889 h 544245"/>
                <a:gd name="connsiteX32" fmla="*/ 3430238 w 9182100"/>
                <a:gd name="connsiteY32" fmla="*/ 35889 h 544245"/>
                <a:gd name="connsiteX33" fmla="*/ 3020473 w 9182100"/>
                <a:gd name="connsiteY33" fmla="*/ 37603 h 544245"/>
                <a:gd name="connsiteX34" fmla="*/ 2614422 w 9182100"/>
                <a:gd name="connsiteY34" fmla="*/ 56844 h 544245"/>
                <a:gd name="connsiteX35" fmla="*/ 2208657 w 9182100"/>
                <a:gd name="connsiteY35" fmla="*/ 81609 h 544245"/>
                <a:gd name="connsiteX36" fmla="*/ 1800606 w 9182100"/>
                <a:gd name="connsiteY36" fmla="*/ 107612 h 544245"/>
                <a:gd name="connsiteX37" fmla="*/ 1594676 w 9182100"/>
                <a:gd name="connsiteY37" fmla="*/ 124948 h 544245"/>
                <a:gd name="connsiteX38" fmla="*/ 1491996 w 9182100"/>
                <a:gd name="connsiteY38" fmla="*/ 136568 h 544245"/>
                <a:gd name="connsiteX39" fmla="*/ 1442942 w 9182100"/>
                <a:gd name="connsiteY39" fmla="*/ 141902 h 544245"/>
                <a:gd name="connsiteX40" fmla="*/ 1418463 w 9182100"/>
                <a:gd name="connsiteY40" fmla="*/ 144664 h 544245"/>
                <a:gd name="connsiteX41" fmla="*/ 1393984 w 9182100"/>
                <a:gd name="connsiteY41" fmla="*/ 146855 h 544245"/>
                <a:gd name="connsiteX42" fmla="*/ 1006697 w 9182100"/>
                <a:gd name="connsiteY42" fmla="*/ 169810 h 544245"/>
                <a:gd name="connsiteX43" fmla="*/ 816864 w 9182100"/>
                <a:gd name="connsiteY43" fmla="*/ 170953 h 544245"/>
                <a:gd name="connsiteX44" fmla="*/ 769906 w 9182100"/>
                <a:gd name="connsiteY44" fmla="*/ 169715 h 544245"/>
                <a:gd name="connsiteX45" fmla="*/ 723043 w 9182100"/>
                <a:gd name="connsiteY45" fmla="*/ 168096 h 544245"/>
                <a:gd name="connsiteX46" fmla="*/ 676370 w 9182100"/>
                <a:gd name="connsiteY46" fmla="*/ 166286 h 544245"/>
                <a:gd name="connsiteX47" fmla="*/ 629888 w 9182100"/>
                <a:gd name="connsiteY47" fmla="*/ 163333 h 544245"/>
                <a:gd name="connsiteX48" fmla="*/ 445484 w 9182100"/>
                <a:gd name="connsiteY48" fmla="*/ 146093 h 544245"/>
                <a:gd name="connsiteX49" fmla="*/ 263366 w 9182100"/>
                <a:gd name="connsiteY49" fmla="*/ 115232 h 544245"/>
                <a:gd name="connsiteX50" fmla="*/ 81439 w 9182100"/>
                <a:gd name="connsiteY50" fmla="*/ 70369 h 544245"/>
                <a:gd name="connsiteX51" fmla="*/ 35338 w 9182100"/>
                <a:gd name="connsiteY51" fmla="*/ 57034 h 544245"/>
                <a:gd name="connsiteX52" fmla="*/ 0 w 9182100"/>
                <a:gd name="connsiteY52" fmla="*/ 46652 h 544245"/>
                <a:gd name="connsiteX53" fmla="*/ 0 w 9182100"/>
                <a:gd name="connsiteY53" fmla="*/ 426795 h 544245"/>
                <a:gd name="connsiteX54" fmla="*/ 178594 w 9182100"/>
                <a:gd name="connsiteY54" fmla="*/ 479658 h 544245"/>
                <a:gd name="connsiteX55" fmla="*/ 610457 w 9182100"/>
                <a:gd name="connsiteY55" fmla="*/ 542619 h 544245"/>
                <a:gd name="connsiteX56" fmla="*/ 826865 w 9182100"/>
                <a:gd name="connsiteY56" fmla="*/ 539666 h 544245"/>
                <a:gd name="connsiteX57" fmla="*/ 1039654 w 9182100"/>
                <a:gd name="connsiteY57" fmla="*/ 515187 h 544245"/>
                <a:gd name="connsiteX58" fmla="*/ 1449705 w 9182100"/>
                <a:gd name="connsiteY58" fmla="*/ 415270 h 544245"/>
                <a:gd name="connsiteX59" fmla="*/ 1548765 w 9182100"/>
                <a:gd name="connsiteY59" fmla="*/ 382123 h 544245"/>
                <a:gd name="connsiteX60" fmla="*/ 1642872 w 9182100"/>
                <a:gd name="connsiteY60" fmla="*/ 349261 h 544245"/>
                <a:gd name="connsiteX61" fmla="*/ 1832991 w 9182100"/>
                <a:gd name="connsiteY61" fmla="*/ 289158 h 544245"/>
                <a:gd name="connsiteX62" fmla="*/ 2222754 w 9182100"/>
                <a:gd name="connsiteY62" fmla="*/ 193623 h 544245"/>
                <a:gd name="connsiteX63" fmla="*/ 2620137 w 9182100"/>
                <a:gd name="connsiteY63" fmla="*/ 138378 h 544245"/>
                <a:gd name="connsiteX64" fmla="*/ 3020473 w 9182100"/>
                <a:gd name="connsiteY64" fmla="*/ 127234 h 544245"/>
                <a:gd name="connsiteX65" fmla="*/ 3219736 w 9182100"/>
                <a:gd name="connsiteY65" fmla="*/ 139807 h 544245"/>
                <a:gd name="connsiteX66" fmla="*/ 3318605 w 9182100"/>
                <a:gd name="connsiteY66" fmla="*/ 151713 h 544245"/>
                <a:gd name="connsiteX67" fmla="*/ 3367754 w 9182100"/>
                <a:gd name="connsiteY67" fmla="*/ 158666 h 544245"/>
                <a:gd name="connsiteX68" fmla="*/ 3416618 w 9182100"/>
                <a:gd name="connsiteY68" fmla="*/ 166858 h 544245"/>
                <a:gd name="connsiteX69" fmla="*/ 3465195 w 9182100"/>
                <a:gd name="connsiteY69" fmla="*/ 176097 h 544245"/>
                <a:gd name="connsiteX70" fmla="*/ 3513868 w 9182100"/>
                <a:gd name="connsiteY70" fmla="*/ 185908 h 544245"/>
                <a:gd name="connsiteX71" fmla="*/ 3612737 w 9182100"/>
                <a:gd name="connsiteY71" fmla="*/ 207625 h 544245"/>
                <a:gd name="connsiteX72" fmla="*/ 3810381 w 9182100"/>
                <a:gd name="connsiteY72" fmla="*/ 252106 h 544245"/>
                <a:gd name="connsiteX73" fmla="*/ 4206621 w 9182100"/>
                <a:gd name="connsiteY73" fmla="*/ 339736 h 544245"/>
                <a:gd name="connsiteX74" fmla="*/ 4306062 w 9182100"/>
                <a:gd name="connsiteY74" fmla="*/ 359834 h 544245"/>
                <a:gd name="connsiteX75" fmla="*/ 4405503 w 9182100"/>
                <a:gd name="connsiteY75" fmla="*/ 378979 h 544245"/>
                <a:gd name="connsiteX76" fmla="*/ 4611529 w 9182100"/>
                <a:gd name="connsiteY76" fmla="*/ 405745 h 544245"/>
                <a:gd name="connsiteX77" fmla="*/ 5031677 w 9182100"/>
                <a:gd name="connsiteY77" fmla="*/ 427462 h 544245"/>
                <a:gd name="connsiteX78" fmla="*/ 5243227 w 9182100"/>
                <a:gd name="connsiteY78" fmla="*/ 418699 h 544245"/>
                <a:gd name="connsiteX79" fmla="*/ 5451062 w 9182100"/>
                <a:gd name="connsiteY79" fmla="*/ 398029 h 544245"/>
                <a:gd name="connsiteX80" fmla="*/ 5844635 w 9182100"/>
                <a:gd name="connsiteY80" fmla="*/ 353071 h 544245"/>
                <a:gd name="connsiteX81" fmla="*/ 5939981 w 9182100"/>
                <a:gd name="connsiteY81" fmla="*/ 346975 h 544245"/>
                <a:gd name="connsiteX82" fmla="*/ 6035898 w 9182100"/>
                <a:gd name="connsiteY82" fmla="*/ 344118 h 544245"/>
                <a:gd name="connsiteX83" fmla="*/ 6232303 w 9182100"/>
                <a:gd name="connsiteY83" fmla="*/ 343642 h 544245"/>
                <a:gd name="connsiteX84" fmla="*/ 6630924 w 9182100"/>
                <a:gd name="connsiteY84" fmla="*/ 351071 h 544245"/>
                <a:gd name="connsiteX85" fmla="*/ 6831140 w 9182100"/>
                <a:gd name="connsiteY85" fmla="*/ 356596 h 544245"/>
                <a:gd name="connsiteX86" fmla="*/ 7031545 w 9182100"/>
                <a:gd name="connsiteY86" fmla="*/ 362501 h 544245"/>
                <a:gd name="connsiteX87" fmla="*/ 7432262 w 9182100"/>
                <a:gd name="connsiteY87" fmla="*/ 378408 h 544245"/>
                <a:gd name="connsiteX88" fmla="*/ 7830312 w 9182100"/>
                <a:gd name="connsiteY88" fmla="*/ 402506 h 544245"/>
                <a:gd name="connsiteX89" fmla="*/ 7879270 w 9182100"/>
                <a:gd name="connsiteY89" fmla="*/ 406792 h 544245"/>
                <a:gd name="connsiteX90" fmla="*/ 7926895 w 9182100"/>
                <a:gd name="connsiteY90" fmla="*/ 411745 h 544245"/>
                <a:gd name="connsiteX91" fmla="*/ 7977569 w 9182100"/>
                <a:gd name="connsiteY91" fmla="*/ 417175 h 544245"/>
                <a:gd name="connsiteX92" fmla="*/ 8030623 w 9182100"/>
                <a:gd name="connsiteY92" fmla="*/ 422127 h 544245"/>
                <a:gd name="connsiteX93" fmla="*/ 8237982 w 9182100"/>
                <a:gd name="connsiteY93" fmla="*/ 435177 h 544245"/>
                <a:gd name="connsiteX94" fmla="*/ 8647748 w 9182100"/>
                <a:gd name="connsiteY94" fmla="*/ 449464 h 544245"/>
                <a:gd name="connsiteX95" fmla="*/ 8852821 w 9182100"/>
                <a:gd name="connsiteY95" fmla="*/ 456132 h 544245"/>
                <a:gd name="connsiteX96" fmla="*/ 8955786 w 9182100"/>
                <a:gd name="connsiteY96" fmla="*/ 458132 h 544245"/>
                <a:gd name="connsiteX97" fmla="*/ 9059227 w 9182100"/>
                <a:gd name="connsiteY97" fmla="*/ 457751 h 544245"/>
                <a:gd name="connsiteX98" fmla="*/ 9182005 w 9182100"/>
                <a:gd name="connsiteY98" fmla="*/ 452512 h 544245"/>
                <a:gd name="connsiteX99" fmla="*/ 9182005 w 9182100"/>
                <a:gd name="connsiteY99" fmla="*/ 154189 h 54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useBgFill="1">
          <p:nvSpPr>
            <p:cNvPr id="15" name="Freeform: Shape 14">
              <a:extLst>
                <a:ext uri="{FF2B5EF4-FFF2-40B4-BE49-F238E27FC236}">
                  <a16:creationId xmlns:a16="http://schemas.microsoft.com/office/drawing/2014/main" id="{3916FBF2-1CC9-460D-A42B-FB77E515EC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14750"/>
              <a:ext cx="12188952" cy="1201528"/>
            </a:xfrm>
            <a:custGeom>
              <a:avLst/>
              <a:gdLst>
                <a:gd name="connsiteX0" fmla="*/ 0 w 9182100"/>
                <a:gd name="connsiteY0" fmla="*/ 1019102 h 1019102"/>
                <a:gd name="connsiteX1" fmla="*/ 9182100 w 9182100"/>
                <a:gd name="connsiteY1" fmla="*/ 1019102 h 1019102"/>
                <a:gd name="connsiteX2" fmla="*/ 9182100 w 9182100"/>
                <a:gd name="connsiteY2" fmla="*/ 273009 h 1019102"/>
                <a:gd name="connsiteX3" fmla="*/ 9065895 w 9182100"/>
                <a:gd name="connsiteY3" fmla="*/ 278343 h 1019102"/>
                <a:gd name="connsiteX4" fmla="*/ 8261890 w 9182100"/>
                <a:gd name="connsiteY4" fmla="*/ 257769 h 1019102"/>
                <a:gd name="connsiteX5" fmla="*/ 8038624 w 9182100"/>
                <a:gd name="connsiteY5" fmla="*/ 235956 h 1019102"/>
                <a:gd name="connsiteX6" fmla="*/ 7862221 w 9182100"/>
                <a:gd name="connsiteY6" fmla="*/ 213097 h 1019102"/>
                <a:gd name="connsiteX7" fmla="*/ 6238780 w 9182100"/>
                <a:gd name="connsiteY7" fmla="*/ 126419 h 1019102"/>
                <a:gd name="connsiteX8" fmla="*/ 5828729 w 9182100"/>
                <a:gd name="connsiteY8" fmla="*/ 142421 h 1019102"/>
                <a:gd name="connsiteX9" fmla="*/ 5227606 w 9182100"/>
                <a:gd name="connsiteY9" fmla="*/ 219764 h 1019102"/>
                <a:gd name="connsiteX10" fmla="*/ 4394359 w 9182100"/>
                <a:gd name="connsiteY10" fmla="*/ 190713 h 1019102"/>
                <a:gd name="connsiteX11" fmla="*/ 3789236 w 9182100"/>
                <a:gd name="connsiteY11" fmla="*/ 107655 h 1019102"/>
                <a:gd name="connsiteX12" fmla="*/ 3391567 w 9182100"/>
                <a:gd name="connsiteY12" fmla="*/ 30502 h 1019102"/>
                <a:gd name="connsiteX13" fmla="*/ 2180177 w 9182100"/>
                <a:gd name="connsiteY13" fmla="*/ 67745 h 1019102"/>
                <a:gd name="connsiteX14" fmla="*/ 1543336 w 9182100"/>
                <a:gd name="connsiteY14" fmla="*/ 209953 h 1019102"/>
                <a:gd name="connsiteX15" fmla="*/ 1276731 w 9182100"/>
                <a:gd name="connsiteY15" fmla="*/ 286439 h 1019102"/>
                <a:gd name="connsiteX16" fmla="*/ 441293 w 9182100"/>
                <a:gd name="connsiteY16" fmla="*/ 292345 h 1019102"/>
                <a:gd name="connsiteX17" fmla="*/ 0 w 9182100"/>
                <a:gd name="connsiteY17" fmla="*/ 135563 h 1019102"/>
                <a:gd name="connsiteX18" fmla="*/ 0 w 9182100"/>
                <a:gd name="connsiteY18" fmla="*/ 1019102 h 1019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cap="flat">
              <a:noFill/>
              <a:prstDash val="solid"/>
              <a:miter/>
            </a:ln>
          </p:spPr>
          <p:txBody>
            <a:bodyPr rtlCol="0" anchor="ctr"/>
            <a:lstStyle/>
            <a:p>
              <a:endParaRPr lang="en-US" dirty="0"/>
            </a:p>
          </p:txBody>
        </p:sp>
      </p:grpSp>
      <p:sp>
        <p:nvSpPr>
          <p:cNvPr id="4" name="TextBox 3">
            <a:extLst>
              <a:ext uri="{FF2B5EF4-FFF2-40B4-BE49-F238E27FC236}">
                <a16:creationId xmlns:a16="http://schemas.microsoft.com/office/drawing/2014/main" id="{721C4044-5601-604E-AE6A-07F922BB25B3}"/>
              </a:ext>
            </a:extLst>
          </p:cNvPr>
          <p:cNvSpPr txBox="1"/>
          <p:nvPr/>
        </p:nvSpPr>
        <p:spPr>
          <a:xfrm>
            <a:off x="356617" y="5082171"/>
            <a:ext cx="11040042" cy="1509935"/>
          </a:xfrm>
          <a:prstGeom prst="rect">
            <a:avLst/>
          </a:prstGeom>
        </p:spPr>
        <p:txBody>
          <a:bodyPr vert="horz" lIns="91440" tIns="45720" rIns="91440" bIns="45720" rtlCol="0" anchor="ctr">
            <a:normAutofit/>
          </a:bodyPr>
          <a:lstStyle/>
          <a:p>
            <a:pPr defTabSz="914400">
              <a:lnSpc>
                <a:spcPct val="90000"/>
              </a:lnSpc>
              <a:spcAft>
                <a:spcPts val="600"/>
              </a:spcAft>
            </a:pPr>
            <a:r>
              <a:rPr lang="en-US" sz="1700" dirty="0">
                <a:solidFill>
                  <a:schemeClr val="tx2"/>
                </a:solidFill>
              </a:rPr>
              <a:t>Based on the analytics above, we find that countries with higher electricity access tend to have higher internet usage. This confirms electricity is a foundational requirement for digital transformation. Meaning, without power, devices cannot be charged or connected. </a:t>
            </a:r>
            <a:r>
              <a:rPr lang="en-US" sz="1700" b="1" dirty="0">
                <a:solidFill>
                  <a:schemeClr val="tx2"/>
                </a:solidFill>
              </a:rPr>
              <a:t>Correlation between Electricity and Internet: 0.744</a:t>
            </a:r>
          </a:p>
          <a:p>
            <a:pPr defTabSz="914400">
              <a:lnSpc>
                <a:spcPct val="90000"/>
              </a:lnSpc>
              <a:spcAft>
                <a:spcPts val="600"/>
              </a:spcAft>
            </a:pPr>
            <a:r>
              <a:rPr lang="en-US" sz="1700" dirty="0">
                <a:solidFill>
                  <a:schemeClr val="tx2"/>
                </a:solidFill>
              </a:rPr>
              <a:t>Scatter plot: best for showing the relationship between two continuous variables.</a:t>
            </a:r>
          </a:p>
          <a:p>
            <a:pPr defTabSz="914400">
              <a:lnSpc>
                <a:spcPct val="90000"/>
              </a:lnSpc>
              <a:spcAft>
                <a:spcPts val="600"/>
              </a:spcAft>
            </a:pPr>
            <a:r>
              <a:rPr lang="en-US" sz="1700" dirty="0">
                <a:solidFill>
                  <a:schemeClr val="tx2"/>
                </a:solidFill>
              </a:rPr>
              <a:t>Heatmap: standard visualization for a correlation matrix.</a:t>
            </a:r>
          </a:p>
        </p:txBody>
      </p:sp>
    </p:spTree>
    <p:extLst>
      <p:ext uri="{BB962C8B-B14F-4D97-AF65-F5344CB8AC3E}">
        <p14:creationId xmlns:p14="http://schemas.microsoft.com/office/powerpoint/2010/main" val="4291310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7465A-0901-E450-8E92-68C8EB6F6055}"/>
              </a:ext>
            </a:extLst>
          </p:cNvPr>
          <p:cNvSpPr>
            <a:spLocks noGrp="1"/>
          </p:cNvSpPr>
          <p:nvPr>
            <p:ph type="title"/>
          </p:nvPr>
        </p:nvSpPr>
        <p:spPr/>
        <p:txBody>
          <a:bodyPr/>
          <a:lstStyle/>
          <a:p>
            <a:r>
              <a:rPr lang="en-US"/>
              <a:t>Regression Analysis</a:t>
            </a:r>
            <a:endParaRPr lang="en-GB" dirty="0"/>
          </a:p>
        </p:txBody>
      </p:sp>
      <p:pic>
        <p:nvPicPr>
          <p:cNvPr id="6" name="Content Placeholder 5">
            <a:extLst>
              <a:ext uri="{FF2B5EF4-FFF2-40B4-BE49-F238E27FC236}">
                <a16:creationId xmlns:a16="http://schemas.microsoft.com/office/drawing/2014/main" id="{4F624FF4-683A-9A38-03B0-BCA51BDEFF26}"/>
              </a:ext>
            </a:extLst>
          </p:cNvPr>
          <p:cNvPicPr>
            <a:picLocks noGrp="1" noChangeAspect="1"/>
          </p:cNvPicPr>
          <p:nvPr>
            <p:ph idx="1"/>
          </p:nvPr>
        </p:nvPicPr>
        <p:blipFill>
          <a:blip r:embed="rId2"/>
          <a:stretch>
            <a:fillRect/>
          </a:stretch>
        </p:blipFill>
        <p:spPr>
          <a:xfrm>
            <a:off x="904240" y="1417638"/>
            <a:ext cx="8229600" cy="2275783"/>
          </a:xfrm>
          <a:prstGeom prst="rect">
            <a:avLst/>
          </a:prstGeom>
        </p:spPr>
      </p:pic>
      <p:sp>
        <p:nvSpPr>
          <p:cNvPr id="8" name="TextBox 7">
            <a:extLst>
              <a:ext uri="{FF2B5EF4-FFF2-40B4-BE49-F238E27FC236}">
                <a16:creationId xmlns:a16="http://schemas.microsoft.com/office/drawing/2014/main" id="{222987F7-0988-0C66-9FDD-EA5689E86EB1}"/>
              </a:ext>
            </a:extLst>
          </p:cNvPr>
          <p:cNvSpPr txBox="1"/>
          <p:nvPr/>
        </p:nvSpPr>
        <p:spPr>
          <a:xfrm>
            <a:off x="91440" y="4196418"/>
            <a:ext cx="11832336" cy="2308324"/>
          </a:xfrm>
          <a:prstGeom prst="rect">
            <a:avLst/>
          </a:prstGeom>
          <a:noFill/>
        </p:spPr>
        <p:txBody>
          <a:bodyPr wrap="square">
            <a:spAutoFit/>
          </a:bodyPr>
          <a:lstStyle/>
          <a:p>
            <a:pPr marL="285750" indent="-285750">
              <a:buFont typeface="Arial" panose="020B0604020202020204" pitchFamily="34" charset="0"/>
              <a:buChar char="•"/>
            </a:pPr>
            <a:r>
              <a:rPr lang="en-US"/>
              <a:t>Actual vs. Predicted — each dot is a country-year. If the dots are close to the red diagonal line, the model's predictions are close to the real internet-usage numbers. Dots far off the line are cases the model can't explain well.</a:t>
            </a:r>
          </a:p>
          <a:p>
            <a:pPr marL="285750" indent="-285750">
              <a:buFont typeface="Arial" panose="020B0604020202020204" pitchFamily="34" charset="0"/>
              <a:buChar char="•"/>
            </a:pPr>
            <a:r>
              <a:rPr lang="en-US"/>
              <a:t>Residuals vs. Fitted — If the dots scatter randomly around the red zero-line, the model's errors are well-behaved. If you see a funnel shape or a curve, it's a sign the relationship isn't as simple as a straight line, or that some countries are systematically over/under-predicted.</a:t>
            </a:r>
          </a:p>
          <a:p>
            <a:pPr marL="285750" indent="-285750">
              <a:buFont typeface="Arial" panose="020B0604020202020204" pitchFamily="34" charset="0"/>
              <a:buChar char="•"/>
            </a:pPr>
            <a:r>
              <a:rPr lang="en-US"/>
              <a:t>Coefficient plot (right) — Each bar is one factor's effect size, and the whiskers are the 95% confidence interval — how much that estimate could plausibly be off. A blue bar means "statistically significant" (p &lt; 0.05); gray means "can't confidently distinguish this effect from zero." If a bar's whiskers cross the black zero-line, it's not significant.</a:t>
            </a:r>
            <a:endParaRPr lang="en-GB" dirty="0"/>
          </a:p>
        </p:txBody>
      </p:sp>
    </p:spTree>
    <p:extLst>
      <p:ext uri="{BB962C8B-B14F-4D97-AF65-F5344CB8AC3E}">
        <p14:creationId xmlns:p14="http://schemas.microsoft.com/office/powerpoint/2010/main" val="36941464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685800"/>
          </a:xfrm>
          <a:prstGeom prst="rect">
            <a:avLst/>
          </a:prstGeom>
          <a:noFill/>
        </p:spPr>
        <p:txBody>
          <a:bodyPr wrap="none">
            <a:spAutoFit/>
          </a:bodyPr>
          <a:lstStyle/>
          <a:p>
            <a:pPr>
              <a:defRPr sz="2700" b="1">
                <a:solidFill>
                  <a:srgbClr val="18304A"/>
                </a:solidFill>
              </a:defRPr>
            </a:pPr>
            <a:r>
              <a:t>Mobile connectivity is much higher than internet adoption</a:t>
            </a:r>
          </a:p>
        </p:txBody>
      </p:sp>
      <p:sp>
        <p:nvSpPr>
          <p:cNvPr id="4" name="TextBox 3"/>
          <p:cNvSpPr txBox="1"/>
          <p:nvPr/>
        </p:nvSpPr>
        <p:spPr>
          <a:xfrm>
            <a:off x="612648" y="932688"/>
            <a:ext cx="10789920" cy="411480"/>
          </a:xfrm>
          <a:prstGeom prst="rect">
            <a:avLst/>
          </a:prstGeom>
          <a:noFill/>
        </p:spPr>
        <p:txBody>
          <a:bodyPr wrap="none">
            <a:spAutoFit/>
          </a:bodyPr>
          <a:lstStyle/>
          <a:p>
            <a:pPr>
              <a:defRPr sz="1200">
                <a:solidFill>
                  <a:srgbClr val="69737D"/>
                </a:solidFill>
              </a:defRPr>
            </a:pPr>
            <a:r>
              <a:t>2024 comparison of mobile subscriptions and internet usage</a:t>
            </a:r>
          </a:p>
        </p:txBody>
      </p:sp>
      <p:pic>
        <p:nvPicPr>
          <p:cNvPr id="5" name="Picture 4" descr="chart_37.png"/>
          <p:cNvPicPr>
            <a:picLocks noChangeAspect="1"/>
          </p:cNvPicPr>
          <p:nvPr/>
        </p:nvPicPr>
        <p:blipFill>
          <a:blip r:embed="rId2"/>
          <a:stretch>
            <a:fillRect/>
          </a:stretch>
        </p:blipFill>
        <p:spPr>
          <a:xfrm>
            <a:off x="594360" y="1234440"/>
            <a:ext cx="6629400" cy="4733119"/>
          </a:xfrm>
          <a:prstGeom prst="rect">
            <a:avLst/>
          </a:prstGeom>
        </p:spPr>
      </p:pic>
      <p:sp>
        <p:nvSpPr>
          <p:cNvPr id="6" name="Rounded Rectangle 5"/>
          <p:cNvSpPr/>
          <p:nvPr/>
        </p:nvSpPr>
        <p:spPr>
          <a:xfrm>
            <a:off x="7543800" y="1417320"/>
            <a:ext cx="3566160" cy="114300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007882"/>
                </a:solidFill>
              </a:defRPr>
            </a:pPr>
            <a:r>
              <a:t>126.56</a:t>
            </a:r>
          </a:p>
          <a:p>
            <a:pPr algn="ctr">
              <a:defRPr sz="1100">
                <a:solidFill>
                  <a:srgbClr val="2D3741"/>
                </a:solidFill>
              </a:defRPr>
            </a:pPr>
            <a:r>
              <a:t>Tanzania mobile subscriptions / 100 people</a:t>
            </a:r>
          </a:p>
        </p:txBody>
      </p:sp>
      <p:sp>
        <p:nvSpPr>
          <p:cNvPr id="7" name="Rounded Rectangle 6"/>
          <p:cNvSpPr/>
          <p:nvPr/>
        </p:nvSpPr>
        <p:spPr>
          <a:xfrm>
            <a:off x="7543800" y="2743200"/>
            <a:ext cx="3566160" cy="114300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007882"/>
                </a:solidFill>
              </a:defRPr>
            </a:pPr>
            <a:r>
              <a:t>31.16%</a:t>
            </a:r>
          </a:p>
          <a:p>
            <a:pPr algn="ctr">
              <a:defRPr sz="1100">
                <a:solidFill>
                  <a:srgbClr val="2D3741"/>
                </a:solidFill>
              </a:defRPr>
            </a:pPr>
            <a:r>
              <a:t>Tanzania internet users</a:t>
            </a:r>
          </a:p>
        </p:txBody>
      </p:sp>
      <p:sp>
        <p:nvSpPr>
          <p:cNvPr id="8" name="Rounded Rectangle 7"/>
          <p:cNvSpPr/>
          <p:nvPr/>
        </p:nvSpPr>
        <p:spPr>
          <a:xfrm>
            <a:off x="7360920" y="4251960"/>
            <a:ext cx="3794760" cy="150876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t>Interpretation</a:t>
            </a:r>
          </a:p>
          <a:p>
            <a:pPr>
              <a:spcAft>
                <a:spcPts val="700"/>
              </a:spcAft>
              <a:defRPr sz="1300">
                <a:solidFill>
                  <a:srgbClr val="2D3741"/>
                </a:solidFill>
              </a:defRPr>
            </a:pPr>
            <a:r>
              <a:t>• Kenya also shows very high mobile subscription density (126.48 per 100).</a:t>
            </a:r>
          </a:p>
          <a:p>
            <a:pPr>
              <a:spcAft>
                <a:spcPts val="700"/>
              </a:spcAft>
              <a:defRPr sz="1300">
                <a:solidFill>
                  <a:srgbClr val="2D3741"/>
                </a:solidFill>
              </a:defRPr>
            </a:pPr>
            <a:r>
              <a:t>• The relationship is positive, but mobile subscriptions do not translate one-for-one into internet adoption.</a:t>
            </a:r>
          </a:p>
        </p:txBody>
      </p:sp>
      <p:sp>
        <p:nvSpPr>
          <p:cNvPr id="9" name="Rectangle 8"/>
          <p:cNvSpPr/>
          <p:nvPr/>
        </p:nvSpPr>
        <p:spPr>
          <a:xfrm>
            <a:off x="594360" y="6510528"/>
            <a:ext cx="10972800" cy="18288"/>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792" y="6547104"/>
            <a:ext cx="10789920" cy="201168"/>
          </a:xfrm>
          <a:prstGeom prst="rect">
            <a:avLst/>
          </a:prstGeom>
          <a:noFill/>
        </p:spPr>
        <p:txBody>
          <a:bodyPr wrap="none">
            <a:spAutoFit/>
          </a:bodyPr>
          <a:lstStyle/>
          <a:p>
            <a:pPr>
              <a:defRPr sz="800">
                <a:solidFill>
                  <a:srgbClr val="69737D"/>
                </a:solidFill>
              </a:defRPr>
            </a:pPr>
            <a:r>
              <a:t>Source: World Bank Indicators API | Analysis: Python/Google Colab</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685800"/>
          </a:xfrm>
          <a:prstGeom prst="rect">
            <a:avLst/>
          </a:prstGeom>
          <a:noFill/>
        </p:spPr>
        <p:txBody>
          <a:bodyPr wrap="none">
            <a:spAutoFit/>
          </a:bodyPr>
          <a:lstStyle/>
          <a:p>
            <a:pPr>
              <a:defRPr sz="2700" b="1">
                <a:solidFill>
                  <a:srgbClr val="18304A"/>
                </a:solidFill>
              </a:defRPr>
            </a:pPr>
            <a:r>
              <a:t>Electricity access is positively associated with internet use</a:t>
            </a:r>
          </a:p>
        </p:txBody>
      </p:sp>
      <p:sp>
        <p:nvSpPr>
          <p:cNvPr id="4" name="TextBox 3"/>
          <p:cNvSpPr txBox="1"/>
          <p:nvPr/>
        </p:nvSpPr>
        <p:spPr>
          <a:xfrm>
            <a:off x="612648" y="932688"/>
            <a:ext cx="10789920" cy="411480"/>
          </a:xfrm>
          <a:prstGeom prst="rect">
            <a:avLst/>
          </a:prstGeom>
          <a:noFill/>
        </p:spPr>
        <p:txBody>
          <a:bodyPr wrap="none">
            <a:spAutoFit/>
          </a:bodyPr>
          <a:lstStyle/>
          <a:p>
            <a:pPr>
              <a:defRPr sz="1200">
                <a:solidFill>
                  <a:srgbClr val="69737D"/>
                </a:solidFill>
              </a:defRPr>
            </a:pPr>
            <a:r>
              <a:t>2024 cross-country relationship; association is suggestive rather than causal</a:t>
            </a:r>
          </a:p>
        </p:txBody>
      </p:sp>
      <p:pic>
        <p:nvPicPr>
          <p:cNvPr id="5" name="Picture 4" descr="chart_43.png"/>
          <p:cNvPicPr>
            <a:picLocks noChangeAspect="1"/>
          </p:cNvPicPr>
          <p:nvPr/>
        </p:nvPicPr>
        <p:blipFill>
          <a:blip r:embed="rId2"/>
          <a:stretch>
            <a:fillRect/>
          </a:stretch>
        </p:blipFill>
        <p:spPr>
          <a:xfrm>
            <a:off x="594360" y="1234440"/>
            <a:ext cx="6720840" cy="4837144"/>
          </a:xfrm>
          <a:prstGeom prst="rect">
            <a:avLst/>
          </a:prstGeom>
        </p:spPr>
      </p:pic>
      <p:sp>
        <p:nvSpPr>
          <p:cNvPr id="6" name="Rounded Rectangle 5"/>
          <p:cNvSpPr/>
          <p:nvPr/>
        </p:nvSpPr>
        <p:spPr>
          <a:xfrm>
            <a:off x="7635240" y="1417320"/>
            <a:ext cx="3246120" cy="109728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007882"/>
                </a:solidFill>
              </a:defRPr>
            </a:pPr>
            <a:r>
              <a:t>r = 0.743</a:t>
            </a:r>
          </a:p>
          <a:p>
            <a:pPr algn="ctr">
              <a:defRPr sz="1100">
                <a:solidFill>
                  <a:srgbClr val="2D3741"/>
                </a:solidFill>
              </a:defRPr>
            </a:pPr>
            <a:r>
              <a:t>Pearson correlation</a:t>
            </a:r>
          </a:p>
        </p:txBody>
      </p:sp>
      <p:sp>
        <p:nvSpPr>
          <p:cNvPr id="7" name="Rounded Rectangle 6"/>
          <p:cNvSpPr/>
          <p:nvPr/>
        </p:nvSpPr>
        <p:spPr>
          <a:xfrm>
            <a:off x="7635240" y="2697480"/>
            <a:ext cx="3246120" cy="109728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007882"/>
                </a:solidFill>
              </a:defRPr>
            </a:pPr>
            <a:r>
              <a:t>R² = 0.551</a:t>
            </a:r>
          </a:p>
          <a:p>
            <a:pPr algn="ctr">
              <a:defRPr sz="1100">
                <a:solidFill>
                  <a:srgbClr val="2D3741"/>
                </a:solidFill>
              </a:defRPr>
            </a:pPr>
            <a:r>
              <a:t>Linear regression</a:t>
            </a:r>
          </a:p>
        </p:txBody>
      </p:sp>
      <p:sp>
        <p:nvSpPr>
          <p:cNvPr id="8" name="Rounded Rectangle 7"/>
          <p:cNvSpPr/>
          <p:nvPr/>
        </p:nvSpPr>
        <p:spPr>
          <a:xfrm>
            <a:off x="7635240" y="3977639"/>
            <a:ext cx="3246120" cy="109728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007882"/>
                </a:solidFill>
              </a:defRPr>
            </a:pPr>
            <a:r>
              <a:t>p = 0.091</a:t>
            </a:r>
          </a:p>
          <a:p>
            <a:pPr algn="ctr">
              <a:defRPr sz="1100">
                <a:solidFill>
                  <a:srgbClr val="2D3741"/>
                </a:solidFill>
              </a:defRPr>
            </a:pPr>
            <a:r>
              <a:t>Pearson test</a:t>
            </a:r>
          </a:p>
        </p:txBody>
      </p:sp>
      <p:sp>
        <p:nvSpPr>
          <p:cNvPr id="9" name="Rounded Rectangle 8"/>
          <p:cNvSpPr/>
          <p:nvPr/>
        </p:nvSpPr>
        <p:spPr>
          <a:xfrm>
            <a:off x="7360920" y="5257800"/>
            <a:ext cx="3749039" cy="82296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t>Statistical conclusion</a:t>
            </a:r>
          </a:p>
          <a:p>
            <a:pPr>
              <a:spcAft>
                <a:spcPts val="700"/>
              </a:spcAft>
              <a:defRPr sz="1300">
                <a:solidFill>
                  <a:srgbClr val="2D3741"/>
                </a:solidFill>
              </a:defRPr>
            </a:pPr>
            <a:r>
              <a:t>• Positive association, but not statistically significant at the 5% level.</a:t>
            </a:r>
          </a:p>
        </p:txBody>
      </p:sp>
      <p:sp>
        <p:nvSpPr>
          <p:cNvPr id="10" name="Rectangle 9"/>
          <p:cNvSpPr/>
          <p:nvPr/>
        </p:nvSpPr>
        <p:spPr>
          <a:xfrm>
            <a:off x="594360" y="6510528"/>
            <a:ext cx="10972800" cy="18288"/>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 y="6547104"/>
            <a:ext cx="10789920" cy="201168"/>
          </a:xfrm>
          <a:prstGeom prst="rect">
            <a:avLst/>
          </a:prstGeom>
          <a:noFill/>
        </p:spPr>
        <p:txBody>
          <a:bodyPr wrap="none">
            <a:spAutoFit/>
          </a:bodyPr>
          <a:lstStyle/>
          <a:p>
            <a:pPr>
              <a:defRPr sz="800">
                <a:solidFill>
                  <a:srgbClr val="69737D"/>
                </a:solidFill>
              </a:defRPr>
            </a:pPr>
            <a:r>
              <a:t>Source: World Bank Indicators API | Analysis: Python/Google Colab</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685800"/>
          </a:xfrm>
          <a:prstGeom prst="rect">
            <a:avLst/>
          </a:prstGeom>
          <a:noFill/>
        </p:spPr>
        <p:txBody>
          <a:bodyPr wrap="none">
            <a:spAutoFit/>
          </a:bodyPr>
          <a:lstStyle/>
          <a:p>
            <a:pPr>
              <a:defRPr sz="2700" b="1">
                <a:solidFill>
                  <a:srgbClr val="18304A"/>
                </a:solidFill>
              </a:defRPr>
            </a:pPr>
            <a:r>
              <a:t>The largest mobile–internet gap is in Tanzania</a:t>
            </a:r>
          </a:p>
        </p:txBody>
      </p:sp>
      <p:sp>
        <p:nvSpPr>
          <p:cNvPr id="4" name="TextBox 3"/>
          <p:cNvSpPr txBox="1"/>
          <p:nvPr/>
        </p:nvSpPr>
        <p:spPr>
          <a:xfrm>
            <a:off x="612648" y="932688"/>
            <a:ext cx="10789920" cy="411480"/>
          </a:xfrm>
          <a:prstGeom prst="rect">
            <a:avLst/>
          </a:prstGeom>
          <a:noFill/>
        </p:spPr>
        <p:txBody>
          <a:bodyPr wrap="none">
            <a:spAutoFit/>
          </a:bodyPr>
          <a:lstStyle/>
          <a:p>
            <a:pPr>
              <a:defRPr sz="1200">
                <a:solidFill>
                  <a:srgbClr val="69737D"/>
                </a:solidFill>
              </a:defRPr>
            </a:pPr>
            <a:r>
              <a:t>2024 gap = mobile subscriptions per 100 people minus internet users (%)</a:t>
            </a:r>
          </a:p>
        </p:txBody>
      </p:sp>
      <p:sp>
        <p:nvSpPr>
          <p:cNvPr id="6" name="Rounded Rectangle 5"/>
          <p:cNvSpPr/>
          <p:nvPr/>
        </p:nvSpPr>
        <p:spPr>
          <a:xfrm>
            <a:off x="7955279" y="1417320"/>
            <a:ext cx="3063240" cy="114300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500" b="1">
                <a:solidFill>
                  <a:srgbClr val="007882"/>
                </a:solidFill>
              </a:defRPr>
            </a:pPr>
            <a:r>
              <a:t>95.40 pp</a:t>
            </a:r>
          </a:p>
          <a:p>
            <a:pPr algn="ctr">
              <a:defRPr sz="1100">
                <a:solidFill>
                  <a:srgbClr val="2D3741"/>
                </a:solidFill>
              </a:defRPr>
            </a:pPr>
            <a:r>
              <a:t>Tanzania's digital gap</a:t>
            </a:r>
          </a:p>
        </p:txBody>
      </p:sp>
      <p:sp>
        <p:nvSpPr>
          <p:cNvPr id="7" name="Rounded Rectangle 6"/>
          <p:cNvSpPr/>
          <p:nvPr/>
        </p:nvSpPr>
        <p:spPr>
          <a:xfrm>
            <a:off x="7726679" y="2788920"/>
            <a:ext cx="3474720" cy="265176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t>2024 ranking</a:t>
            </a:r>
          </a:p>
          <a:p>
            <a:pPr>
              <a:spcAft>
                <a:spcPts val="700"/>
              </a:spcAft>
              <a:defRPr sz="1300">
                <a:solidFill>
                  <a:srgbClr val="2D3741"/>
                </a:solidFill>
              </a:defRPr>
            </a:pPr>
            <a:r>
              <a:t>• Tanzania: 126.56 mobile subscriptions vs 31.16% internet users.</a:t>
            </a:r>
          </a:p>
          <a:p>
            <a:pPr>
              <a:spcAft>
                <a:spcPts val="700"/>
              </a:spcAft>
              <a:defRPr sz="1300">
                <a:solidFill>
                  <a:srgbClr val="2D3741"/>
                </a:solidFill>
              </a:defRPr>
            </a:pPr>
            <a:r>
              <a:t>• Kenya: 126.48 vs 34.98% → 91.50 pp gap.</a:t>
            </a:r>
          </a:p>
          <a:p>
            <a:pPr>
              <a:spcAft>
                <a:spcPts val="700"/>
              </a:spcAft>
              <a:defRPr sz="1300">
                <a:solidFill>
                  <a:srgbClr val="2D3741"/>
                </a:solidFill>
              </a:defRPr>
            </a:pPr>
            <a:r>
              <a:t>• Uganda: 83.17 vs 8.95% → 74.22 pp gap.</a:t>
            </a:r>
          </a:p>
          <a:p>
            <a:pPr>
              <a:spcAft>
                <a:spcPts val="700"/>
              </a:spcAft>
              <a:defRPr sz="1300">
                <a:solidFill>
                  <a:srgbClr val="2D3741"/>
                </a:solidFill>
              </a:defRPr>
            </a:pPr>
            <a:r>
              <a:t>• Rwanda: 93.20 vs 31.70% → 61.50 pp gap.</a:t>
            </a:r>
          </a:p>
        </p:txBody>
      </p:sp>
      <p:sp>
        <p:nvSpPr>
          <p:cNvPr id="8" name="Rounded Rectangle 7"/>
          <p:cNvSpPr/>
          <p:nvPr/>
        </p:nvSpPr>
        <p:spPr>
          <a:xfrm>
            <a:off x="7726679" y="5532120"/>
            <a:ext cx="3474720" cy="59436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t>Interpretation</a:t>
            </a:r>
          </a:p>
          <a:p>
            <a:pPr>
              <a:spcAft>
                <a:spcPts val="700"/>
              </a:spcAft>
              <a:defRPr sz="1300">
                <a:solidFill>
                  <a:srgbClr val="2D3741"/>
                </a:solidFill>
              </a:defRPr>
            </a:pPr>
            <a:r>
              <a:t>• Note: subscriptions are not unique phone owners.</a:t>
            </a:r>
          </a:p>
        </p:txBody>
      </p:sp>
      <p:sp>
        <p:nvSpPr>
          <p:cNvPr id="9" name="Rectangle 8"/>
          <p:cNvSpPr/>
          <p:nvPr/>
        </p:nvSpPr>
        <p:spPr>
          <a:xfrm>
            <a:off x="594360" y="6510528"/>
            <a:ext cx="10972800" cy="18288"/>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792" y="6547104"/>
            <a:ext cx="10789920" cy="201168"/>
          </a:xfrm>
          <a:prstGeom prst="rect">
            <a:avLst/>
          </a:prstGeom>
          <a:noFill/>
        </p:spPr>
        <p:txBody>
          <a:bodyPr wrap="none">
            <a:spAutoFit/>
          </a:bodyPr>
          <a:lstStyle/>
          <a:p>
            <a:pPr>
              <a:defRPr sz="800">
                <a:solidFill>
                  <a:srgbClr val="69737D"/>
                </a:solidFill>
              </a:defRPr>
            </a:pPr>
            <a:r>
              <a:t>Source: World Bank Indicators API | Analysis: Python/Google Colab</a:t>
            </a:r>
          </a:p>
        </p:txBody>
      </p:sp>
      <p:pic>
        <p:nvPicPr>
          <p:cNvPr id="12" name="Picture 11">
            <a:extLst>
              <a:ext uri="{FF2B5EF4-FFF2-40B4-BE49-F238E27FC236}">
                <a16:creationId xmlns:a16="http://schemas.microsoft.com/office/drawing/2014/main" id="{2EF747BF-4AD3-E3BB-40D2-2AFC28815B4D}"/>
              </a:ext>
            </a:extLst>
          </p:cNvPr>
          <p:cNvPicPr>
            <a:picLocks noChangeAspect="1"/>
          </p:cNvPicPr>
          <p:nvPr/>
        </p:nvPicPr>
        <p:blipFill>
          <a:blip r:embed="rId2"/>
          <a:stretch>
            <a:fillRect/>
          </a:stretch>
        </p:blipFill>
        <p:spPr>
          <a:xfrm>
            <a:off x="448056" y="1344168"/>
            <a:ext cx="6097904" cy="472758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972800" cy="685800"/>
          </a:xfrm>
          <a:prstGeom prst="rect">
            <a:avLst/>
          </a:prstGeom>
          <a:noFill/>
        </p:spPr>
        <p:txBody>
          <a:bodyPr wrap="none">
            <a:spAutoFit/>
          </a:bodyPr>
          <a:lstStyle/>
          <a:p>
            <a:pPr>
              <a:defRPr sz="2700" b="1">
                <a:solidFill>
                  <a:srgbClr val="18304A"/>
                </a:solidFill>
              </a:defRPr>
            </a:pPr>
            <a:r>
              <a:t>Kenya is ahead of the regional average on all three indicators</a:t>
            </a:r>
          </a:p>
        </p:txBody>
      </p:sp>
      <p:sp>
        <p:nvSpPr>
          <p:cNvPr id="6" name="Rounded Rectangle 5"/>
          <p:cNvSpPr/>
          <p:nvPr/>
        </p:nvSpPr>
        <p:spPr>
          <a:xfrm>
            <a:off x="731520" y="4800600"/>
            <a:ext cx="10698480" cy="1234440"/>
          </a:xfrm>
          <a:prstGeom prst="roundRect">
            <a:avLst/>
          </a:prstGeom>
          <a:solidFill>
            <a:srgbClr val="F2F6F8"/>
          </a:solidFill>
          <a:ln>
            <a:solidFill>
              <a:srgbClr val="DC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800"/>
              </a:spcAft>
              <a:defRPr sz="1600" b="1">
                <a:solidFill>
                  <a:srgbClr val="18304A"/>
                </a:solidFill>
              </a:defRPr>
            </a:pPr>
            <a:r>
              <a:rPr dirty="0"/>
              <a:t>Consulting interpretation</a:t>
            </a:r>
          </a:p>
          <a:p>
            <a:pPr>
              <a:spcAft>
                <a:spcPts val="700"/>
              </a:spcAft>
              <a:defRPr sz="1300">
                <a:solidFill>
                  <a:srgbClr val="2D3741"/>
                </a:solidFill>
              </a:defRPr>
            </a:pPr>
            <a:r>
              <a:rPr dirty="0"/>
              <a:t>• </a:t>
            </a:r>
            <a:r>
              <a:rPr lang="en-US" dirty="0"/>
              <a:t>Kenya is one of the leading East African countries in digital transformation, consistently ranking among the top in internet penetration and mobile subscriptions. This reflects Kenya's investments in ICT infrastructure, mobile money (M-Pesa), and digital government services.</a:t>
            </a:r>
            <a:endParaRPr dirty="0"/>
          </a:p>
          <a:p>
            <a:pPr>
              <a:spcAft>
                <a:spcPts val="700"/>
              </a:spcAft>
              <a:defRPr sz="1300">
                <a:solidFill>
                  <a:srgbClr val="2D3741"/>
                </a:solidFill>
              </a:defRPr>
            </a:pPr>
            <a:r>
              <a:rPr dirty="0"/>
              <a:t>• </a:t>
            </a:r>
            <a:r>
              <a:rPr lang="en-US" dirty="0"/>
              <a:t>However, Kenya still has a large mobile–internet gap (91.50 percentage points), indicating that connectivity infrastructure alone does not guarantee internet adoption.</a:t>
            </a:r>
            <a:endParaRPr dirty="0"/>
          </a:p>
        </p:txBody>
      </p:sp>
      <p:sp>
        <p:nvSpPr>
          <p:cNvPr id="7" name="Rectangle 6"/>
          <p:cNvSpPr/>
          <p:nvPr/>
        </p:nvSpPr>
        <p:spPr>
          <a:xfrm>
            <a:off x="594360" y="6510528"/>
            <a:ext cx="10972800" cy="18288"/>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1792" y="6547104"/>
            <a:ext cx="10789920" cy="201168"/>
          </a:xfrm>
          <a:prstGeom prst="rect">
            <a:avLst/>
          </a:prstGeom>
          <a:noFill/>
        </p:spPr>
        <p:txBody>
          <a:bodyPr wrap="none">
            <a:spAutoFit/>
          </a:bodyPr>
          <a:lstStyle/>
          <a:p>
            <a:pPr>
              <a:defRPr sz="800">
                <a:solidFill>
                  <a:srgbClr val="69737D"/>
                </a:solidFill>
              </a:defRPr>
            </a:pPr>
            <a:r>
              <a:t>Source: World Bank Indicators API | Analysis: Python/Google Colab</a:t>
            </a:r>
          </a:p>
        </p:txBody>
      </p:sp>
      <p:pic>
        <p:nvPicPr>
          <p:cNvPr id="10" name="Picture 9">
            <a:extLst>
              <a:ext uri="{FF2B5EF4-FFF2-40B4-BE49-F238E27FC236}">
                <a16:creationId xmlns:a16="http://schemas.microsoft.com/office/drawing/2014/main" id="{24719E99-B8EF-0382-745D-1FD7C0798A59}"/>
              </a:ext>
            </a:extLst>
          </p:cNvPr>
          <p:cNvPicPr>
            <a:picLocks noChangeAspect="1"/>
          </p:cNvPicPr>
          <p:nvPr/>
        </p:nvPicPr>
        <p:blipFill>
          <a:blip r:embed="rId2"/>
          <a:stretch>
            <a:fillRect/>
          </a:stretch>
        </p:blipFill>
        <p:spPr>
          <a:xfrm>
            <a:off x="621792" y="1050609"/>
            <a:ext cx="10332720" cy="343268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9417" y="320040"/>
            <a:ext cx="10972800" cy="685800"/>
          </a:xfrm>
          <a:prstGeom prst="rect">
            <a:avLst/>
          </a:prstGeom>
          <a:noFill/>
        </p:spPr>
        <p:txBody>
          <a:bodyPr wrap="none">
            <a:spAutoFit/>
          </a:bodyPr>
          <a:lstStyle/>
          <a:p>
            <a:pPr>
              <a:defRPr sz="2700" b="1">
                <a:solidFill>
                  <a:srgbClr val="18304A"/>
                </a:solidFill>
              </a:defRPr>
            </a:pPr>
            <a:r>
              <a:rPr dirty="0"/>
              <a:t>Three evidence-led priorities for EACO</a:t>
            </a:r>
          </a:p>
        </p:txBody>
      </p:sp>
      <p:sp>
        <p:nvSpPr>
          <p:cNvPr id="4" name="TextBox 3"/>
          <p:cNvSpPr txBox="1"/>
          <p:nvPr/>
        </p:nvSpPr>
        <p:spPr>
          <a:xfrm>
            <a:off x="916577" y="669200"/>
            <a:ext cx="5164183" cy="461665"/>
          </a:xfrm>
          <a:prstGeom prst="rect">
            <a:avLst/>
          </a:prstGeom>
          <a:noFill/>
        </p:spPr>
        <p:txBody>
          <a:bodyPr wrap="square">
            <a:spAutoFit/>
          </a:bodyPr>
          <a:lstStyle/>
          <a:p>
            <a:pPr>
              <a:defRPr sz="1200">
                <a:solidFill>
                  <a:srgbClr val="69737D"/>
                </a:solidFill>
              </a:defRPr>
            </a:pPr>
            <a:r>
              <a:rPr sz="2400" dirty="0">
                <a:latin typeface="Aldhabi" panose="01000000000000000000" pitchFamily="2" charset="-78"/>
                <a:cs typeface="Aldhabi" panose="01000000000000000000" pitchFamily="2" charset="-78"/>
              </a:rPr>
              <a:t>Translate the observed gaps into targeted regional action</a:t>
            </a:r>
          </a:p>
        </p:txBody>
      </p:sp>
      <p:sp>
        <p:nvSpPr>
          <p:cNvPr id="5" name="Oval 4"/>
          <p:cNvSpPr/>
          <p:nvPr/>
        </p:nvSpPr>
        <p:spPr>
          <a:xfrm>
            <a:off x="685800" y="1325880"/>
            <a:ext cx="594360" cy="594360"/>
          </a:xfrm>
          <a:prstGeom prst="ellipse">
            <a:avLst/>
          </a:prstGeom>
          <a:solidFill>
            <a:srgbClr val="0078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1</a:t>
            </a:r>
          </a:p>
        </p:txBody>
      </p:sp>
      <p:sp>
        <p:nvSpPr>
          <p:cNvPr id="6" name="TextBox 5"/>
          <p:cNvSpPr txBox="1"/>
          <p:nvPr/>
        </p:nvSpPr>
        <p:spPr>
          <a:xfrm>
            <a:off x="1463040" y="1298448"/>
            <a:ext cx="10413274" cy="1685077"/>
          </a:xfrm>
          <a:prstGeom prst="rect">
            <a:avLst/>
          </a:prstGeom>
          <a:noFill/>
        </p:spPr>
        <p:txBody>
          <a:bodyPr wrap="square">
            <a:spAutoFit/>
          </a:bodyPr>
          <a:lstStyle/>
          <a:p>
            <a:pPr>
              <a:defRPr sz="1700" b="1">
                <a:solidFill>
                  <a:srgbClr val="18304A"/>
                </a:solidFill>
              </a:defRPr>
            </a:pPr>
            <a:r>
              <a:rPr sz="2400" dirty="0">
                <a:latin typeface="Aldhabi" panose="01000000000000000000" pitchFamily="2" charset="-78"/>
                <a:cs typeface="Aldhabi" panose="01000000000000000000" pitchFamily="2" charset="-78"/>
              </a:rPr>
              <a:t>Close the mobile–internet adoption gap</a:t>
            </a:r>
          </a:p>
          <a:p>
            <a:pPr>
              <a:spcBef>
                <a:spcPts val="500"/>
              </a:spcBef>
              <a:defRPr sz="1250">
                <a:solidFill>
                  <a:srgbClr val="2D3741"/>
                </a:solidFill>
              </a:defRPr>
            </a:pPr>
            <a:r>
              <a:rPr sz="2400" dirty="0">
                <a:latin typeface="Aldhabi" panose="01000000000000000000" pitchFamily="2" charset="-78"/>
                <a:cs typeface="Aldhabi" panose="01000000000000000000" pitchFamily="2" charset="-78"/>
              </a:rPr>
              <a:t>Prioritize affordable last-mile broadband and internet adoption initiatives in countries where mobile subscription density is high but internet usage remains low.</a:t>
            </a:r>
          </a:p>
          <a:p>
            <a:pPr>
              <a:spcBef>
                <a:spcPts val="400"/>
              </a:spcBef>
              <a:defRPr sz="1100" i="1">
                <a:solidFill>
                  <a:srgbClr val="69737D"/>
                </a:solidFill>
              </a:defRPr>
            </a:pPr>
            <a:r>
              <a:rPr sz="2400" dirty="0">
                <a:latin typeface="Aldhabi" panose="01000000000000000000" pitchFamily="2" charset="-78"/>
                <a:cs typeface="Aldhabi" panose="01000000000000000000" pitchFamily="2" charset="-78"/>
              </a:rPr>
              <a:t>Evidence: Tanzania 95.40 pp gap; Kenya 91.50 pp; Uganda 74.22 pp.</a:t>
            </a:r>
          </a:p>
        </p:txBody>
      </p:sp>
      <p:sp>
        <p:nvSpPr>
          <p:cNvPr id="7" name="Oval 6"/>
          <p:cNvSpPr/>
          <p:nvPr/>
        </p:nvSpPr>
        <p:spPr>
          <a:xfrm>
            <a:off x="685800" y="2926080"/>
            <a:ext cx="594360" cy="594360"/>
          </a:xfrm>
          <a:prstGeom prst="ellipse">
            <a:avLst/>
          </a:prstGeom>
          <a:solidFill>
            <a:srgbClr val="0078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2</a:t>
            </a:r>
          </a:p>
        </p:txBody>
      </p:sp>
      <p:sp>
        <p:nvSpPr>
          <p:cNvPr id="8" name="TextBox 7"/>
          <p:cNvSpPr txBox="1"/>
          <p:nvPr/>
        </p:nvSpPr>
        <p:spPr>
          <a:xfrm>
            <a:off x="1463040" y="2898648"/>
            <a:ext cx="7726104" cy="2054409"/>
          </a:xfrm>
          <a:prstGeom prst="rect">
            <a:avLst/>
          </a:prstGeom>
          <a:noFill/>
        </p:spPr>
        <p:txBody>
          <a:bodyPr wrap="square">
            <a:spAutoFit/>
          </a:bodyPr>
          <a:lstStyle/>
          <a:p>
            <a:pPr>
              <a:defRPr sz="1700" b="1">
                <a:solidFill>
                  <a:srgbClr val="18304A"/>
                </a:solidFill>
              </a:defRPr>
            </a:pPr>
            <a:r>
              <a:rPr sz="2400" dirty="0">
                <a:latin typeface="Aldhabi" panose="01000000000000000000" pitchFamily="2" charset="-78"/>
                <a:cs typeface="Aldhabi" panose="01000000000000000000" pitchFamily="2" charset="-78"/>
              </a:rPr>
              <a:t>Integrate energy and digital infrastructure planning</a:t>
            </a:r>
          </a:p>
          <a:p>
            <a:pPr>
              <a:spcBef>
                <a:spcPts val="500"/>
              </a:spcBef>
              <a:defRPr sz="1250">
                <a:solidFill>
                  <a:srgbClr val="2D3741"/>
                </a:solidFill>
              </a:defRPr>
            </a:pPr>
            <a:r>
              <a:rPr sz="2400" dirty="0">
                <a:latin typeface="Aldhabi" panose="01000000000000000000" pitchFamily="2" charset="-78"/>
                <a:cs typeface="Aldhabi" panose="01000000000000000000" pitchFamily="2" charset="-78"/>
              </a:rPr>
              <a:t>Coordinate electricity-access expansion with digital connectivity investments, especially in underserved areas.</a:t>
            </a:r>
          </a:p>
          <a:p>
            <a:pPr>
              <a:spcBef>
                <a:spcPts val="400"/>
              </a:spcBef>
              <a:defRPr sz="1100" i="1">
                <a:solidFill>
                  <a:srgbClr val="69737D"/>
                </a:solidFill>
              </a:defRPr>
            </a:pPr>
            <a:r>
              <a:rPr sz="2400" dirty="0">
                <a:latin typeface="Aldhabi" panose="01000000000000000000" pitchFamily="2" charset="-78"/>
                <a:cs typeface="Aldhabi" panose="01000000000000000000" pitchFamily="2" charset="-78"/>
              </a:rPr>
              <a:t>Evidence: 2024 electricity–internet correlation r = 0.743; regression R² = 0.551. The relationship is associative, not causal.</a:t>
            </a:r>
          </a:p>
        </p:txBody>
      </p:sp>
      <p:sp>
        <p:nvSpPr>
          <p:cNvPr id="9" name="Oval 8"/>
          <p:cNvSpPr/>
          <p:nvPr/>
        </p:nvSpPr>
        <p:spPr>
          <a:xfrm>
            <a:off x="685800" y="4526280"/>
            <a:ext cx="594360" cy="594360"/>
          </a:xfrm>
          <a:prstGeom prst="ellipse">
            <a:avLst/>
          </a:prstGeom>
          <a:solidFill>
            <a:srgbClr val="0078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defRPr>
            </a:pPr>
            <a:r>
              <a:t>3</a:t>
            </a:r>
          </a:p>
        </p:txBody>
      </p:sp>
      <p:sp>
        <p:nvSpPr>
          <p:cNvPr id="10" name="TextBox 9"/>
          <p:cNvSpPr txBox="1"/>
          <p:nvPr/>
        </p:nvSpPr>
        <p:spPr>
          <a:xfrm>
            <a:off x="1463041" y="4498848"/>
            <a:ext cx="8137160" cy="2054409"/>
          </a:xfrm>
          <a:prstGeom prst="rect">
            <a:avLst/>
          </a:prstGeom>
          <a:noFill/>
        </p:spPr>
        <p:txBody>
          <a:bodyPr wrap="square">
            <a:spAutoFit/>
          </a:bodyPr>
          <a:lstStyle/>
          <a:p>
            <a:pPr>
              <a:defRPr sz="1700" b="1">
                <a:solidFill>
                  <a:srgbClr val="18304A"/>
                </a:solidFill>
              </a:defRPr>
            </a:pPr>
            <a:r>
              <a:rPr sz="2400">
                <a:latin typeface="Aldhabi" panose="01000000000000000000" pitchFamily="2" charset="-78"/>
                <a:cs typeface="Aldhabi" panose="01000000000000000000" pitchFamily="2" charset="-78"/>
              </a:rPr>
              <a:t>Target investment using country-level performance gaps</a:t>
            </a:r>
          </a:p>
          <a:p>
            <a:pPr>
              <a:spcBef>
                <a:spcPts val="500"/>
              </a:spcBef>
              <a:defRPr sz="1250">
                <a:solidFill>
                  <a:srgbClr val="2D3741"/>
                </a:solidFill>
              </a:defRPr>
            </a:pPr>
            <a:r>
              <a:rPr sz="2400">
                <a:latin typeface="Aldhabi" panose="01000000000000000000" pitchFamily="2" charset="-78"/>
                <a:cs typeface="Aldhabi" panose="01000000000000000000" pitchFamily="2" charset="-78"/>
              </a:rPr>
              <a:t>Use comparable country indicators to prioritize lagging markets rather than applying a one-size-fits-all regional intervention.</a:t>
            </a:r>
          </a:p>
          <a:p>
            <a:pPr>
              <a:spcBef>
                <a:spcPts val="400"/>
              </a:spcBef>
              <a:defRPr sz="1100" i="1">
                <a:solidFill>
                  <a:srgbClr val="69737D"/>
                </a:solidFill>
              </a:defRPr>
            </a:pPr>
            <a:r>
              <a:rPr sz="2400">
                <a:latin typeface="Aldhabi" panose="01000000000000000000" pitchFamily="2" charset="-78"/>
                <a:cs typeface="Aldhabi" panose="01000000000000000000" pitchFamily="2" charset="-78"/>
              </a:rPr>
              <a:t>Evidence: 2024 internet usage ranges from 8.60% in Burundi to 34.98% in Kenya among countries with available observations.</a:t>
            </a:r>
          </a:p>
        </p:txBody>
      </p:sp>
      <p:sp>
        <p:nvSpPr>
          <p:cNvPr id="11" name="Rectangle 10"/>
          <p:cNvSpPr/>
          <p:nvPr/>
        </p:nvSpPr>
        <p:spPr>
          <a:xfrm>
            <a:off x="594360" y="6510528"/>
            <a:ext cx="10972800" cy="18288"/>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6547104"/>
            <a:ext cx="10789920" cy="201168"/>
          </a:xfrm>
          <a:prstGeom prst="rect">
            <a:avLst/>
          </a:prstGeom>
          <a:noFill/>
        </p:spPr>
        <p:txBody>
          <a:bodyPr wrap="none">
            <a:spAutoFit/>
          </a:bodyPr>
          <a:lstStyle/>
          <a:p>
            <a:pPr>
              <a:defRPr sz="800">
                <a:solidFill>
                  <a:srgbClr val="69737D"/>
                </a:solidFill>
              </a:defRPr>
            </a:pPr>
            <a:r>
              <a:t>Source: World Bank Indicators API | Analysis: Python/Google Colab</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334DDD-39DD-8243-4EEF-948183C6C93C}"/>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Three evidence-led priorities for EACO</a:t>
            </a:r>
            <a:endParaRPr lang="en-GB" sz="4000">
              <a:solidFill>
                <a:srgbClr val="FFFFFF"/>
              </a:solidFill>
            </a:endParaRPr>
          </a:p>
        </p:txBody>
      </p:sp>
      <p:sp>
        <p:nvSpPr>
          <p:cNvPr id="3" name="Content Placeholder 2">
            <a:extLst>
              <a:ext uri="{FF2B5EF4-FFF2-40B4-BE49-F238E27FC236}">
                <a16:creationId xmlns:a16="http://schemas.microsoft.com/office/drawing/2014/main" id="{F98C1819-DE9A-C064-2D89-594692DE9F5F}"/>
              </a:ext>
            </a:extLst>
          </p:cNvPr>
          <p:cNvSpPr>
            <a:spLocks noGrp="1"/>
          </p:cNvSpPr>
          <p:nvPr>
            <p:ph idx="1"/>
          </p:nvPr>
        </p:nvSpPr>
        <p:spPr>
          <a:xfrm>
            <a:off x="4810259" y="649480"/>
            <a:ext cx="6555347" cy="5546047"/>
          </a:xfrm>
        </p:spPr>
        <p:txBody>
          <a:bodyPr anchor="ctr">
            <a:normAutofit/>
          </a:bodyPr>
          <a:lstStyle/>
          <a:p>
            <a:pPr marL="0" indent="0">
              <a:lnSpc>
                <a:spcPct val="90000"/>
              </a:lnSpc>
              <a:buNone/>
            </a:pPr>
            <a:r>
              <a:rPr lang="en-US" sz="1300" dirty="0"/>
              <a:t>POLICY 1: COORDINATE ELECTRIFICATION WITH CONNECTIVITY INVESTMENT</a:t>
            </a:r>
          </a:p>
          <a:p>
            <a:pPr marL="0" indent="0">
              <a:lnSpc>
                <a:spcPct val="90000"/>
              </a:lnSpc>
              <a:buNone/>
            </a:pPr>
            <a:r>
              <a:rPr lang="en-US" sz="1300" dirty="0"/>
              <a:t>Evidence: high correlation between electricity access and</a:t>
            </a:r>
          </a:p>
          <a:p>
            <a:pPr marL="0" indent="0">
              <a:lnSpc>
                <a:spcPct val="90000"/>
              </a:lnSpc>
              <a:buNone/>
            </a:pPr>
            <a:r>
              <a:rPr lang="en-US" sz="1300" dirty="0"/>
              <a:t>internet use is r = 0.744 (p &lt; 0.001, n = 110), and the</a:t>
            </a:r>
          </a:p>
          <a:p>
            <a:pPr marL="0" indent="0">
              <a:lnSpc>
                <a:spcPct val="90000"/>
              </a:lnSpc>
              <a:buNone/>
            </a:pPr>
            <a:r>
              <a:rPr lang="en-US" sz="1300" dirty="0"/>
              <a:t>regression confirms electricity remains a significant predictor after</a:t>
            </a:r>
          </a:p>
          <a:p>
            <a:pPr marL="0" indent="0">
              <a:lnSpc>
                <a:spcPct val="90000"/>
              </a:lnSpc>
              <a:buNone/>
            </a:pPr>
            <a:r>
              <a:rPr lang="en-US" sz="1300" dirty="0"/>
              <a:t>controlling for mobile subscriptions. Countries with the lowest</a:t>
            </a:r>
          </a:p>
          <a:p>
            <a:pPr marL="0" indent="0">
              <a:lnSpc>
                <a:spcPct val="90000"/>
              </a:lnSpc>
              <a:buNone/>
            </a:pPr>
            <a:r>
              <a:rPr lang="en-US" sz="1300" dirty="0"/>
              <a:t>electrification also have the lowest internet adoption. EACO should</a:t>
            </a:r>
          </a:p>
          <a:p>
            <a:pPr marL="0" indent="0">
              <a:lnSpc>
                <a:spcPct val="90000"/>
              </a:lnSpc>
              <a:buNone/>
            </a:pPr>
            <a:r>
              <a:rPr lang="en-US" sz="1300" dirty="0"/>
              <a:t>advocate joint energy-connectivity planning: </a:t>
            </a:r>
            <a:r>
              <a:rPr lang="en-US" sz="1300" dirty="0" err="1"/>
              <a:t>fibre</a:t>
            </a:r>
            <a:r>
              <a:rPr lang="en-US" sz="1300" dirty="0"/>
              <a:t> along grid</a:t>
            </a:r>
          </a:p>
          <a:p>
            <a:pPr marL="0" indent="0">
              <a:lnSpc>
                <a:spcPct val="90000"/>
              </a:lnSpc>
              <a:buNone/>
            </a:pPr>
            <a:r>
              <a:rPr lang="en-US" sz="1300" dirty="0"/>
              <a:t>extensions, solar-powered base stations off-grid.</a:t>
            </a:r>
          </a:p>
          <a:p>
            <a:pPr marL="0" indent="0">
              <a:lnSpc>
                <a:spcPct val="90000"/>
              </a:lnSpc>
              <a:buNone/>
            </a:pPr>
            <a:endParaRPr lang="en-US" sz="1300" dirty="0"/>
          </a:p>
          <a:p>
            <a:pPr marL="0" indent="0">
              <a:lnSpc>
                <a:spcPct val="90000"/>
              </a:lnSpc>
              <a:buNone/>
            </a:pPr>
            <a:r>
              <a:rPr lang="en-US" sz="1300" dirty="0"/>
              <a:t>POLICY 2: REVIEW SECTOR-SPECIFIC TAXES ON DATA AND DEVICES, AND</a:t>
            </a:r>
          </a:p>
          <a:p>
            <a:pPr marL="0" indent="0">
              <a:lnSpc>
                <a:spcPct val="90000"/>
              </a:lnSpc>
              <a:buNone/>
            </a:pPr>
            <a:r>
              <a:rPr lang="en-US" sz="1300" dirty="0"/>
              <a:t>ZERO-RATE ESSENTIAL EDUCATION AND HEALTH SERVICES.</a:t>
            </a:r>
          </a:p>
          <a:p>
            <a:pPr marL="0" indent="0">
              <a:lnSpc>
                <a:spcPct val="90000"/>
              </a:lnSpc>
              <a:buNone/>
            </a:pPr>
            <a:r>
              <a:rPr lang="en-US" sz="1300" dirty="0"/>
              <a:t>Evidence: in every country mobile subscriptions far exceed internet</a:t>
            </a:r>
          </a:p>
          <a:p>
            <a:pPr marL="0" indent="0">
              <a:lnSpc>
                <a:spcPct val="90000"/>
              </a:lnSpc>
              <a:buNone/>
            </a:pPr>
            <a:r>
              <a:rPr lang="en-US" sz="1300" dirty="0"/>
              <a:t>use; the largest gap is Tanzania (95 points).</a:t>
            </a:r>
          </a:p>
          <a:p>
            <a:pPr marL="0" indent="0">
              <a:lnSpc>
                <a:spcPct val="90000"/>
              </a:lnSpc>
              <a:buNone/>
            </a:pPr>
            <a:r>
              <a:rPr lang="en-US" sz="1300" dirty="0"/>
              <a:t>Networks reach far more people than use the internet, so the binding</a:t>
            </a:r>
          </a:p>
          <a:p>
            <a:pPr marL="0" indent="0">
              <a:lnSpc>
                <a:spcPct val="90000"/>
              </a:lnSpc>
              <a:buNone/>
            </a:pPr>
            <a:r>
              <a:rPr lang="en-US" sz="1300" dirty="0"/>
              <a:t>constraints are demand-side. </a:t>
            </a:r>
          </a:p>
          <a:p>
            <a:pPr marL="0" indent="0">
              <a:lnSpc>
                <a:spcPct val="90000"/>
              </a:lnSpc>
              <a:buNone/>
            </a:pPr>
            <a:endParaRPr lang="en-US" sz="1300" dirty="0"/>
          </a:p>
          <a:p>
            <a:pPr marL="0" indent="0">
              <a:lnSpc>
                <a:spcPct val="90000"/>
              </a:lnSpc>
              <a:buNone/>
            </a:pPr>
            <a:r>
              <a:rPr lang="en-US" sz="1300" dirty="0"/>
              <a:t>POLICY 3: PRIORITISE UNIVERSAL SERVICE FUND DISBURSEMENT IN THE LAGGING </a:t>
            </a:r>
            <a:r>
              <a:rPr lang="en-US" sz="1300"/>
              <a:t>COUNTRIES.</a:t>
            </a:r>
          </a:p>
          <a:p>
            <a:pPr marL="0" indent="0">
              <a:lnSpc>
                <a:spcPct val="90000"/>
              </a:lnSpc>
              <a:buNone/>
            </a:pPr>
            <a:r>
              <a:rPr lang="en-US" sz="1300"/>
              <a:t>Evidence</a:t>
            </a:r>
            <a:r>
              <a:rPr lang="en-US" sz="1300" dirty="0"/>
              <a:t>: Holt forecasts show that on current trends the region</a:t>
            </a:r>
          </a:p>
          <a:p>
            <a:pPr marL="0" indent="0">
              <a:lnSpc>
                <a:spcPct val="90000"/>
              </a:lnSpc>
              <a:buNone/>
            </a:pPr>
            <a:r>
              <a:rPr lang="en-US" sz="1300" dirty="0"/>
              <a:t>diverges by 2028 - leaders (Kenya, Rwanda, Somalia, Fed. Rep., Tanzania) approach 40%+</a:t>
            </a:r>
          </a:p>
          <a:p>
            <a:pPr marL="0" indent="0">
              <a:lnSpc>
                <a:spcPct val="90000"/>
              </a:lnSpc>
              <a:buNone/>
            </a:pPr>
            <a:r>
              <a:rPr lang="en-US" sz="1300" dirty="0"/>
              <a:t>while laggards (Burundi, South Sudan, Uganda) remain below 15%. Without</a:t>
            </a:r>
          </a:p>
          <a:p>
            <a:pPr marL="0" indent="0">
              <a:lnSpc>
                <a:spcPct val="90000"/>
              </a:lnSpc>
              <a:buNone/>
            </a:pPr>
            <a:r>
              <a:rPr lang="en-US" sz="1300" dirty="0"/>
              <a:t>targeted intervention the digital divide inside East Africa widens.</a:t>
            </a:r>
          </a:p>
        </p:txBody>
      </p:sp>
    </p:spTree>
    <p:extLst>
      <p:ext uri="{BB962C8B-B14F-4D97-AF65-F5344CB8AC3E}">
        <p14:creationId xmlns:p14="http://schemas.microsoft.com/office/powerpoint/2010/main" val="21832553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22960" y="914400"/>
            <a:ext cx="2367571" cy="553998"/>
          </a:xfrm>
          <a:prstGeom prst="rect">
            <a:avLst/>
          </a:prstGeom>
          <a:noFill/>
        </p:spPr>
        <p:txBody>
          <a:bodyPr wrap="none">
            <a:spAutoFit/>
          </a:bodyPr>
          <a:lstStyle/>
          <a:p>
            <a:pPr>
              <a:defRPr sz="3000" b="1">
                <a:solidFill>
                  <a:srgbClr val="FFFFFF"/>
                </a:solidFill>
              </a:defRPr>
            </a:pPr>
            <a:r>
              <a:rPr>
                <a:solidFill>
                  <a:schemeClr val="tx2"/>
                </a:solidFill>
              </a:rPr>
              <a:t>Key takeaway</a:t>
            </a:r>
          </a:p>
        </p:txBody>
      </p:sp>
      <p:sp>
        <p:nvSpPr>
          <p:cNvPr id="4" name="TextBox 3"/>
          <p:cNvSpPr txBox="1"/>
          <p:nvPr/>
        </p:nvSpPr>
        <p:spPr>
          <a:xfrm>
            <a:off x="822959" y="1828800"/>
            <a:ext cx="8135983" cy="3303468"/>
          </a:xfrm>
          <a:prstGeom prst="rect">
            <a:avLst/>
          </a:prstGeom>
          <a:noFill/>
        </p:spPr>
        <p:txBody>
          <a:bodyPr wrap="square">
            <a:spAutoFit/>
          </a:bodyPr>
          <a:lstStyle/>
          <a:p>
            <a:pPr>
              <a:spcAft>
                <a:spcPts val="2000"/>
              </a:spcAft>
              <a:defRPr sz="2200">
                <a:solidFill>
                  <a:srgbClr val="FFFFFF"/>
                </a:solidFill>
              </a:defRPr>
            </a:pPr>
            <a:r>
              <a:rPr sz="3200" dirty="0">
                <a:solidFill>
                  <a:schemeClr val="tx2"/>
                </a:solidFill>
                <a:latin typeface="Aldhabi" panose="01000000000000000000" pitchFamily="2" charset="-78"/>
                <a:cs typeface="Aldhabi" panose="01000000000000000000" pitchFamily="2" charset="-78"/>
              </a:rPr>
              <a:t>East Africa has made substantial progress in digital connectivity, but the analysis shows that mobile access, electricity and internet adoption are not advancing at the same level.</a:t>
            </a:r>
          </a:p>
          <a:p>
            <a:pPr>
              <a:defRPr sz="1900">
                <a:solidFill>
                  <a:srgbClr val="DCEBEE"/>
                </a:solidFill>
              </a:defRPr>
            </a:pPr>
            <a:r>
              <a:rPr sz="3200" dirty="0">
                <a:solidFill>
                  <a:schemeClr val="tx2"/>
                </a:solidFill>
                <a:latin typeface="Aldhabi" panose="01000000000000000000" pitchFamily="2" charset="-78"/>
                <a:cs typeface="Aldhabi" panose="01000000000000000000" pitchFamily="2" charset="-78"/>
              </a:rPr>
              <a:t>For EACO, the priority is therefore not only expanding infrastructure, but converting connectivity into meaningful internet adoption—especially in countries with the largest observed gaps.</a:t>
            </a:r>
          </a:p>
        </p:txBody>
      </p:sp>
      <p:sp>
        <p:nvSpPr>
          <p:cNvPr id="5" name="TextBox 4"/>
          <p:cNvSpPr txBox="1"/>
          <p:nvPr/>
        </p:nvSpPr>
        <p:spPr>
          <a:xfrm>
            <a:off x="5097851" y="5257800"/>
            <a:ext cx="1508618" cy="461665"/>
          </a:xfrm>
          <a:prstGeom prst="rect">
            <a:avLst/>
          </a:prstGeom>
          <a:noFill/>
        </p:spPr>
        <p:txBody>
          <a:bodyPr wrap="none">
            <a:spAutoFit/>
          </a:bodyPr>
          <a:lstStyle/>
          <a:p>
            <a:pPr algn="ctr">
              <a:defRPr sz="2400" b="1">
                <a:solidFill>
                  <a:srgbClr val="FFFFFF"/>
                </a:solidFill>
              </a:defRPr>
            </a:pPr>
            <a:r>
              <a:rPr>
                <a:solidFill>
                  <a:schemeClr val="tx2"/>
                </a:solidFill>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83</TotalTime>
  <Words>1499</Words>
  <Application>Microsoft Office PowerPoint</Application>
  <PresentationFormat>Widescreen</PresentationFormat>
  <Paragraphs>156</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Aldhabi</vt:lpstr>
      <vt:lpstr>Arial</vt:lpstr>
      <vt:lpstr>Calibri</vt:lpstr>
      <vt:lpstr>Office Theme</vt:lpstr>
      <vt:lpstr>Digital Transformation and Inclusion in East Africa </vt:lpstr>
      <vt:lpstr>PowerPoint Presentation</vt:lpstr>
      <vt:lpstr>PowerPoint Presentation</vt:lpstr>
      <vt:lpstr>PowerPoint Presentation</vt:lpstr>
      <vt:lpstr>PowerPoint Presentation</vt:lpstr>
      <vt:lpstr>PowerPoint Presentation</vt:lpstr>
      <vt:lpstr>PowerPoint Presentation</vt:lpstr>
      <vt:lpstr>Regression Analysis</vt:lpstr>
      <vt:lpstr>PowerPoint Presentation</vt:lpstr>
      <vt:lpstr>PowerPoint Presentation</vt:lpstr>
      <vt:lpstr>PowerPoint Presentation</vt:lpstr>
      <vt:lpstr>PowerPoint Presentation</vt:lpstr>
      <vt:lpstr>PowerPoint Presentation</vt:lpstr>
      <vt:lpstr>Three evidence-led priorities for EACO</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Sarah Mongare</dc:creator>
  <cp:keywords/>
  <dc:description>generated using python-pptx</dc:description>
  <cp:lastModifiedBy>David Irungu</cp:lastModifiedBy>
  <cp:revision>9</cp:revision>
  <dcterms:created xsi:type="dcterms:W3CDTF">2013-01-27T09:14:16Z</dcterms:created>
  <dcterms:modified xsi:type="dcterms:W3CDTF">2026-08-17T12:13:23Z</dcterms:modified>
  <cp:category/>
</cp:coreProperties>
</file>